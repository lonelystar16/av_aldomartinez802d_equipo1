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Fira Sans"/>
      <p:regular r:id="rId201314"/>
    </p:embeddedFont>
    <p:embeddedFont>
      <p:font typeface="Fira Sans Medium"/>
      <p:regular r:id="rId201315"/>
    </p:embeddedFont>
    <p:embeddedFont>
      <p:font typeface="Fira Sans SemiBold"/>
      <p:regular r:id="rId201316"/>
    </p:embeddedFont>
    <p:embeddedFont>
      <p:font typeface="Fira Sans Bold"/>
      <p:regular r:id="rId201317"/>
    </p:embeddedFont>
    <p:embeddedFont>
      <p:font typeface="Libre Bodoni"/>
      <p:regular r:id="rId201318"/>
    </p:embeddedFont>
    <p:embeddedFont>
      <p:font typeface="Libre Bodoni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de la presentación de avance en Semana 10 de CascoVision para la asignatura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impacto económico y humano de la siniestralidad en faenas y la limitación del prevencionista.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se reutilizan cámaras existentes, la alerta es zonal protegiendo privacidad, y el procesamiento es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jerarquía de detección anatómica, el cumplimiento de la ley de protección de datos y el payload del incidente.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la redistribución acordada el 15 de octubre y la asignación clara de subsistemas a cada integrante.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los ajustes aprobados: modelo y métricas exigentes, sustitución de vibrador individual por baliza zonal, y contenedorización.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la ubicación actual en Semana 10 (Construcción) y dar la respuesta técnica al feedback del docente sobre cascada vs incremental.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Detallar el balance de las 22 actividades, reconociendo con transparencia las 3 con retraso y el plan de mitigación.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honestidad técnica: el chaleco supera la meta con 0,89 mientras el casco requiere reentrenamiento focalizado al registrar 0,757 con precisión alta de 0,985.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alerta física sale directo del agente Edge a la baliza, sin pasar por la API, y que en paralelo el incidente se registra en el servidor local (on-premise) y se notifica al prevencionista.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cada entregable del plan tiene su evidencia concreta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cada competencia del perfil de egreso con el trabajo realizado en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ajuste de alcance y su motivo, de antes a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matriz de riesgos y explicar qué mitigación aplica a los riesgos de alto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línea de tiempo hasta la semana 15 y señalar los hitos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la presentación y abrir la ronda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EDF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EDF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1-6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016000"/>
            <a:ext cx="5714857" cy="3662660"/>
          </a:xfrm>
          <a:prstGeom prst="roundRect">
            <a:avLst>
              <a:gd name="adj" fmla="val 780"/>
            </a:avLst>
          </a:prstGeom>
          <a:solidFill>
            <a:srgbClr val="EEDFC6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1356424"/>
            <a:ext cx="5003675" cy="82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400" spc="-64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CascoVision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65176" y="2324398"/>
            <a:ext cx="500367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Fase 2 · Desarrollo — Avance a la semana 10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65176" y="2833985"/>
            <a:ext cx="1250819" cy="31651"/>
          </a:xfrm>
          <a:prstGeom prst="roundRect">
            <a:avLst>
              <a:gd name="adj" fmla="val 49998"/>
            </a:avLst>
          </a:prstGeom>
          <a:solidFill>
            <a:srgbClr val="1D5A93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3083223"/>
            <a:ext cx="50036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Detección automatizada de EPP con visión computacional y balizas de alerta zonales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5176" y="3817441"/>
            <a:ext cx="561326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EQUIPO 1 · SECCIÓN 802D · PTY4614 CAPSTONE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5176" y="4163120"/>
            <a:ext cx="56132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Iahn Vera · Joaquín Armijo · Benjamín Cáceres · Fernando Muñoz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960364"/>
            <a:ext cx="640064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CONTEXTO Y RIESGO OPERACIONAL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2218650"/>
            <a:ext cx="609584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2855218"/>
            <a:ext cx="1523962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3104455"/>
            <a:ext cx="6095848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construcción es ~7 % del PIB de Chile y emplea a más de 600.000 personas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Una de las tasas de accidentabilidad más altas del país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usar casco o chaleco: causa evitable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Multas de 1 a 150 UTM ($65.000 a $9.750.000) por infracción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prevencionista no puede vigilar todos los frentes a la vez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2" y="4000500"/>
            <a:ext cx="507987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62769"/>
            <a:ext cx="1137891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821055"/>
            <a:ext cx="1076933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La solución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457623"/>
            <a:ext cx="2692333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706860"/>
            <a:ext cx="1076933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Cámaras IP existentes → IA que detecta casco y chaleco → baliza que suena y se ilumina en la zona → registro y aviso al prevencionista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1182" y="3303290"/>
            <a:ext cx="3284951" cy="2002730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7" name="Shape 5"/>
          <p:cNvSpPr/>
          <p:nvPr/>
        </p:nvSpPr>
        <p:spPr>
          <a:xfrm>
            <a:off x="711182" y="3303290"/>
            <a:ext cx="3284951" cy="1905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8" name="Shape 6"/>
          <p:cNvSpPr/>
          <p:nvPr/>
        </p:nvSpPr>
        <p:spPr>
          <a:xfrm>
            <a:off x="939776" y="3487440"/>
            <a:ext cx="2827664" cy="19050"/>
          </a:xfrm>
          <a:prstGeom prst="rect">
            <a:avLst/>
          </a:prstGeom>
          <a:solidFill>
            <a:srgbClr val="1D5A9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776" y="3620790"/>
            <a:ext cx="380990" cy="381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9776" y="4119424"/>
            <a:ext cx="282776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Infraestructura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39776" y="4524970"/>
            <a:ext cx="305635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Sin hardware nuevo de cámaras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453322" y="3303290"/>
            <a:ext cx="3284951" cy="2002730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13" name="Shape 10"/>
          <p:cNvSpPr/>
          <p:nvPr/>
        </p:nvSpPr>
        <p:spPr>
          <a:xfrm>
            <a:off x="4453322" y="3303290"/>
            <a:ext cx="3284951" cy="1905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14" name="Shape 11"/>
          <p:cNvSpPr/>
          <p:nvPr/>
        </p:nvSpPr>
        <p:spPr>
          <a:xfrm>
            <a:off x="4681916" y="3487440"/>
            <a:ext cx="2827664" cy="19050"/>
          </a:xfrm>
          <a:prstGeom prst="rect">
            <a:avLst/>
          </a:prstGeom>
          <a:solidFill>
            <a:srgbClr val="1D5A9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916" y="3620790"/>
            <a:ext cx="380990" cy="381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81916" y="4119424"/>
            <a:ext cx="282776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Privacidad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681916" y="4524970"/>
            <a:ext cx="282776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Alerta por zona, no por persona: no identifica a nadie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195462" y="3303290"/>
            <a:ext cx="3284951" cy="2002730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19" name="Shape 15"/>
          <p:cNvSpPr/>
          <p:nvPr/>
        </p:nvSpPr>
        <p:spPr>
          <a:xfrm>
            <a:off x="8195462" y="3303290"/>
            <a:ext cx="3284951" cy="1905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20" name="Shape 16"/>
          <p:cNvSpPr/>
          <p:nvPr/>
        </p:nvSpPr>
        <p:spPr>
          <a:xfrm>
            <a:off x="8424056" y="3487440"/>
            <a:ext cx="2827664" cy="19050"/>
          </a:xfrm>
          <a:prstGeom prst="rect">
            <a:avLst/>
          </a:prstGeom>
          <a:solidFill>
            <a:srgbClr val="1D5A9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056" y="3620790"/>
            <a:ext cx="380990" cy="381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24056" y="4119424"/>
            <a:ext cx="282776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Procesamiento local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8424056" y="4524970"/>
            <a:ext cx="282776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Procesamiento local: el video no sale de la faena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185168"/>
            <a:ext cx="619744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INSPECCIÓN Y PRIVACIDAD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1443454"/>
            <a:ext cx="594345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Así detecta CascoVision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2080022"/>
            <a:ext cx="1485863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2519712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170" y="2510393"/>
            <a:ext cx="5435464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Detección anatómica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219170" y="2915940"/>
            <a:ext cx="543546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Detecta cada persona y revisa casco (cabeza) y chaleco (torso)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82" y="3560417"/>
            <a:ext cx="355591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9170" y="3551099"/>
            <a:ext cx="5435464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Anonimización legal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219170" y="3956645"/>
            <a:ext cx="543546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Difumina los rostros antes de guardar la evidencia (Ley N° 19.628)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4877348"/>
            <a:ext cx="355591" cy="355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19170" y="4868029"/>
            <a:ext cx="5435464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Registro de infracciones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1219170" y="5273576"/>
            <a:ext cx="543546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 falta un EPP: incidente con zona, tipo, hora e imagen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627" y="3886200"/>
            <a:ext cx="5283068" cy="29718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11182" y="3363615"/>
            <a:ext cx="5943451" cy="12700"/>
          </a:xfrm>
          <a:prstGeom prst="rect">
            <a:avLst/>
          </a:prstGeom>
          <a:solidFill>
            <a:srgbClr val="AA977D"/>
          </a:solidFill>
          <a:ln/>
        </p:spPr>
      </p:sp>
      <p:sp>
        <p:nvSpPr>
          <p:cNvPr id="16" name="Shape 10"/>
          <p:cNvSpPr/>
          <p:nvPr/>
        </p:nvSpPr>
        <p:spPr>
          <a:xfrm>
            <a:off x="711182" y="4680545"/>
            <a:ext cx="5943451" cy="12700"/>
          </a:xfrm>
          <a:prstGeom prst="rect">
            <a:avLst/>
          </a:prstGeom>
          <a:solidFill>
            <a:srgbClr val="AA977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1969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ORGANIZACIÓN INTERNA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70255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Equipo y roles (redistribución validada el 15-10)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06823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734" y="2957215"/>
            <a:ext cx="476238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22067" y="3633649"/>
            <a:ext cx="251453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Iahn Vera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9585" y="4043164"/>
            <a:ext cx="2514537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JEFE DE PROYECTO · EDGE E INTEGRACIÓN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9585" y="4503142"/>
            <a:ext cx="25145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agente Edge, receptor simulado, integración y documento de diseño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064" y="2957215"/>
            <a:ext cx="476238" cy="476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84724" y="3633649"/>
            <a:ext cx="251453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Joaquín Armijo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3759205" y="4043164"/>
            <a:ext cx="218424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MODELO DE IA · DOCKER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428914" y="4328517"/>
            <a:ext cx="25145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Modelo de IA y reentrenamiento · Docker Compose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393" y="2957215"/>
            <a:ext cx="476238" cy="4762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19323" y="3633649"/>
            <a:ext cx="251453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Fernando Muñoz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248244" y="4043164"/>
            <a:ext cx="2514537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API Y BASE DE DATOS · PRUEBAS Y FIRMWARE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48244" y="4503142"/>
            <a:ext cx="25145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Base de datos y API · plan de pruebas · firmware de la baliza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723" y="2957215"/>
            <a:ext cx="476238" cy="4762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83190" y="3633649"/>
            <a:ext cx="251453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Benjamín Cáceres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067573" y="4043164"/>
            <a:ext cx="2514537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DASHBOARD, ALERTAS Y REPORTES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9067573" y="4503142"/>
            <a:ext cx="25145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Dashboard web · alertas SMS y correo · reportes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80653"/>
            <a:ext cx="701022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ALCANCE Y COMPROMISOS TÉCNICOS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1038939"/>
            <a:ext cx="670543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Objetivos (con ajustes)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675507"/>
            <a:ext cx="1676358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056904"/>
            <a:ext cx="696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492" y="2042378"/>
            <a:ext cx="646612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Objetivo general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0492" y="2447925"/>
            <a:ext cx="64661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detección de EPP con visión computacional y balizas zonales conectadas por 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1182" y="3246834"/>
            <a:ext cx="7072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1207" y="3232309"/>
            <a:ext cx="645540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Ajuste 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1207" y="3637855"/>
            <a:ext cx="64554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modelo YOLO26 · mAP@0,5 ≥ 0,90 en las clases del producto y recall ≥ 0,85 por regla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1182" y="4436765"/>
            <a:ext cx="7077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1703" y="4422239"/>
            <a:ext cx="645491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Ajuste 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61703" y="4827786"/>
            <a:ext cx="645491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baliza zonal sonora y visual (antes: vibración en el trabajador)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1182" y="5350470"/>
            <a:ext cx="71574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740" y="5335945"/>
            <a:ext cx="6446875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Ajuste 7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9740" y="5741491"/>
            <a:ext cx="64468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despliegue documentado con Docker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4343400"/>
            <a:ext cx="4470288" cy="25146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11182" y="3108325"/>
            <a:ext cx="6705432" cy="12700"/>
          </a:xfrm>
          <a:prstGeom prst="rect">
            <a:avLst/>
          </a:prstGeom>
          <a:solidFill>
            <a:srgbClr val="AA977D"/>
          </a:solidFill>
          <a:ln/>
        </p:spPr>
      </p:sp>
      <p:sp>
        <p:nvSpPr>
          <p:cNvPr id="19" name="Shape 16"/>
          <p:cNvSpPr/>
          <p:nvPr/>
        </p:nvSpPr>
        <p:spPr>
          <a:xfrm>
            <a:off x="711182" y="4298255"/>
            <a:ext cx="6705432" cy="12700"/>
          </a:xfrm>
          <a:prstGeom prst="rect">
            <a:avLst/>
          </a:prstGeom>
          <a:solidFill>
            <a:srgbClr val="AA977D"/>
          </a:solidFill>
          <a:ln/>
        </p:spPr>
      </p:sp>
      <p:sp>
        <p:nvSpPr>
          <p:cNvPr id="20" name="Shape 17"/>
          <p:cNvSpPr/>
          <p:nvPr/>
        </p:nvSpPr>
        <p:spPr>
          <a:xfrm>
            <a:off x="711182" y="5211961"/>
            <a:ext cx="6705432" cy="12700"/>
          </a:xfrm>
          <a:prstGeom prst="rect">
            <a:avLst/>
          </a:prstGeom>
          <a:solidFill>
            <a:srgbClr val="AA977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1969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CICLO DE VIDA DEL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70255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Metodología: cascada con puertas de fase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06823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3455690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BACCDD"/>
          </a:solidFill>
          <a:ln/>
        </p:spPr>
      </p:sp>
      <p:sp>
        <p:nvSpPr>
          <p:cNvPr id="6" name="Shape 4"/>
          <p:cNvSpPr/>
          <p:nvPr/>
        </p:nvSpPr>
        <p:spPr>
          <a:xfrm>
            <a:off x="1877569" y="307469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BACCDD"/>
          </a:solidFill>
          <a:ln/>
        </p:spPr>
      </p:sp>
      <p:sp>
        <p:nvSpPr>
          <p:cNvPr id="7" name="Shape 5"/>
          <p:cNvSpPr/>
          <p:nvPr/>
        </p:nvSpPr>
        <p:spPr>
          <a:xfrm>
            <a:off x="1820420" y="3384252"/>
            <a:ext cx="142871" cy="142875"/>
          </a:xfrm>
          <a:prstGeom prst="ellipse">
            <a:avLst/>
          </a:prstGeom>
          <a:solidFill>
            <a:srgbClr val="1D5A93"/>
          </a:solidFill>
          <a:ln/>
        </p:spPr>
      </p:sp>
      <p:sp>
        <p:nvSpPr>
          <p:cNvPr id="8" name="Text 6"/>
          <p:cNvSpPr/>
          <p:nvPr/>
        </p:nvSpPr>
        <p:spPr>
          <a:xfrm>
            <a:off x="800080" y="1676598"/>
            <a:ext cx="2183552" cy="5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spc="-16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Inicio y planificación (S1–S4) </a:t>
            </a:r>
            <a:pPr algn="ctr" indent="0" marL="0">
              <a:lnSpc>
                <a:spcPct val="108000"/>
              </a:lnSpc>
              <a:buNone/>
            </a:pPr>
            <a:r>
              <a:rPr lang="en-US" sz="1650" spc="-1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✔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00080" y="2348309"/>
            <a:ext cx="218355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Fase completada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78899" y="345569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BACCDD"/>
          </a:solidFill>
          <a:ln/>
        </p:spPr>
      </p:sp>
      <p:sp>
        <p:nvSpPr>
          <p:cNvPr id="11" name="Shape 9"/>
          <p:cNvSpPr/>
          <p:nvPr/>
        </p:nvSpPr>
        <p:spPr>
          <a:xfrm>
            <a:off x="3221751" y="3384252"/>
            <a:ext cx="142871" cy="142875"/>
          </a:xfrm>
          <a:prstGeom prst="ellipse">
            <a:avLst/>
          </a:prstGeom>
          <a:solidFill>
            <a:srgbClr val="1D5A93"/>
          </a:solidFill>
          <a:ln/>
        </p:spPr>
      </p:sp>
      <p:sp>
        <p:nvSpPr>
          <p:cNvPr id="12" name="Text 10"/>
          <p:cNvSpPr/>
          <p:nvPr/>
        </p:nvSpPr>
        <p:spPr>
          <a:xfrm>
            <a:off x="2201411" y="4027190"/>
            <a:ext cx="2183552" cy="82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spc="-16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Análisis de requerimientos · SRS (S5–S7) </a:t>
            </a:r>
            <a:pPr algn="ctr" indent="0" marL="0">
              <a:lnSpc>
                <a:spcPct val="108000"/>
              </a:lnSpc>
              <a:buNone/>
            </a:pPr>
            <a:r>
              <a:rPr lang="en-US" sz="1650" spc="-1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✔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201411" y="4971256"/>
            <a:ext cx="218355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Fase completada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80230" y="307469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BACCDD"/>
          </a:solidFill>
          <a:ln/>
        </p:spPr>
      </p:sp>
      <p:sp>
        <p:nvSpPr>
          <p:cNvPr id="15" name="Shape 13"/>
          <p:cNvSpPr/>
          <p:nvPr/>
        </p:nvSpPr>
        <p:spPr>
          <a:xfrm>
            <a:off x="4623081" y="3384252"/>
            <a:ext cx="142871" cy="142875"/>
          </a:xfrm>
          <a:prstGeom prst="ellipse">
            <a:avLst/>
          </a:prstGeom>
          <a:solidFill>
            <a:srgbClr val="1D5A93"/>
          </a:solidFill>
          <a:ln/>
        </p:spPr>
      </p:sp>
      <p:sp>
        <p:nvSpPr>
          <p:cNvPr id="16" name="Text 14"/>
          <p:cNvSpPr/>
          <p:nvPr/>
        </p:nvSpPr>
        <p:spPr>
          <a:xfrm>
            <a:off x="3602741" y="1676598"/>
            <a:ext cx="2183552" cy="817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spc="-16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Diseño · D2 y plan de pruebas (S8–S9) — en curso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02741" y="2607965"/>
            <a:ext cx="218355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 desarrollo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81560" y="345569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DB5E4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24412" y="3384252"/>
            <a:ext cx="142871" cy="142875"/>
          </a:xfrm>
          <a:prstGeom prst="ellipse">
            <a:avLst/>
          </a:prstGeom>
          <a:solidFill>
            <a:srgbClr val="C2452D"/>
          </a:solidFill>
          <a:ln/>
        </p:spPr>
      </p:sp>
      <p:sp>
        <p:nvSpPr>
          <p:cNvPr id="20" name="Text 18"/>
          <p:cNvSpPr/>
          <p:nvPr/>
        </p:nvSpPr>
        <p:spPr>
          <a:xfrm>
            <a:off x="5004072" y="4027190"/>
            <a:ext cx="2183552" cy="817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spc="-16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Construcción (S9–S13) — en curso ← estamos aquí (S10)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004072" y="4958556"/>
            <a:ext cx="218355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Hito activo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82891" y="307469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BACCDD"/>
          </a:solidFill>
          <a:ln/>
        </p:spPr>
      </p:sp>
      <p:sp>
        <p:nvSpPr>
          <p:cNvPr id="23" name="Shape 21"/>
          <p:cNvSpPr/>
          <p:nvPr/>
        </p:nvSpPr>
        <p:spPr>
          <a:xfrm>
            <a:off x="7425742" y="3384252"/>
            <a:ext cx="142871" cy="142875"/>
          </a:xfrm>
          <a:prstGeom prst="ellipse">
            <a:avLst/>
          </a:prstGeom>
          <a:solidFill>
            <a:srgbClr val="1D5A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5402" y="1676598"/>
            <a:ext cx="218355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spc="-16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Integración y pruebas (S13–S15)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405402" y="2335609"/>
            <a:ext cx="218355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Fase futura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884221" y="345569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BACCDD"/>
          </a:solidFill>
          <a:ln/>
        </p:spPr>
      </p:sp>
      <p:sp>
        <p:nvSpPr>
          <p:cNvPr id="27" name="Shape 25"/>
          <p:cNvSpPr/>
          <p:nvPr/>
        </p:nvSpPr>
        <p:spPr>
          <a:xfrm>
            <a:off x="8827073" y="3384252"/>
            <a:ext cx="142871" cy="142875"/>
          </a:xfrm>
          <a:prstGeom prst="ellipse">
            <a:avLst/>
          </a:prstGeom>
          <a:solidFill>
            <a:srgbClr val="1D5A93"/>
          </a:solidFill>
          <a:ln/>
        </p:spPr>
      </p:sp>
      <p:sp>
        <p:nvSpPr>
          <p:cNvPr id="28" name="Text 26"/>
          <p:cNvSpPr/>
          <p:nvPr/>
        </p:nvSpPr>
        <p:spPr>
          <a:xfrm>
            <a:off x="7806733" y="4027190"/>
            <a:ext cx="218355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spc="-16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Implantación y cierre (S14–S15)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806733" y="4686201"/>
            <a:ext cx="218355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Fase futura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285552" y="307469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BACCDD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28403" y="3384252"/>
            <a:ext cx="142871" cy="142875"/>
          </a:xfrm>
          <a:prstGeom prst="ellipse">
            <a:avLst/>
          </a:prstGeom>
          <a:solidFill>
            <a:srgbClr val="1D5A93"/>
          </a:solidFill>
          <a:ln/>
        </p:spPr>
      </p:sp>
      <p:sp>
        <p:nvSpPr>
          <p:cNvPr id="32" name="Text 30"/>
          <p:cNvSpPr/>
          <p:nvPr/>
        </p:nvSpPr>
        <p:spPr>
          <a:xfrm>
            <a:off x="9208063" y="1676598"/>
            <a:ext cx="218355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spc="-16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Defensa (S16–S18)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208063" y="2063254"/>
            <a:ext cx="218355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Cierre académico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09585" y="5439470"/>
            <a:ext cx="10972526" cy="1342330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5" y="5439470"/>
            <a:ext cx="10972526" cy="2540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36" name="Text 34"/>
          <p:cNvSpPr/>
          <p:nvPr/>
        </p:nvSpPr>
        <p:spPr>
          <a:xfrm>
            <a:off x="838179" y="5646003"/>
            <a:ext cx="1051533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Justificación metodológica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38179" y="6051550"/>
            <a:ext cx="105153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Por qué: requerimientos estables, hitos fijos y hardware que obliga a cerrar el diseño antes de construir. Responde a la observación del docente sobre la metodología incremental.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62769"/>
            <a:ext cx="660383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SEGUIMIENTO DE GESTIÓN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821055"/>
            <a:ext cx="640064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Estado del plan de trabajo (22 actividades)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869083"/>
            <a:ext cx="1600160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2118320"/>
            <a:ext cx="5841854" cy="330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182" y="5500092"/>
            <a:ext cx="66038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mayor volumen está en curso y todavía no iniciado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518212" y="1819176"/>
            <a:ext cx="406389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EJECUTADAS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18212" y="2069366"/>
            <a:ext cx="4063898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Completadas: 2 · Ajustadas: 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18212" y="2545556"/>
            <a:ext cx="406389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EN PROCESO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18212" y="2795746"/>
            <a:ext cx="4063898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En curso: 8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518212" y="3166368"/>
            <a:ext cx="4063898" cy="1101725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12" name="Shape 9"/>
          <p:cNvSpPr/>
          <p:nvPr/>
        </p:nvSpPr>
        <p:spPr>
          <a:xfrm>
            <a:off x="7518212" y="3166368"/>
            <a:ext cx="25399" cy="1101725"/>
          </a:xfrm>
          <a:prstGeom prst="rect">
            <a:avLst/>
          </a:prstGeom>
          <a:solidFill>
            <a:srgbClr val="C2452D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206" y="3271937"/>
            <a:ext cx="380990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A63B26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ATENCIÓN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206" y="3614043"/>
            <a:ext cx="35813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 retraso: 3 (aprobación del SRS, modelo ER, plan de pruebas)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518212" y="4373662"/>
            <a:ext cx="406389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PRÓXIMAS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18212" y="4719340"/>
            <a:ext cx="406389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iniciadas: 8 (Docker, dashboard, firmware, alertas remotas, reportes, integración, despliegue)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518212" y="2433638"/>
            <a:ext cx="4063898" cy="12700"/>
          </a:xfrm>
          <a:prstGeom prst="rect">
            <a:avLst/>
          </a:prstGeom>
          <a:solidFill>
            <a:srgbClr val="AA977D"/>
          </a:solidFill>
          <a:ln/>
        </p:spPr>
      </p:sp>
      <p:sp>
        <p:nvSpPr>
          <p:cNvPr id="18" name="Shape 15"/>
          <p:cNvSpPr/>
          <p:nvPr/>
        </p:nvSpPr>
        <p:spPr>
          <a:xfrm>
            <a:off x="7518212" y="3160018"/>
            <a:ext cx="4063898" cy="12700"/>
          </a:xfrm>
          <a:prstGeom prst="rect">
            <a:avLst/>
          </a:prstGeom>
          <a:solidFill>
            <a:srgbClr val="AA977D"/>
          </a:solidFill>
          <a:ln/>
        </p:spPr>
      </p:sp>
      <p:sp>
        <p:nvSpPr>
          <p:cNvPr id="19" name="Shape 16"/>
          <p:cNvSpPr/>
          <p:nvPr/>
        </p:nvSpPr>
        <p:spPr>
          <a:xfrm>
            <a:off x="7518212" y="4261743"/>
            <a:ext cx="4063898" cy="12700"/>
          </a:xfrm>
          <a:prstGeom prst="rect">
            <a:avLst/>
          </a:prstGeom>
          <a:solidFill>
            <a:srgbClr val="AA977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62769"/>
            <a:ext cx="660383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EXPERIMENTACIÓN DE VISIÓN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821055"/>
            <a:ext cx="640064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Resultados del modelo (YOLO26s, 100 épocas, 1.416 imágenes)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869083"/>
            <a:ext cx="1600160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061567"/>
            <a:ext cx="66038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mAP@0,5 por clase: chaleco 0,889 · casco 0,848 · sin casco 0,493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2383433"/>
            <a:ext cx="5841854" cy="292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1182" y="5384205"/>
            <a:ext cx="66038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recall del casco queda bajo la meta, mientras el del chaleco la supera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18212" y="1434505"/>
            <a:ext cx="4063898" cy="3335536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9" name="Shape 6"/>
          <p:cNvSpPr/>
          <p:nvPr/>
        </p:nvSpPr>
        <p:spPr>
          <a:xfrm>
            <a:off x="7518212" y="1434505"/>
            <a:ext cx="4063898" cy="1905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10" name="Text 7"/>
          <p:cNvSpPr/>
          <p:nvPr/>
        </p:nvSpPr>
        <p:spPr>
          <a:xfrm>
            <a:off x="7746806" y="1656755"/>
            <a:ext cx="383530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i="1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Evaluación de Reglas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46806" y="2107763"/>
            <a:ext cx="360671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Recall por regla de negocio, meta 0,85: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746806" y="2785666"/>
            <a:ext cx="360671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¿Lleva chaleco? 0,89 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✔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cumple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¿Lleva casco? 0,757 ✘ bajo la meta (precisión 0,985)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46806" y="3825478"/>
            <a:ext cx="901677" cy="31651"/>
          </a:xfrm>
          <a:prstGeom prst="roundRect">
            <a:avLst>
              <a:gd name="adj" fmla="val 49998"/>
            </a:avLst>
          </a:prstGeom>
          <a:solidFill>
            <a:srgbClr val="22283F"/>
          </a:solidFill>
          <a:ln/>
        </p:spPr>
      </p:sp>
      <p:sp>
        <p:nvSpPr>
          <p:cNvPr id="14" name="Text 11"/>
          <p:cNvSpPr/>
          <p:nvPr/>
        </p:nvSpPr>
        <p:spPr>
          <a:xfrm>
            <a:off x="7746806" y="4014391"/>
            <a:ext cx="36067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22283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Siguiente paso: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reentrenar priorizando casco y exportar a ONNX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11969"/>
            <a:ext cx="1137891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PIPELINE DISTRIBUIDO DE TIEMPO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770255"/>
            <a:ext cx="1076933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Arquitectura y flujo de alerta (&lt; 5 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406823"/>
            <a:ext cx="2692333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sp>
        <p:nvSpPr>
          <p:cNvPr id="5" name="Shape 3"/>
          <p:cNvSpPr/>
          <p:nvPr/>
        </p:nvSpPr>
        <p:spPr>
          <a:xfrm>
            <a:off x="711182" y="2472234"/>
            <a:ext cx="2153787" cy="2726630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6" name="Shape 4"/>
          <p:cNvSpPr/>
          <p:nvPr/>
        </p:nvSpPr>
        <p:spPr>
          <a:xfrm>
            <a:off x="711182" y="2472234"/>
            <a:ext cx="2153787" cy="1905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7" name="Shape 5"/>
          <p:cNvSpPr/>
          <p:nvPr/>
        </p:nvSpPr>
        <p:spPr>
          <a:xfrm>
            <a:off x="838179" y="2669084"/>
            <a:ext cx="1899793" cy="762000"/>
          </a:xfrm>
          <a:prstGeom prst="rect">
            <a:avLst/>
          </a:prstGeom>
          <a:solidFill>
            <a:srgbClr val="BACCDD"/>
          </a:solidFill>
          <a:ln/>
        </p:spPr>
      </p:sp>
      <p:sp>
        <p:nvSpPr>
          <p:cNvPr id="8" name="Shape 6"/>
          <p:cNvSpPr/>
          <p:nvPr/>
        </p:nvSpPr>
        <p:spPr>
          <a:xfrm>
            <a:off x="850085" y="2680990"/>
            <a:ext cx="1875882" cy="738188"/>
          </a:xfrm>
          <a:prstGeom prst="rect">
            <a:avLst/>
          </a:prstGeom>
          <a:solidFill>
            <a:srgbClr val="D4E6F7"/>
          </a:solidFill>
          <a:ln/>
        </p:spPr>
      </p:sp>
      <p:sp>
        <p:nvSpPr>
          <p:cNvPr id="9" name="Text 7"/>
          <p:cNvSpPr/>
          <p:nvPr/>
        </p:nvSpPr>
        <p:spPr>
          <a:xfrm>
            <a:off x="1722890" y="2907209"/>
            <a:ext cx="73995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179" y="3510617"/>
            <a:ext cx="189979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Paso 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38179" y="3916164"/>
            <a:ext cx="189979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Cámara IP envía video por RTSP al agente Edge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64969" y="2472234"/>
            <a:ext cx="2153886" cy="2726630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13" name="Shape 11"/>
          <p:cNvSpPr/>
          <p:nvPr/>
        </p:nvSpPr>
        <p:spPr>
          <a:xfrm>
            <a:off x="2864969" y="2472234"/>
            <a:ext cx="2153886" cy="1905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14" name="Shape 12"/>
          <p:cNvSpPr/>
          <p:nvPr/>
        </p:nvSpPr>
        <p:spPr>
          <a:xfrm>
            <a:off x="2991966" y="2669084"/>
            <a:ext cx="1899892" cy="762000"/>
          </a:xfrm>
          <a:prstGeom prst="rect">
            <a:avLst/>
          </a:prstGeom>
          <a:solidFill>
            <a:srgbClr val="BACCDD"/>
          </a:solidFill>
          <a:ln/>
        </p:spPr>
      </p:sp>
      <p:sp>
        <p:nvSpPr>
          <p:cNvPr id="15" name="Shape 13"/>
          <p:cNvSpPr/>
          <p:nvPr/>
        </p:nvSpPr>
        <p:spPr>
          <a:xfrm>
            <a:off x="3003872" y="2680990"/>
            <a:ext cx="1876080" cy="738188"/>
          </a:xfrm>
          <a:prstGeom prst="rect">
            <a:avLst/>
          </a:prstGeom>
          <a:solidFill>
            <a:srgbClr val="D4E6F7"/>
          </a:solidFill>
          <a:ln/>
        </p:spPr>
      </p:sp>
      <p:sp>
        <p:nvSpPr>
          <p:cNvPr id="16" name="Text 14"/>
          <p:cNvSpPr/>
          <p:nvPr/>
        </p:nvSpPr>
        <p:spPr>
          <a:xfrm>
            <a:off x="3868740" y="2907209"/>
            <a:ext cx="7559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2991966" y="3510617"/>
            <a:ext cx="189989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Paso 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991966" y="3916164"/>
            <a:ext cx="189989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agente Edge ejecuta la IA a 1 FPS por cámara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18855" y="2472234"/>
            <a:ext cx="2153886" cy="2726630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20" name="Shape 18"/>
          <p:cNvSpPr/>
          <p:nvPr/>
        </p:nvSpPr>
        <p:spPr>
          <a:xfrm>
            <a:off x="5018855" y="2472234"/>
            <a:ext cx="2153886" cy="1905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21" name="Shape 19"/>
          <p:cNvSpPr/>
          <p:nvPr/>
        </p:nvSpPr>
        <p:spPr>
          <a:xfrm>
            <a:off x="5145852" y="2669084"/>
            <a:ext cx="1899892" cy="762000"/>
          </a:xfrm>
          <a:prstGeom prst="rect">
            <a:avLst/>
          </a:prstGeom>
          <a:solidFill>
            <a:srgbClr val="BACCDD"/>
          </a:solidFill>
          <a:ln/>
        </p:spPr>
      </p:sp>
      <p:sp>
        <p:nvSpPr>
          <p:cNvPr id="22" name="Shape 20"/>
          <p:cNvSpPr/>
          <p:nvPr/>
        </p:nvSpPr>
        <p:spPr>
          <a:xfrm>
            <a:off x="5157758" y="2680990"/>
            <a:ext cx="1876080" cy="738188"/>
          </a:xfrm>
          <a:prstGeom prst="rect">
            <a:avLst/>
          </a:prstGeom>
          <a:solidFill>
            <a:srgbClr val="D4E6F7"/>
          </a:solidFill>
          <a:ln/>
        </p:spPr>
      </p:sp>
      <p:sp>
        <p:nvSpPr>
          <p:cNvPr id="23" name="Text 21"/>
          <p:cNvSpPr/>
          <p:nvPr/>
        </p:nvSpPr>
        <p:spPr>
          <a:xfrm>
            <a:off x="6022130" y="2907209"/>
            <a:ext cx="7568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5145852" y="3510617"/>
            <a:ext cx="189989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Paso 3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145852" y="3916164"/>
            <a:ext cx="18998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Ante una infracción, el agente envía POST /alert a la IP de la baliza de la zona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172741" y="2472234"/>
            <a:ext cx="2153886" cy="2726630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27" name="Shape 25"/>
          <p:cNvSpPr/>
          <p:nvPr/>
        </p:nvSpPr>
        <p:spPr>
          <a:xfrm>
            <a:off x="7172741" y="2472234"/>
            <a:ext cx="2153886" cy="1905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28" name="Shape 26"/>
          <p:cNvSpPr/>
          <p:nvPr/>
        </p:nvSpPr>
        <p:spPr>
          <a:xfrm>
            <a:off x="7299738" y="2669084"/>
            <a:ext cx="1899892" cy="762000"/>
          </a:xfrm>
          <a:prstGeom prst="rect">
            <a:avLst/>
          </a:prstGeom>
          <a:solidFill>
            <a:srgbClr val="BACCDD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1644" y="2680990"/>
            <a:ext cx="1876080" cy="738188"/>
          </a:xfrm>
          <a:prstGeom prst="rect">
            <a:avLst/>
          </a:prstGeom>
          <a:solidFill>
            <a:srgbClr val="D4E6F7"/>
          </a:solidFill>
          <a:ln/>
        </p:spPr>
      </p:sp>
      <p:sp>
        <p:nvSpPr>
          <p:cNvPr id="30" name="Text 28"/>
          <p:cNvSpPr/>
          <p:nvPr/>
        </p:nvSpPr>
        <p:spPr>
          <a:xfrm>
            <a:off x="8170063" y="2907209"/>
            <a:ext cx="7688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7299738" y="3510617"/>
            <a:ext cx="189989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Paso 4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299738" y="3916164"/>
            <a:ext cx="18998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baliza M5Stack StickS3 suena y muestra la zona y el EPP faltante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326627" y="2472234"/>
            <a:ext cx="2153787" cy="2726630"/>
          </a:xfrm>
          <a:prstGeom prst="rect">
            <a:avLst/>
          </a:prstGeom>
          <a:solidFill>
            <a:srgbClr val="CCE1DB"/>
          </a:solidFill>
          <a:ln/>
        </p:spPr>
      </p:sp>
      <p:sp>
        <p:nvSpPr>
          <p:cNvPr id="34" name="Shape 32"/>
          <p:cNvSpPr/>
          <p:nvPr/>
        </p:nvSpPr>
        <p:spPr>
          <a:xfrm>
            <a:off x="9326627" y="2472234"/>
            <a:ext cx="2153787" cy="19050"/>
          </a:xfrm>
          <a:prstGeom prst="rect">
            <a:avLst/>
          </a:prstGeom>
          <a:solidFill>
            <a:srgbClr val="22283F"/>
          </a:solidFill>
          <a:ln/>
        </p:spPr>
      </p:sp>
      <p:sp>
        <p:nvSpPr>
          <p:cNvPr id="35" name="Shape 33"/>
          <p:cNvSpPr/>
          <p:nvPr/>
        </p:nvSpPr>
        <p:spPr>
          <a:xfrm>
            <a:off x="9453624" y="2669084"/>
            <a:ext cx="1899793" cy="762000"/>
          </a:xfrm>
          <a:prstGeom prst="rect">
            <a:avLst/>
          </a:prstGeom>
          <a:solidFill>
            <a:srgbClr val="BACCDD"/>
          </a:solidFill>
          <a:ln/>
        </p:spPr>
      </p:sp>
      <p:sp>
        <p:nvSpPr>
          <p:cNvPr id="36" name="Shape 34"/>
          <p:cNvSpPr/>
          <p:nvPr/>
        </p:nvSpPr>
        <p:spPr>
          <a:xfrm>
            <a:off x="9465530" y="2680990"/>
            <a:ext cx="1875882" cy="738188"/>
          </a:xfrm>
          <a:prstGeom prst="rect">
            <a:avLst/>
          </a:prstGeom>
          <a:solidFill>
            <a:srgbClr val="D4E6F7"/>
          </a:solidFill>
          <a:ln/>
        </p:spPr>
      </p:sp>
      <p:sp>
        <p:nvSpPr>
          <p:cNvPr id="37" name="Text 35"/>
          <p:cNvSpPr/>
          <p:nvPr/>
        </p:nvSpPr>
        <p:spPr>
          <a:xfrm>
            <a:off x="10328215" y="2907209"/>
            <a:ext cx="7601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50" dirty="0">
                <a:solidFill>
                  <a:srgbClr val="22283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5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9453624" y="3510617"/>
            <a:ext cx="189979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2283F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Paso 5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453624" y="3916164"/>
            <a:ext cx="1899793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 paralelo: API FastAPI → PostgreSQL → dashboard y aviso SMS/correo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11182" y="6190059"/>
            <a:ext cx="113789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Objetivo: ciclo completo en menos de 5 segundos, aunque la API esté caída.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62769"/>
            <a:ext cx="1137891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REPOSITORIO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821055"/>
            <a:ext cx="1076933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Evidencias en el repositorio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457623"/>
            <a:ext cx="2692333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1706860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182" y="2202319"/>
            <a:ext cx="336115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SRS (D1) v0.3 y carta Gantt de la cascada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520" y="1706860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29520" y="2202319"/>
            <a:ext cx="3132555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Diagrama UML de casos de uso y contrato de la API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264" y="1706860"/>
            <a:ext cx="380990" cy="381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19264" y="2202319"/>
            <a:ext cx="336115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API FastAPI con pruebas automatizadas (pytest)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" y="3200896"/>
            <a:ext cx="380990" cy="381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1182" y="3696355"/>
            <a:ext cx="336115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Modelo entrenado con curvas, matriz de confusión y métricas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520" y="3200896"/>
            <a:ext cx="380990" cy="381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29520" y="3696355"/>
            <a:ext cx="3132555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Motor de detección con difuminado facial</a:t>
            </a:r>
            <a:endParaRPr lang="en-US" sz="16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264" y="3200896"/>
            <a:ext cx="380990" cy="3810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19264" y="3696355"/>
            <a:ext cx="336115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Tabla de incidentes en PostgreSQL (migración versionada)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62769"/>
            <a:ext cx="1137891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PERFIL DE EGRESO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821055"/>
            <a:ext cx="1076933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Competencias del perfil de egreso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457623"/>
            <a:ext cx="2692333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1706860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182" y="2202319"/>
            <a:ext cx="515607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Pruebas de certificación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11182" y="2607866"/>
            <a:ext cx="515607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Criterios medibles, pruebas automatizadas, validación del modelo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1706860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2" y="2202319"/>
            <a:ext cx="515607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Gestión de proyectos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324442" y="2607866"/>
            <a:ext cx="515607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Cascada, EDT, Gantt, control de avance y riesgos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3617516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1182" y="4112974"/>
            <a:ext cx="515607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Modelos de datos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11182" y="4518521"/>
            <a:ext cx="515607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Esquema PostgreSQL con migraciones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3617516"/>
            <a:ext cx="38099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24442" y="4112974"/>
            <a:ext cx="515607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Desarrollo de software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324442" y="4518521"/>
            <a:ext cx="515607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IA, agente Edge, API, dashboard y Docker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62769"/>
            <a:ext cx="1137891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AJUSTES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821055"/>
            <a:ext cx="1076933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Ajustes y por qué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457623"/>
            <a:ext cx="2692333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182" y="1706860"/>
          <a:ext cx="10769331" cy="914400"/>
        </p:xfrm>
        <a:graphic>
          <a:graphicData uri="http://schemas.openxmlformats.org/drawingml/2006/table">
            <a:tbl>
              <a:tblPr/>
              <a:tblGrid>
                <a:gridCol w="5384665"/>
                <a:gridCol w="5384665"/>
              </a:tblGrid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Antes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Después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Incremental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Cascada: observación del docente y plan ya secuencial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Vibración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Baliza zonal: el sistema no identifica personas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La API emite la alerta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El agente Edge emite la alerta: menos latencia y funciona aunque la API caiga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YOLOv8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YOLO26 y regla por zona para detectar la falta de chaleco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Docker fuera del alcance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Docker en el alcance: exigido por el curso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D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62769"/>
            <a:ext cx="1137891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GESTIÓN DEL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821055"/>
            <a:ext cx="1076933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Riesgos (probabilidad × impacto)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457623"/>
            <a:ext cx="2692333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182" y="1706860"/>
          <a:ext cx="10769331" cy="914400"/>
        </p:xfrm>
        <a:graphic>
          <a:graphicData uri="http://schemas.openxmlformats.org/drawingml/2006/table">
            <a:tbl>
              <a:tblPr/>
              <a:tblGrid>
                <a:gridCol w="2369201"/>
                <a:gridCol w="4200015"/>
                <a:gridCol w="4200114"/>
              </a:tblGrid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Impacto \ Probabilidad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Media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Alta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Alto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Media × Alto: WiFi de la universidad falla en la demo · trabajo duplicado entre integrantes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5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DFC6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Alta × Alto: carga académica del equipo · recall de casco bajo la meta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A93"/>
                    </a:solidFill>
                  </a:tcPr>
                </a:tc>
              </a:tr>
              <a:tr h="7048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Medio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83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Media × Medio: llegada tardía de la baliza · curva de aprendizaje de Docker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1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Alta × Medio: ruido de la faena tapa el parlante de la baliza</a:t>
                      </a:r>
                      <a:endParaRPr lang="en-US" sz="15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97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5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62769"/>
            <a:ext cx="1137891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132" kern="100" dirty="0">
                <a:solidFill>
                  <a:srgbClr val="1D5A9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821055"/>
            <a:ext cx="1076933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Próximos pasos hasta la semana 15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457623"/>
            <a:ext cx="2692333" cy="31651"/>
          </a:xfrm>
          <a:prstGeom prst="roundRect">
            <a:avLst>
              <a:gd name="adj" fmla="val 49998"/>
            </a:avLst>
          </a:prstGeom>
          <a:solidFill>
            <a:srgbClr val="AA977D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710194"/>
            <a:ext cx="192519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S11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11182" y="2115741"/>
            <a:ext cx="19251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Aprobar SRS v1.0, cerrar el documento de diseño y el plan de pruebas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93563" y="1710194"/>
            <a:ext cx="169669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S11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093563" y="2115741"/>
            <a:ext cx="1696697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Integrar la persistencia de incidentes y limpiar el repositorio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47449" y="1710194"/>
            <a:ext cx="169669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S11–S12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247449" y="2115741"/>
            <a:ext cx="1696697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Agente Edge con RTSP, receptor simulado de la baliza y reentrenamiento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1335" y="1710194"/>
            <a:ext cx="169669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S12–S13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01335" y="2115741"/>
            <a:ext cx="169669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Dashboard, alertas remotas y Docker Compose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55221" y="1710194"/>
            <a:ext cx="192519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S13–S15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55221" y="2115741"/>
            <a:ext cx="19251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Integración, pruebas de aceptación y demostración con la baliza real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58619" y="1706860"/>
            <a:ext cx="12700" cy="1790005"/>
          </a:xfrm>
          <a:prstGeom prst="rect">
            <a:avLst/>
          </a:prstGeom>
          <a:solidFill>
            <a:srgbClr val="1D5A9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12505" y="1706860"/>
            <a:ext cx="12700" cy="1790005"/>
          </a:xfrm>
          <a:prstGeom prst="rect">
            <a:avLst/>
          </a:prstGeom>
          <a:solidFill>
            <a:srgbClr val="1D5A93"/>
          </a:solidFill>
          <a:ln/>
        </p:spPr>
      </p:sp>
      <p:sp>
        <p:nvSpPr>
          <p:cNvPr id="17" name="Shape 15"/>
          <p:cNvSpPr/>
          <p:nvPr/>
        </p:nvSpPr>
        <p:spPr>
          <a:xfrm>
            <a:off x="7166391" y="1706860"/>
            <a:ext cx="12700" cy="1790005"/>
          </a:xfrm>
          <a:prstGeom prst="rect">
            <a:avLst/>
          </a:prstGeom>
          <a:solidFill>
            <a:srgbClr val="1D5A93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0277" y="1706860"/>
            <a:ext cx="12700" cy="1790005"/>
          </a:xfrm>
          <a:prstGeom prst="rect">
            <a:avLst/>
          </a:prstGeom>
          <a:solidFill>
            <a:srgbClr val="1D5A93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016000"/>
            <a:ext cx="5714857" cy="2978448"/>
          </a:xfrm>
          <a:prstGeom prst="roundRect">
            <a:avLst>
              <a:gd name="adj" fmla="val 959"/>
            </a:avLst>
          </a:prstGeom>
          <a:solidFill>
            <a:srgbClr val="EEDFC6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1356424"/>
            <a:ext cx="5003675" cy="82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400" spc="-64" kern="100" dirty="0">
                <a:solidFill>
                  <a:srgbClr val="22283F"/>
                </a:solidFill>
                <a:latin typeface="Libre Bodoni" pitchFamily="34" charset="0"/>
                <a:ea typeface="Libre Bodoni" pitchFamily="34" charset="-122"/>
                <a:cs typeface="Libre Bodoni" pitchFamily="34" charset="-120"/>
              </a:rPr>
              <a:t>Gracias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65176" y="2324398"/>
            <a:ext cx="500367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D5A93"/>
                </a:solidFill>
                <a:latin typeface="Fira Sans Medium" pitchFamily="34" charset="0"/>
                <a:ea typeface="Fira Sans Medium" pitchFamily="34" charset="-122"/>
                <a:cs typeface="Fira Sans Medium" pitchFamily="34" charset="-120"/>
              </a:rPr>
              <a:t>CascoVision: la cámara ve, la baliza avisa, el prevencionista decide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65176" y="3164185"/>
            <a:ext cx="1250819" cy="31651"/>
          </a:xfrm>
          <a:prstGeom prst="roundRect">
            <a:avLst>
              <a:gd name="adj" fmla="val 49998"/>
            </a:avLst>
          </a:prstGeom>
          <a:solidFill>
            <a:srgbClr val="1D5A93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3413423"/>
            <a:ext cx="561326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22283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¿Preguntas?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2026-10-16T12:14:19Z</dcterms:created>
  <dcterms:modified xsi:type="dcterms:W3CDTF">2026-10-16T12:14:19Z</dcterms:modified>
</cp:coreProperties>
</file>