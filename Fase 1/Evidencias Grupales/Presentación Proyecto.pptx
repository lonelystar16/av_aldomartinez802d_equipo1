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9" roundtripDataSignature="AMtx7mgAhkpFOrLbuiLjMPnkNMxKIjFom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customschemas.google.com/relationships/presentationmetadata" Target="metadata"/><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Buenos días. Somos el equipo de CascoVision. Vamos a presentar el proyecto que desarrollaremos durante las 18 semanas del semestre: un sistema que detecta automáticamente si un trabajador de la construcción está usando casco y chaleco reflectante, y que le avisa a él directamente cuando no lo está usando.</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Tres datos para dimensionar el problema. La construcción es cerca del 7% del PIB y emplea a más de 600 mil personas, con una de las tasas de accidentabilidad más altas del país. Y buena parte de esos accidentes tiene una causa evitable: no usar casco o chaleco. La multa va de 1 a 150 UTM por infracción, pero el costo real es el accidente. Hoy las cámaras existen, pero se miran después del hecho.</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a:xfrm>
          <a:off x="0" y="0"/>
          <a:ext cx="0" cy="0"/>
          <a:chOff x="0" y="0"/>
          <a:chExt cx="0" cy="0"/>
        </a:xfrm>
      </p:grpSpPr>
      <p:sp>
        <p:nvSpPr>
          <p:cNvPr id="43" name="Google Shape;4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 name="Google Shape;44;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CascoVision en una frase: cámaras existentes, más inteligencia artificial que detecta la ausencia de EPP, más un dispositivo que avisa al trabajador. Cuatro decisiones de diseño lo definen: no exige cámaras nuevas, procesa todo localmente sin subir video a la nube, no identifica personas —detecta objetos y difumina las caras— y deja trazabilidad documentada para auditorías ISO 45001.</a:t>
            </a:r>
            <a:endParaRPr/>
          </a:p>
        </p:txBody>
      </p:sp>
      <p:sp>
        <p:nvSpPr>
          <p:cNvPr id="45" name="Google Shape;45;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 name="Google Shape;6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arquitectura tiene cuatro capas. La cámara entrega el video por protocolos estándar. Un agente que corre en la faena procesa un cuadro por segundo con YOLOv8. Si detecta una infracción, la capa 3 —resaltada— envía el evento por red al dispositivo del trabajador. Y en paralelo la capa 4 registra el incidente y avisa al prevencionista. La capa 3 es nuestro diferenciador y la explicamos en la lámina siguiente.</a:t>
            </a:r>
            <a:endParaRPr/>
          </a:p>
        </p:txBody>
      </p:sp>
      <p:sp>
        <p:nvSpPr>
          <p:cNvPr id="70" name="Google Shape;7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 name="Google Shape;10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Este es el circuito completo, y es lo que nos diferencia. Un software de analítica de video se detiene en el paso 4: registra el incidente. Nosotros insertamos los pasos 2 y 3: resolvemos la IP del dispositivo del trabajador y le avisamos a él, con sonido y vibración, en el lugar donde está el riesgo. El objetivo es que todo el ciclo ocurra en menos de cinco segundos. Eso convierte la supervisión en prevención.</a:t>
            </a:r>
            <a:endParaRPr/>
          </a:p>
        </p:txBody>
      </p:sp>
      <p:sp>
        <p:nvSpPr>
          <p:cNvPr id="105" name="Google Shape;10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El proyecto no toca una competencia aislada: las exige las cuatro y encadenadas. Desarrollo de software es el mayor volumen. Modelos de datos sostiene la trazabilidad, que es lo que hace auditable el sistema. Pruebas de certificación es obligatoria porque se trata de un sistema de seguridad: un falso negativo es un trabajador sin casco que el sistema no ve. Y gestión de proyectos, porque son ocho paquetes, cuatro responsables y un plazo fijo. La destacada en naranja es nuestra brecha declarada, y por eso le dimos paquete propio.</a:t>
            </a:r>
            <a:endParaRPr/>
          </a:p>
        </p:txBody>
      </p:sp>
      <p:sp>
        <p:nvSpPr>
          <p:cNvPr id="139" name="Google Shape;13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Cada integrante entra al proyecto por el frente que le interesa profesionalmente, y eso define el reparto de paquetes de trabajo. Iahn en IA y gestión, Joaquín en backend y datos, Benjamín en frontend y reportería, Fernando en el dispositivo y las pruebas. No es un reparto administrativo: cada uno trabaja en lo que quiere hacer después de titularse.</a:t>
            </a:r>
            <a:endParaRPr/>
          </a:p>
        </p:txBody>
      </p:sp>
      <p:sp>
        <p:nvSpPr>
          <p:cNvPr id="163" name="Google Shape;16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 objetivo general y ocho específicos, todos en infinitivo y con criterio medible donde corresponde. Noten el objetivo 7, en naranja: diseñar y aplicar el plan de pruebas. No estaba en la formulación original del proyecto; lo incorporamos en el Capstone precisamente porque es la competencia que necesitamos desarrollar.</a:t>
            </a:r>
            <a:endParaRPr/>
          </a:p>
        </p:txBody>
      </p:sp>
      <p:sp>
        <p:nvSpPr>
          <p:cNvPr id="188" name="Google Shape;18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Elegimos un enfoque iterativo incremental por dos razones técnicas, no por moda. El modelo de IA necesita ciclos de medir y reentrenar. Y el dispositivo físico depende de hardware que puede retrasarse, así que lo desarrollamos primero contra un receptor simulado. Las cinco etapas están alineadas a los hitos de la asignatura: semana 4 esta presentación, semana 10 la entrega de avance, semana 15 la entrega final y semanas 17 y 18 la defensa.</a:t>
            </a:r>
            <a:endParaRPr/>
          </a:p>
        </p:txBody>
      </p:sp>
      <p:sp>
        <p:nvSpPr>
          <p:cNvPr id="221" name="Google Shape;221;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 name="Google Shape;251;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Este es el plan en 18 semanas. Cada actividad tiene un responsable único, recursos declarados y sus facilitadores y obstaculizadores en el documento de definición. Dos decisiones de calendario importan: el dispositivo de alerta arranca en la semana 10 contra receptor simulado, para que un retraso de hardware no bloquee el resto; y el plan de pruebas —la barra naranja— ocupa tres semanas propias, no se diluye dentro del desarrollo.</a:t>
            </a:r>
            <a:endParaRPr/>
          </a:p>
        </p:txBody>
      </p:sp>
      <p:sp>
        <p:nvSpPr>
          <p:cNvPr id="252" name="Google Shape;252;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1" name="Google Shape;29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Ocho evidencias, cuatro en la entrega de avance de la semana 10 y cuatro en la entrega final de la semana 15. Cada una está elegida para demostrar una competencia concreta: el motor y la API demuestran desarrollo de software, el esquema demuestra modelos de datos, el informe de avance demuestra control de proyecto y el informe de pruebas cierra la competencia de certificación. Queremos acordar esta lista con usted en la asesoría.</a:t>
            </a:r>
            <a:endParaRPr/>
          </a:p>
        </p:txBody>
      </p:sp>
      <p:sp>
        <p:nvSpPr>
          <p:cNvPr id="292" name="Google Shape;29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5" name="Google Shape;325;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factibilidad se sostiene en que no partimos de cero: hay prototipo, arquitectura y estudio de viabilidad. Los cuatro riesgos que más nos preocupan tienen mitigación concreta, y el más alto —el hardware— se resuelve desarrollando primero contra un simulador. Y declaramos explícitamente qué queda fuera del alcance para no caer en el error de querer detectar más EPP de los comprometidos.</a:t>
            </a:r>
            <a:endParaRPr/>
          </a:p>
        </p:txBody>
      </p:sp>
      <p:sp>
        <p:nvSpPr>
          <p:cNvPr id="326" name="Google Shape;326;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Traemos el estudio económico porque respalda que el proyecto tiene sentido como producto y no solo como ejercicio. Obtuvo 92 sobre 100 en la matriz multicriterio con la que comparamos tres alternativas de proyectos con IA. Pero queremos ser explícitos: ese estudio usa un horizonte de cuatro meses con hitos de pago, y no es el cronograma del Capstone. El cronograma que rige es el de 18 semanas de la lámina anterior.</a:t>
            </a:r>
            <a:endParaRPr/>
          </a:p>
        </p:txBody>
      </p:sp>
      <p:sp>
        <p:nvSpPr>
          <p:cNvPr id="356" name="Google Shape;35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2" name="Google Shape;38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Cerramos con el compromiso concreto: a la semana 10 traemos motor entrenado y medido, modelo de datos implementado y API operativa. Y dejamos planteados los dos puntos que necesitamos aclarar con usted: el cambio de equipo respecto de la formulación original, y que el horizonte de la evaluación económica no es el cronograma del Capstone. Gracias.</a:t>
            </a:r>
            <a:endParaRPr/>
          </a:p>
        </p:txBody>
      </p:sp>
      <p:sp>
        <p:nvSpPr>
          <p:cNvPr id="383" name="Google Shape;38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15" name="Shape 15"/>
        <p:cNvGrpSpPr/>
        <p:nvPr/>
      </p:nvGrpSpPr>
      <p:grpSpPr>
        <a:xfrm>
          <a:off x="0" y="0"/>
          <a:ext cx="0" cy="0"/>
          <a:chOff x="0" y="0"/>
          <a:chExt cx="0" cy="0"/>
        </a:xfrm>
      </p:grpSpPr>
      <p:sp>
        <p:nvSpPr>
          <p:cNvPr id="16" name="Google Shape;16;p1"/>
          <p:cNvSpPr/>
          <p:nvPr/>
        </p:nvSpPr>
        <p:spPr>
          <a:xfrm>
            <a:off x="9052560" y="-1463040"/>
            <a:ext cx="5120640" cy="5120640"/>
          </a:xfrm>
          <a:prstGeom prst="ellipse">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10332720" y="4206240"/>
            <a:ext cx="3108960" cy="3108960"/>
          </a:xfrm>
          <a:prstGeom prst="ellipse">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822960" y="1828800"/>
            <a:ext cx="8412480" cy="1051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5800"/>
              <a:buFont typeface="Cambria"/>
              <a:buNone/>
            </a:pPr>
            <a:r>
              <a:rPr b="1" i="0" lang="en-US" sz="5800" u="none" cap="none" strike="noStrike">
                <a:solidFill>
                  <a:srgbClr val="FFFFFF"/>
                </a:solidFill>
                <a:latin typeface="Cambria"/>
                <a:ea typeface="Cambria"/>
                <a:cs typeface="Cambria"/>
                <a:sym typeface="Cambria"/>
              </a:rPr>
              <a:t>CascoVision</a:t>
            </a:r>
            <a:endParaRPr b="0" i="0" sz="5800" u="none" cap="none" strike="noStrike">
              <a:solidFill>
                <a:schemeClr val="dk1"/>
              </a:solidFill>
              <a:latin typeface="Calibri"/>
              <a:ea typeface="Calibri"/>
              <a:cs typeface="Calibri"/>
              <a:sym typeface="Calibri"/>
            </a:endParaRPr>
          </a:p>
        </p:txBody>
      </p:sp>
      <p:sp>
        <p:nvSpPr>
          <p:cNvPr id="19" name="Google Shape;19;p1"/>
          <p:cNvSpPr/>
          <p:nvPr/>
        </p:nvSpPr>
        <p:spPr>
          <a:xfrm>
            <a:off x="822960" y="2880360"/>
            <a:ext cx="8412480" cy="914400"/>
          </a:xfrm>
          <a:prstGeom prst="rect">
            <a:avLst/>
          </a:prstGeom>
          <a:noFill/>
          <a:ln>
            <a:noFill/>
          </a:ln>
        </p:spPr>
        <p:txBody>
          <a:bodyPr anchorCtr="0" anchor="ctr" bIns="0" lIns="0" spcFirstLastPara="1" rIns="0" wrap="square" tIns="0">
            <a:noAutofit/>
          </a:bodyPr>
          <a:lstStyle/>
          <a:p>
            <a:pPr indent="0" lvl="0" marL="0" marR="0" rtl="0" algn="l">
              <a:lnSpc>
                <a:spcPct val="152941"/>
              </a:lnSpc>
              <a:spcBef>
                <a:spcPts val="0"/>
              </a:spcBef>
              <a:spcAft>
                <a:spcPts val="0"/>
              </a:spcAft>
              <a:buClr>
                <a:srgbClr val="C7D2DA"/>
              </a:buClr>
              <a:buSzPts val="1700"/>
              <a:buFont typeface="Calibri"/>
              <a:buNone/>
            </a:pPr>
            <a:r>
              <a:rPr b="0" i="0" lang="en-US" sz="1700" u="none" cap="none" strike="noStrike">
                <a:solidFill>
                  <a:srgbClr val="C7D2DA"/>
                </a:solidFill>
                <a:latin typeface="Calibri"/>
                <a:ea typeface="Calibri"/>
                <a:cs typeface="Calibri"/>
                <a:sym typeface="Calibri"/>
              </a:rPr>
              <a:t>Detección automatizada de Equipos de Protección Personal</a:t>
            </a:r>
            <a:endParaRPr b="0" i="0" sz="170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C7D2DA"/>
              </a:buClr>
              <a:buSzPts val="1700"/>
              <a:buFont typeface="Calibri"/>
              <a:buNone/>
            </a:pPr>
            <a:r>
              <a:rPr b="0" i="0" lang="en-US" sz="1700" u="none" cap="none" strike="noStrike">
                <a:solidFill>
                  <a:srgbClr val="C7D2DA"/>
                </a:solidFill>
                <a:latin typeface="Calibri"/>
                <a:ea typeface="Calibri"/>
                <a:cs typeface="Calibri"/>
                <a:sym typeface="Calibri"/>
              </a:rPr>
              <a:t>mediante visión computacional y alerta física conectada por IP</a:t>
            </a:r>
            <a:endParaRPr b="0" i="0" sz="1700" u="none" cap="none" strike="noStrike">
              <a:solidFill>
                <a:schemeClr val="dk1"/>
              </a:solidFill>
              <a:latin typeface="Calibri"/>
              <a:ea typeface="Calibri"/>
              <a:cs typeface="Calibri"/>
              <a:sym typeface="Calibri"/>
            </a:endParaRPr>
          </a:p>
        </p:txBody>
      </p:sp>
      <p:sp>
        <p:nvSpPr>
          <p:cNvPr id="20" name="Google Shape;20;p1"/>
          <p:cNvSpPr/>
          <p:nvPr/>
        </p:nvSpPr>
        <p:spPr>
          <a:xfrm>
            <a:off x="822960" y="4069080"/>
            <a:ext cx="2286000" cy="384048"/>
          </a:xfrm>
          <a:prstGeom prst="roundRect">
            <a:avLst>
              <a:gd fmla="val 47619" name="adj"/>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1"/>
          <p:cNvSpPr/>
          <p:nvPr/>
        </p:nvSpPr>
        <p:spPr>
          <a:xfrm>
            <a:off x="822960" y="40690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150"/>
              <a:buFont typeface="Calibri"/>
              <a:buNone/>
            </a:pPr>
            <a:r>
              <a:rPr b="1" i="0" lang="en-US" sz="1150" u="none" cap="none" strike="noStrike">
                <a:solidFill>
                  <a:srgbClr val="2A1F00"/>
                </a:solidFill>
                <a:latin typeface="Calibri"/>
                <a:ea typeface="Calibri"/>
                <a:cs typeface="Calibri"/>
                <a:sym typeface="Calibri"/>
              </a:rPr>
              <a:t>Proyecto APT · Fase 1</a:t>
            </a:r>
            <a:endParaRPr b="0" i="0" sz="1150" u="none" cap="none" strike="noStrike">
              <a:solidFill>
                <a:schemeClr val="dk1"/>
              </a:solidFill>
              <a:latin typeface="Calibri"/>
              <a:ea typeface="Calibri"/>
              <a:cs typeface="Calibri"/>
              <a:sym typeface="Calibri"/>
            </a:endParaRPr>
          </a:p>
        </p:txBody>
      </p:sp>
      <p:sp>
        <p:nvSpPr>
          <p:cNvPr id="22" name="Google Shape;22;p1"/>
          <p:cNvSpPr/>
          <p:nvPr/>
        </p:nvSpPr>
        <p:spPr>
          <a:xfrm>
            <a:off x="822960" y="4937760"/>
            <a:ext cx="8412480" cy="822960"/>
          </a:xfrm>
          <a:prstGeom prst="rect">
            <a:avLst/>
          </a:prstGeom>
          <a:noFill/>
          <a:ln>
            <a:noFill/>
          </a:ln>
        </p:spPr>
        <p:txBody>
          <a:bodyPr anchorCtr="0" anchor="ctr" bIns="0" lIns="0" spcFirstLastPara="1" rIns="0" wrap="square" tIns="0">
            <a:noAutofit/>
          </a:bodyPr>
          <a:lstStyle/>
          <a:p>
            <a:pPr indent="0" lvl="0" marL="0" marR="0" rtl="0" algn="l">
              <a:lnSpc>
                <a:spcPct val="157142"/>
              </a:lnSpc>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Iahn Vera  ·  Joaquín Armijo  ·  Benjamín Cáceres  ·  Fernando Muñoz</a:t>
            </a:r>
            <a:br>
              <a:rPr b="1" i="0" lang="en-US" sz="1400" u="none" cap="none" strike="noStrike">
                <a:solidFill>
                  <a:srgbClr val="FFFFFF"/>
                </a:solidFill>
                <a:latin typeface="Calibri"/>
                <a:ea typeface="Calibri"/>
                <a:cs typeface="Calibri"/>
                <a:sym typeface="Calibri"/>
              </a:rPr>
            </a:br>
            <a:r>
              <a:rPr b="0" i="0" lang="en-US" sz="1200" u="none" cap="none" strike="noStrike">
                <a:solidFill>
                  <a:srgbClr val="92A3AE"/>
                </a:solidFill>
                <a:latin typeface="Calibri"/>
                <a:ea typeface="Calibri"/>
                <a:cs typeface="Calibri"/>
                <a:sym typeface="Calibri"/>
              </a:rPr>
              <a:t>PTY4614 Capstone  ·  Ingeniería en Informática  ·  Duoc UC  ·  Semestre 2026-02</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 name="Shape 27"/>
        <p:cNvGrpSpPr/>
        <p:nvPr/>
      </p:nvGrpSpPr>
      <p:grpSpPr>
        <a:xfrm>
          <a:off x="0" y="0"/>
          <a:ext cx="0" cy="0"/>
          <a:chOff x="0" y="0"/>
          <a:chExt cx="0" cy="0"/>
        </a:xfrm>
      </p:grpSpPr>
      <p:sp>
        <p:nvSpPr>
          <p:cNvPr id="28" name="Google Shape;28;p2"/>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El problema</a:t>
            </a:r>
            <a:endParaRPr b="0" i="0" sz="3400" u="none" cap="none" strike="noStrike">
              <a:solidFill>
                <a:schemeClr val="dk1"/>
              </a:solidFill>
              <a:latin typeface="Calibri"/>
              <a:ea typeface="Calibri"/>
              <a:cs typeface="Calibri"/>
              <a:sym typeface="Calibri"/>
            </a:endParaRPr>
          </a:p>
        </p:txBody>
      </p:sp>
      <p:sp>
        <p:nvSpPr>
          <p:cNvPr id="29" name="Google Shape;29;p2"/>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Por qué el uso de EPP en faena sigue sin controlarse bien</a:t>
            </a:r>
            <a:endParaRPr b="0" i="0" sz="1400" u="none" cap="none" strike="noStrike">
              <a:solidFill>
                <a:schemeClr val="dk1"/>
              </a:solidFill>
              <a:latin typeface="Calibri"/>
              <a:ea typeface="Calibri"/>
              <a:cs typeface="Calibri"/>
              <a:sym typeface="Calibri"/>
            </a:endParaRPr>
          </a:p>
        </p:txBody>
      </p:sp>
      <p:sp>
        <p:nvSpPr>
          <p:cNvPr id="30" name="Google Shape;30;p2"/>
          <p:cNvSpPr/>
          <p:nvPr/>
        </p:nvSpPr>
        <p:spPr>
          <a:xfrm>
            <a:off x="640080" y="1691640"/>
            <a:ext cx="3429000" cy="1691640"/>
          </a:xfrm>
          <a:prstGeom prst="roundRect">
            <a:avLst>
              <a:gd fmla="val 3243"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868680" y="1828800"/>
            <a:ext cx="29718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3400"/>
              <a:buFont typeface="Cambria"/>
              <a:buNone/>
            </a:pPr>
            <a:r>
              <a:rPr b="1" i="0" lang="en-US" sz="3400" u="none" cap="none" strike="noStrike">
                <a:solidFill>
                  <a:srgbClr val="0B6E7A"/>
                </a:solidFill>
                <a:latin typeface="Cambria"/>
                <a:ea typeface="Cambria"/>
                <a:cs typeface="Cambria"/>
                <a:sym typeface="Cambria"/>
              </a:rPr>
              <a:t>~7%</a:t>
            </a:r>
            <a:endParaRPr b="0" i="0" sz="3400" u="none" cap="none" strike="noStrike">
              <a:solidFill>
                <a:schemeClr val="dk1"/>
              </a:solidFill>
              <a:latin typeface="Calibri"/>
              <a:ea typeface="Calibri"/>
              <a:cs typeface="Calibri"/>
              <a:sym typeface="Calibri"/>
            </a:endParaRPr>
          </a:p>
        </p:txBody>
      </p:sp>
      <p:sp>
        <p:nvSpPr>
          <p:cNvPr id="32" name="Google Shape;32;p2"/>
          <p:cNvSpPr/>
          <p:nvPr/>
        </p:nvSpPr>
        <p:spPr>
          <a:xfrm>
            <a:off x="868680" y="2542032"/>
            <a:ext cx="29718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del PIB chileno lo aporta el sector construcción</a:t>
            </a:r>
            <a:endParaRPr b="0" i="0" sz="1200" u="none" cap="none" strike="noStrike">
              <a:solidFill>
                <a:schemeClr val="dk1"/>
              </a:solidFill>
              <a:latin typeface="Calibri"/>
              <a:ea typeface="Calibri"/>
              <a:cs typeface="Calibri"/>
              <a:sym typeface="Calibri"/>
            </a:endParaRPr>
          </a:p>
        </p:txBody>
      </p:sp>
      <p:sp>
        <p:nvSpPr>
          <p:cNvPr id="33" name="Google Shape;33;p2"/>
          <p:cNvSpPr/>
          <p:nvPr/>
        </p:nvSpPr>
        <p:spPr>
          <a:xfrm>
            <a:off x="4343400" y="1691640"/>
            <a:ext cx="3429000" cy="1691640"/>
          </a:xfrm>
          <a:prstGeom prst="roundRect">
            <a:avLst>
              <a:gd fmla="val 3243"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4572000" y="1828800"/>
            <a:ext cx="29718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3400"/>
              <a:buFont typeface="Cambria"/>
              <a:buNone/>
            </a:pPr>
            <a:r>
              <a:rPr b="1" i="0" lang="en-US" sz="3400" u="none" cap="none" strike="noStrike">
                <a:solidFill>
                  <a:srgbClr val="0B6E7A"/>
                </a:solidFill>
                <a:latin typeface="Cambria"/>
                <a:ea typeface="Cambria"/>
                <a:cs typeface="Cambria"/>
                <a:sym typeface="Cambria"/>
              </a:rPr>
              <a:t>600.000+</a:t>
            </a:r>
            <a:endParaRPr b="0" i="0" sz="3400" u="none" cap="none" strike="noStrike">
              <a:solidFill>
                <a:schemeClr val="dk1"/>
              </a:solidFill>
              <a:latin typeface="Calibri"/>
              <a:ea typeface="Calibri"/>
              <a:cs typeface="Calibri"/>
              <a:sym typeface="Calibri"/>
            </a:endParaRPr>
          </a:p>
        </p:txBody>
      </p:sp>
      <p:sp>
        <p:nvSpPr>
          <p:cNvPr id="35" name="Google Shape;35;p2"/>
          <p:cNvSpPr/>
          <p:nvPr/>
        </p:nvSpPr>
        <p:spPr>
          <a:xfrm>
            <a:off x="4572000" y="2542032"/>
            <a:ext cx="29718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personas trabajan en el rubro en Chile</a:t>
            </a:r>
            <a:endParaRPr b="0" i="0" sz="1200" u="none" cap="none" strike="noStrike">
              <a:solidFill>
                <a:schemeClr val="dk1"/>
              </a:solidFill>
              <a:latin typeface="Calibri"/>
              <a:ea typeface="Calibri"/>
              <a:cs typeface="Calibri"/>
              <a:sym typeface="Calibri"/>
            </a:endParaRPr>
          </a:p>
        </p:txBody>
      </p:sp>
      <p:sp>
        <p:nvSpPr>
          <p:cNvPr id="36" name="Google Shape;36;p2"/>
          <p:cNvSpPr/>
          <p:nvPr/>
        </p:nvSpPr>
        <p:spPr>
          <a:xfrm>
            <a:off x="8046720" y="1691640"/>
            <a:ext cx="3429000" cy="1691640"/>
          </a:xfrm>
          <a:prstGeom prst="roundRect">
            <a:avLst>
              <a:gd fmla="val 3243"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8275320" y="1828800"/>
            <a:ext cx="29718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3400"/>
              <a:buFont typeface="Cambria"/>
              <a:buNone/>
            </a:pPr>
            <a:r>
              <a:rPr b="1" i="0" lang="en-US" sz="3400" u="none" cap="none" strike="noStrike">
                <a:solidFill>
                  <a:srgbClr val="C2410C"/>
                </a:solidFill>
                <a:latin typeface="Cambria"/>
                <a:ea typeface="Cambria"/>
                <a:cs typeface="Cambria"/>
                <a:sym typeface="Cambria"/>
              </a:rPr>
              <a:t>1 a 150 UTM</a:t>
            </a:r>
            <a:endParaRPr b="0" i="0" sz="3400" u="none" cap="none" strike="noStrike">
              <a:solidFill>
                <a:schemeClr val="dk1"/>
              </a:solidFill>
              <a:latin typeface="Calibri"/>
              <a:ea typeface="Calibri"/>
              <a:cs typeface="Calibri"/>
              <a:sym typeface="Calibri"/>
            </a:endParaRPr>
          </a:p>
        </p:txBody>
      </p:sp>
      <p:sp>
        <p:nvSpPr>
          <p:cNvPr id="38" name="Google Shape;38;p2"/>
          <p:cNvSpPr/>
          <p:nvPr/>
        </p:nvSpPr>
        <p:spPr>
          <a:xfrm>
            <a:off x="8275320" y="2542032"/>
            <a:ext cx="29718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de multa por infracción a la normativa de EPP</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($65.000 a $9.750.000)</a:t>
            </a:r>
            <a:endParaRPr b="0" i="0" sz="1200" u="none" cap="none" strike="noStrike">
              <a:solidFill>
                <a:schemeClr val="dk1"/>
              </a:solidFill>
              <a:latin typeface="Calibri"/>
              <a:ea typeface="Calibri"/>
              <a:cs typeface="Calibri"/>
              <a:sym typeface="Calibri"/>
            </a:endParaRPr>
          </a:p>
        </p:txBody>
      </p:sp>
      <p:sp>
        <p:nvSpPr>
          <p:cNvPr id="39" name="Google Shape;39;p2"/>
          <p:cNvSpPr/>
          <p:nvPr/>
        </p:nvSpPr>
        <p:spPr>
          <a:xfrm>
            <a:off x="640080" y="3794760"/>
            <a:ext cx="7498080" cy="2011680"/>
          </a:xfrm>
          <a:prstGeom prst="rect">
            <a:avLst/>
          </a:prstGeom>
          <a:noFill/>
          <a:ln>
            <a:noFill/>
          </a:ln>
        </p:spPr>
        <p:txBody>
          <a:bodyPr anchorCtr="0" anchor="ctr" bIns="0" lIns="0" spcFirstLastPara="1" rIns="0" wrap="square" tIns="0">
            <a:noAutofit/>
          </a:bodyPr>
          <a:lstStyle/>
          <a:p>
            <a:pPr indent="0" lvl="0" marL="0" marR="0" rtl="0" algn="l">
              <a:lnSpc>
                <a:spcPct val="173333"/>
              </a:lnSpc>
              <a:spcBef>
                <a:spcPts val="0"/>
              </a:spcBef>
              <a:spcAft>
                <a:spcPts val="0"/>
              </a:spcAft>
              <a:buClr>
                <a:srgbClr val="1B2A36"/>
              </a:buClr>
              <a:buSzPts val="1500"/>
              <a:buFont typeface="Calibri"/>
              <a:buNone/>
            </a:pPr>
            <a:r>
              <a:rPr b="1" i="0" lang="en-US" sz="1500" u="none" cap="none" strike="noStrike">
                <a:solidFill>
                  <a:srgbClr val="1B2A36"/>
                </a:solidFill>
                <a:latin typeface="Calibri"/>
                <a:ea typeface="Calibri"/>
                <a:cs typeface="Calibri"/>
                <a:sym typeface="Calibri"/>
              </a:rPr>
              <a:t>La supervisión depende del prevencionista de riesgos, </a:t>
            </a:r>
            <a:r>
              <a:rPr b="0" i="0" lang="en-US" sz="1500" u="none" cap="none" strike="noStrike">
                <a:solidFill>
                  <a:srgbClr val="1B2A36"/>
                </a:solidFill>
                <a:latin typeface="Calibri"/>
                <a:ea typeface="Calibri"/>
                <a:cs typeface="Calibri"/>
                <a:sym typeface="Calibri"/>
              </a:rPr>
              <a:t>que no puede cubrir a la vez todos los frentes de una faena grande. Siempre quedan ventanas sin control efectivo.</a:t>
            </a:r>
            <a:br>
              <a:rPr b="0" i="0" lang="en-US" sz="1500" u="none" cap="none" strike="noStrike">
                <a:solidFill>
                  <a:srgbClr val="1B2A36"/>
                </a:solidFill>
                <a:latin typeface="Calibri"/>
                <a:ea typeface="Calibri"/>
                <a:cs typeface="Calibri"/>
                <a:sym typeface="Calibri"/>
              </a:rPr>
            </a:br>
            <a:br>
              <a:rPr b="0" i="0" lang="en-US" sz="1500" u="none" cap="none" strike="noStrike">
                <a:solidFill>
                  <a:srgbClr val="1B2A36"/>
                </a:solidFill>
                <a:latin typeface="Calibri"/>
                <a:ea typeface="Calibri"/>
                <a:cs typeface="Calibri"/>
                <a:sym typeface="Calibri"/>
              </a:rPr>
            </a:br>
            <a:r>
              <a:rPr b="0" i="0" lang="en-US" sz="1500" u="none" cap="none" strike="noStrike">
                <a:solidFill>
                  <a:srgbClr val="1B2A36"/>
                </a:solidFill>
                <a:latin typeface="Calibri"/>
                <a:ea typeface="Calibri"/>
                <a:cs typeface="Calibri"/>
                <a:sym typeface="Calibri"/>
              </a:rPr>
              <a:t>Las cámaras ya están instaladas, pero su grabación se revisa </a:t>
            </a:r>
            <a:r>
              <a:rPr b="1" i="1" lang="en-US" sz="1500" u="none" cap="none" strike="noStrike">
                <a:solidFill>
                  <a:srgbClr val="C2410C"/>
                </a:solidFill>
                <a:latin typeface="Calibri"/>
                <a:ea typeface="Calibri"/>
                <a:cs typeface="Calibri"/>
                <a:sym typeface="Calibri"/>
              </a:rPr>
              <a:t>después</a:t>
            </a:r>
            <a:r>
              <a:rPr b="0" i="0" lang="en-US" sz="1500" u="none" cap="none" strike="noStrike">
                <a:solidFill>
                  <a:srgbClr val="1B2A36"/>
                </a:solidFill>
                <a:latin typeface="Calibri"/>
                <a:ea typeface="Calibri"/>
                <a:cs typeface="Calibri"/>
                <a:sym typeface="Calibri"/>
              </a:rPr>
              <a:t> del incidente. Hoy son un registro forense, no una herramienta de prevención.</a:t>
            </a:r>
            <a:endParaRPr b="0" i="0" sz="1500" u="none" cap="none" strike="noStrike">
              <a:solidFill>
                <a:schemeClr val="dk1"/>
              </a:solidFill>
              <a:latin typeface="Calibri"/>
              <a:ea typeface="Calibri"/>
              <a:cs typeface="Calibri"/>
              <a:sym typeface="Calibri"/>
            </a:endParaRPr>
          </a:p>
        </p:txBody>
      </p:sp>
      <p:sp>
        <p:nvSpPr>
          <p:cNvPr id="40" name="Google Shape;40;p2"/>
          <p:cNvSpPr/>
          <p:nvPr/>
        </p:nvSpPr>
        <p:spPr>
          <a:xfrm>
            <a:off x="8458200" y="3794760"/>
            <a:ext cx="3063240" cy="2011680"/>
          </a:xfrm>
          <a:prstGeom prst="roundRect">
            <a:avLst>
              <a:gd fmla="val 2727" name="adj"/>
            </a:avLst>
          </a:prstGeom>
          <a:solidFill>
            <a:srgbClr val="FDF6E3"/>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8732520" y="4023360"/>
            <a:ext cx="25146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A5A00"/>
              </a:buClr>
              <a:buSzPts val="1600"/>
              <a:buFont typeface="Cambria"/>
              <a:buNone/>
            </a:pPr>
            <a:r>
              <a:rPr b="0" i="1" lang="en-US" sz="1600" u="none" cap="none" strike="noStrike">
                <a:solidFill>
                  <a:srgbClr val="7A5A00"/>
                </a:solidFill>
                <a:latin typeface="Cambria"/>
                <a:ea typeface="Cambria"/>
                <a:cs typeface="Cambria"/>
                <a:sym typeface="Cambria"/>
              </a:rPr>
              <a:t>El costo no es solo la multa: es el accidente que la multa castiga.</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 name="Shape 46"/>
        <p:cNvGrpSpPr/>
        <p:nvPr/>
      </p:nvGrpSpPr>
      <p:grpSpPr>
        <a:xfrm>
          <a:off x="0" y="0"/>
          <a:ext cx="0" cy="0"/>
          <a:chOff x="0" y="0"/>
          <a:chExt cx="0" cy="0"/>
        </a:xfrm>
      </p:grpSpPr>
      <p:sp>
        <p:nvSpPr>
          <p:cNvPr id="47" name="Google Shape;47;p3"/>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Qué es CascoVision</a:t>
            </a:r>
            <a:endParaRPr b="0" i="0" sz="3400" u="none" cap="none" strike="noStrike">
              <a:solidFill>
                <a:schemeClr val="dk1"/>
              </a:solidFill>
              <a:latin typeface="Calibri"/>
              <a:ea typeface="Calibri"/>
              <a:cs typeface="Calibri"/>
              <a:sym typeface="Calibri"/>
            </a:endParaRPr>
          </a:p>
        </p:txBody>
      </p:sp>
      <p:sp>
        <p:nvSpPr>
          <p:cNvPr id="48" name="Google Shape;48;p3"/>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La solución en una frase, y lo que hay debajo</a:t>
            </a:r>
            <a:endParaRPr b="0" i="0" sz="1400" u="none" cap="none" strike="noStrike">
              <a:solidFill>
                <a:schemeClr val="dk1"/>
              </a:solidFill>
              <a:latin typeface="Calibri"/>
              <a:ea typeface="Calibri"/>
              <a:cs typeface="Calibri"/>
              <a:sym typeface="Calibri"/>
            </a:endParaRPr>
          </a:p>
        </p:txBody>
      </p:sp>
      <p:sp>
        <p:nvSpPr>
          <p:cNvPr id="49" name="Google Shape;49;p3"/>
          <p:cNvSpPr/>
          <p:nvPr/>
        </p:nvSpPr>
        <p:spPr>
          <a:xfrm>
            <a:off x="640080" y="1645920"/>
            <a:ext cx="10881360" cy="1371600"/>
          </a:xfrm>
          <a:prstGeom prst="roundRect">
            <a:avLst>
              <a:gd fmla="val 4000"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3"/>
          <p:cNvSpPr/>
          <p:nvPr/>
        </p:nvSpPr>
        <p:spPr>
          <a:xfrm>
            <a:off x="1005840" y="1783080"/>
            <a:ext cx="10149840" cy="10972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4F58"/>
              </a:buClr>
              <a:buSzPts val="1900"/>
              <a:buFont typeface="Cambria"/>
              <a:buNone/>
            </a:pPr>
            <a:r>
              <a:rPr b="1" i="0" lang="en-US" sz="1900" u="none" cap="none" strike="noStrike">
                <a:solidFill>
                  <a:srgbClr val="0B4F58"/>
                </a:solidFill>
                <a:latin typeface="Cambria"/>
                <a:ea typeface="Cambria"/>
                <a:cs typeface="Cambria"/>
                <a:sym typeface="Cambria"/>
              </a:rPr>
              <a:t>Cámaras existentes  +  IA que ve si falta el casco o el chaleco  +  un dispositivo que vibra y suena para avisarle al trabajador antes de que ocurra el accidente.</a:t>
            </a:r>
            <a:endParaRPr b="0" i="0" sz="1900" u="none" cap="none" strike="noStrike">
              <a:solidFill>
                <a:schemeClr val="dk1"/>
              </a:solidFill>
              <a:latin typeface="Calibri"/>
              <a:ea typeface="Calibri"/>
              <a:cs typeface="Calibri"/>
              <a:sym typeface="Calibri"/>
            </a:endParaRPr>
          </a:p>
        </p:txBody>
      </p:sp>
      <p:sp>
        <p:nvSpPr>
          <p:cNvPr id="51" name="Google Shape;51;p3"/>
          <p:cNvSpPr/>
          <p:nvPr/>
        </p:nvSpPr>
        <p:spPr>
          <a:xfrm>
            <a:off x="640080" y="3246120"/>
            <a:ext cx="457200" cy="457200"/>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3"/>
          <p:cNvSpPr/>
          <p:nvPr/>
        </p:nvSpPr>
        <p:spPr>
          <a:xfrm>
            <a:off x="640080" y="324612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53" name="Google Shape;53;p3"/>
          <p:cNvSpPr/>
          <p:nvPr/>
        </p:nvSpPr>
        <p:spPr>
          <a:xfrm>
            <a:off x="1261872" y="320040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Sin hardware nuevo</a:t>
            </a:r>
            <a:endParaRPr b="0" i="0" sz="1450" u="none" cap="none" strike="noStrike">
              <a:solidFill>
                <a:schemeClr val="dk1"/>
              </a:solidFill>
              <a:latin typeface="Calibri"/>
              <a:ea typeface="Calibri"/>
              <a:cs typeface="Calibri"/>
              <a:sym typeface="Calibri"/>
            </a:endParaRPr>
          </a:p>
        </p:txBody>
      </p:sp>
      <p:sp>
        <p:nvSpPr>
          <p:cNvPr id="54" name="Google Shape;54;p3"/>
          <p:cNvSpPr/>
          <p:nvPr/>
        </p:nvSpPr>
        <p:spPr>
          <a:xfrm>
            <a:off x="1261872" y="3538728"/>
            <a:ext cx="48463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Usa las cámaras IP que la faena ya tiene, vía ONVIF/RTSP. Cero inversión en cámaras.</a:t>
            </a:r>
            <a:endParaRPr b="0" i="0" sz="1200" u="none" cap="none" strike="noStrike">
              <a:solidFill>
                <a:schemeClr val="dk1"/>
              </a:solidFill>
              <a:latin typeface="Calibri"/>
              <a:ea typeface="Calibri"/>
              <a:cs typeface="Calibri"/>
              <a:sym typeface="Calibri"/>
            </a:endParaRPr>
          </a:p>
        </p:txBody>
      </p:sp>
      <p:sp>
        <p:nvSpPr>
          <p:cNvPr id="55" name="Google Shape;55;p3"/>
          <p:cNvSpPr/>
          <p:nvPr/>
        </p:nvSpPr>
        <p:spPr>
          <a:xfrm>
            <a:off x="6263640" y="3246120"/>
            <a:ext cx="457200" cy="457200"/>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3"/>
          <p:cNvSpPr/>
          <p:nvPr/>
        </p:nvSpPr>
        <p:spPr>
          <a:xfrm>
            <a:off x="6263640" y="324612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57" name="Google Shape;57;p3"/>
          <p:cNvSpPr/>
          <p:nvPr/>
        </p:nvSpPr>
        <p:spPr>
          <a:xfrm>
            <a:off x="6885432" y="320040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Procesamiento local</a:t>
            </a:r>
            <a:endParaRPr b="0" i="0" sz="1450" u="none" cap="none" strike="noStrike">
              <a:solidFill>
                <a:schemeClr val="dk1"/>
              </a:solidFill>
              <a:latin typeface="Calibri"/>
              <a:ea typeface="Calibri"/>
              <a:cs typeface="Calibri"/>
              <a:sym typeface="Calibri"/>
            </a:endParaRPr>
          </a:p>
        </p:txBody>
      </p:sp>
      <p:sp>
        <p:nvSpPr>
          <p:cNvPr id="58" name="Google Shape;58;p3"/>
          <p:cNvSpPr/>
          <p:nvPr/>
        </p:nvSpPr>
        <p:spPr>
          <a:xfrm>
            <a:off x="6885432" y="3538728"/>
            <a:ext cx="48463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El video nunca sale de la faena. Inferencia en el borde, no en la nube.</a:t>
            </a:r>
            <a:endParaRPr b="0" i="0" sz="1200" u="none" cap="none" strike="noStrike">
              <a:solidFill>
                <a:schemeClr val="dk1"/>
              </a:solidFill>
              <a:latin typeface="Calibri"/>
              <a:ea typeface="Calibri"/>
              <a:cs typeface="Calibri"/>
              <a:sym typeface="Calibri"/>
            </a:endParaRPr>
          </a:p>
        </p:txBody>
      </p:sp>
      <p:sp>
        <p:nvSpPr>
          <p:cNvPr id="59" name="Google Shape;59;p3"/>
          <p:cNvSpPr/>
          <p:nvPr/>
        </p:nvSpPr>
        <p:spPr>
          <a:xfrm>
            <a:off x="640080" y="4663440"/>
            <a:ext cx="457200" cy="457200"/>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3"/>
          <p:cNvSpPr/>
          <p:nvPr/>
        </p:nvSpPr>
        <p:spPr>
          <a:xfrm>
            <a:off x="640080" y="46634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61" name="Google Shape;61;p3"/>
          <p:cNvSpPr/>
          <p:nvPr/>
        </p:nvSpPr>
        <p:spPr>
          <a:xfrm>
            <a:off x="1261872" y="461772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Anonimato garantizado</a:t>
            </a:r>
            <a:endParaRPr b="0" i="0" sz="1450" u="none" cap="none" strike="noStrike">
              <a:solidFill>
                <a:schemeClr val="dk1"/>
              </a:solidFill>
              <a:latin typeface="Calibri"/>
              <a:ea typeface="Calibri"/>
              <a:cs typeface="Calibri"/>
              <a:sym typeface="Calibri"/>
            </a:endParaRPr>
          </a:p>
        </p:txBody>
      </p:sp>
      <p:sp>
        <p:nvSpPr>
          <p:cNvPr id="62" name="Google Shape;62;p3"/>
          <p:cNvSpPr/>
          <p:nvPr/>
        </p:nvSpPr>
        <p:spPr>
          <a:xfrm>
            <a:off x="1261872" y="4956048"/>
            <a:ext cx="48463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Detecta objetos, no personas. Difuminado facial automático, sin biometría.</a:t>
            </a:r>
            <a:endParaRPr b="0" i="0" sz="1200" u="none" cap="none" strike="noStrike">
              <a:solidFill>
                <a:schemeClr val="dk1"/>
              </a:solidFill>
              <a:latin typeface="Calibri"/>
              <a:ea typeface="Calibri"/>
              <a:cs typeface="Calibri"/>
              <a:sym typeface="Calibri"/>
            </a:endParaRPr>
          </a:p>
        </p:txBody>
      </p:sp>
      <p:sp>
        <p:nvSpPr>
          <p:cNvPr id="63" name="Google Shape;63;p3"/>
          <p:cNvSpPr/>
          <p:nvPr/>
        </p:nvSpPr>
        <p:spPr>
          <a:xfrm>
            <a:off x="6263640" y="4663440"/>
            <a:ext cx="457200" cy="457200"/>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3"/>
          <p:cNvSpPr/>
          <p:nvPr/>
        </p:nvSpPr>
        <p:spPr>
          <a:xfrm>
            <a:off x="6263640" y="46634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65" name="Google Shape;65;p3"/>
          <p:cNvSpPr/>
          <p:nvPr/>
        </p:nvSpPr>
        <p:spPr>
          <a:xfrm>
            <a:off x="6885432" y="461772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Trazabilidad auditable</a:t>
            </a:r>
            <a:endParaRPr b="0" i="0" sz="1450" u="none" cap="none" strike="noStrike">
              <a:solidFill>
                <a:schemeClr val="dk1"/>
              </a:solidFill>
              <a:latin typeface="Calibri"/>
              <a:ea typeface="Calibri"/>
              <a:cs typeface="Calibri"/>
              <a:sym typeface="Calibri"/>
            </a:endParaRPr>
          </a:p>
        </p:txBody>
      </p:sp>
      <p:sp>
        <p:nvSpPr>
          <p:cNvPr id="66" name="Google Shape;66;p3"/>
          <p:cNvSpPr/>
          <p:nvPr/>
        </p:nvSpPr>
        <p:spPr>
          <a:xfrm>
            <a:off x="6885432" y="4956048"/>
            <a:ext cx="48463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Cada incidente queda registrado con imagen, zona y hora, para ISO 45001.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sp>
        <p:nvSpPr>
          <p:cNvPr id="72" name="Google Shape;72;p4"/>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Arquitectura de la solución</a:t>
            </a:r>
            <a:endParaRPr b="0" i="0" sz="3400" u="none" cap="none" strike="noStrike">
              <a:solidFill>
                <a:schemeClr val="dk1"/>
              </a:solidFill>
              <a:latin typeface="Calibri"/>
              <a:ea typeface="Calibri"/>
              <a:cs typeface="Calibri"/>
              <a:sym typeface="Calibri"/>
            </a:endParaRPr>
          </a:p>
        </p:txBody>
      </p:sp>
      <p:sp>
        <p:nvSpPr>
          <p:cNvPr id="73" name="Google Shape;73;p4"/>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Cuatro capas, de la cámara al trabajador</a:t>
            </a:r>
            <a:endParaRPr b="0" i="0" sz="1400" u="none" cap="none" strike="noStrike">
              <a:solidFill>
                <a:schemeClr val="dk1"/>
              </a:solidFill>
              <a:latin typeface="Calibri"/>
              <a:ea typeface="Calibri"/>
              <a:cs typeface="Calibri"/>
              <a:sym typeface="Calibri"/>
            </a:endParaRPr>
          </a:p>
        </p:txBody>
      </p:sp>
      <p:sp>
        <p:nvSpPr>
          <p:cNvPr id="74" name="Google Shape;74;p4"/>
          <p:cNvSpPr/>
          <p:nvPr/>
        </p:nvSpPr>
        <p:spPr>
          <a:xfrm>
            <a:off x="640080" y="1737360"/>
            <a:ext cx="2606040" cy="3566160"/>
          </a:xfrm>
          <a:prstGeom prst="roundRect">
            <a:avLst>
              <a:gd fmla="val 2105"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4"/>
          <p:cNvSpPr/>
          <p:nvPr/>
        </p:nvSpPr>
        <p:spPr>
          <a:xfrm>
            <a:off x="896112" y="1965960"/>
            <a:ext cx="457200" cy="45720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p:nvPr/>
        </p:nvSpPr>
        <p:spPr>
          <a:xfrm>
            <a:off x="896112" y="19659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77" name="Google Shape;77;p4"/>
          <p:cNvSpPr/>
          <p:nvPr/>
        </p:nvSpPr>
        <p:spPr>
          <a:xfrm>
            <a:off x="896112" y="2606040"/>
            <a:ext cx="21031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700"/>
              <a:buFont typeface="Cambria"/>
              <a:buNone/>
            </a:pPr>
            <a:r>
              <a:rPr b="1" i="0" lang="en-US" sz="1700" u="none" cap="none" strike="noStrike">
                <a:solidFill>
                  <a:srgbClr val="1B2A36"/>
                </a:solidFill>
                <a:latin typeface="Cambria"/>
                <a:ea typeface="Cambria"/>
                <a:cs typeface="Cambria"/>
                <a:sym typeface="Cambria"/>
              </a:rPr>
              <a:t>Captura</a:t>
            </a:r>
            <a:endParaRPr b="0" i="0" sz="1700" u="none" cap="none" strike="noStrike">
              <a:solidFill>
                <a:schemeClr val="dk1"/>
              </a:solidFill>
              <a:latin typeface="Calibri"/>
              <a:ea typeface="Calibri"/>
              <a:cs typeface="Calibri"/>
              <a:sym typeface="Calibri"/>
            </a:endParaRPr>
          </a:p>
        </p:txBody>
      </p:sp>
      <p:sp>
        <p:nvSpPr>
          <p:cNvPr id="78" name="Google Shape;78;p4"/>
          <p:cNvSpPr/>
          <p:nvPr/>
        </p:nvSpPr>
        <p:spPr>
          <a:xfrm>
            <a:off x="896112" y="2971800"/>
            <a:ext cx="21488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Cámaras IP del cliente</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ONVIF / RTSP</a:t>
            </a:r>
            <a:endParaRPr b="0" i="0" sz="1100" u="none" cap="none" strike="noStrike">
              <a:solidFill>
                <a:schemeClr val="dk1"/>
              </a:solidFill>
              <a:latin typeface="Calibri"/>
              <a:ea typeface="Calibri"/>
              <a:cs typeface="Calibri"/>
              <a:sym typeface="Calibri"/>
            </a:endParaRPr>
          </a:p>
        </p:txBody>
      </p:sp>
      <p:sp>
        <p:nvSpPr>
          <p:cNvPr id="79" name="Google Shape;79;p4"/>
          <p:cNvSpPr/>
          <p:nvPr/>
        </p:nvSpPr>
        <p:spPr>
          <a:xfrm>
            <a:off x="896112" y="3611880"/>
            <a:ext cx="214884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Entrega el flujo de video.</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Cero hardware nuevo.</a:t>
            </a:r>
            <a:endParaRPr b="0" i="0" sz="1150" u="none" cap="none" strike="noStrike">
              <a:solidFill>
                <a:schemeClr val="dk1"/>
              </a:solidFill>
              <a:latin typeface="Calibri"/>
              <a:ea typeface="Calibri"/>
              <a:cs typeface="Calibri"/>
              <a:sym typeface="Calibri"/>
            </a:endParaRPr>
          </a:p>
        </p:txBody>
      </p:sp>
      <p:sp>
        <p:nvSpPr>
          <p:cNvPr id="80" name="Google Shape;80;p4"/>
          <p:cNvSpPr/>
          <p:nvPr/>
        </p:nvSpPr>
        <p:spPr>
          <a:xfrm rot="5400000">
            <a:off x="3310128" y="3273552"/>
            <a:ext cx="146304" cy="182880"/>
          </a:xfrm>
          <a:prstGeom prst="triangle">
            <a:avLst>
              <a:gd fmla="val 50000" name="adj"/>
            </a:avLst>
          </a:prstGeom>
          <a:solidFill>
            <a:srgbClr val="A9B4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3447288" y="1737360"/>
            <a:ext cx="2606040" cy="3566160"/>
          </a:xfrm>
          <a:prstGeom prst="roundRect">
            <a:avLst>
              <a:gd fmla="val 2105"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p:nvPr/>
        </p:nvSpPr>
        <p:spPr>
          <a:xfrm>
            <a:off x="3703320" y="1965960"/>
            <a:ext cx="457200" cy="45720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4"/>
          <p:cNvSpPr/>
          <p:nvPr/>
        </p:nvSpPr>
        <p:spPr>
          <a:xfrm>
            <a:off x="3703320" y="19659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84" name="Google Shape;84;p4"/>
          <p:cNvSpPr/>
          <p:nvPr/>
        </p:nvSpPr>
        <p:spPr>
          <a:xfrm>
            <a:off x="3703320" y="2606040"/>
            <a:ext cx="21031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700"/>
              <a:buFont typeface="Cambria"/>
              <a:buNone/>
            </a:pPr>
            <a:r>
              <a:rPr b="1" i="0" lang="en-US" sz="1700" u="none" cap="none" strike="noStrike">
                <a:solidFill>
                  <a:srgbClr val="1B2A36"/>
                </a:solidFill>
                <a:latin typeface="Cambria"/>
                <a:ea typeface="Cambria"/>
                <a:cs typeface="Cambria"/>
                <a:sym typeface="Cambria"/>
              </a:rPr>
              <a:t>Agente Edge</a:t>
            </a:r>
            <a:endParaRPr b="0" i="0" sz="1700" u="none" cap="none" strike="noStrike">
              <a:solidFill>
                <a:schemeClr val="dk1"/>
              </a:solidFill>
              <a:latin typeface="Calibri"/>
              <a:ea typeface="Calibri"/>
              <a:cs typeface="Calibri"/>
              <a:sym typeface="Calibri"/>
            </a:endParaRPr>
          </a:p>
        </p:txBody>
      </p:sp>
      <p:sp>
        <p:nvSpPr>
          <p:cNvPr id="85" name="Google Shape;85;p4"/>
          <p:cNvSpPr/>
          <p:nvPr/>
        </p:nvSpPr>
        <p:spPr>
          <a:xfrm>
            <a:off x="3703320" y="2971800"/>
            <a:ext cx="21488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Python · YOLOv8 · ONNX</a:t>
            </a:r>
            <a:endParaRPr b="0" i="0" sz="1100" u="none" cap="none" strike="noStrike">
              <a:solidFill>
                <a:schemeClr val="dk1"/>
              </a:solidFill>
              <a:latin typeface="Calibri"/>
              <a:ea typeface="Calibri"/>
              <a:cs typeface="Calibri"/>
              <a:sym typeface="Calibri"/>
            </a:endParaRPr>
          </a:p>
        </p:txBody>
      </p:sp>
      <p:sp>
        <p:nvSpPr>
          <p:cNvPr id="86" name="Google Shape;86;p4"/>
          <p:cNvSpPr/>
          <p:nvPr/>
        </p:nvSpPr>
        <p:spPr>
          <a:xfrm>
            <a:off x="3703320" y="3611880"/>
            <a:ext cx="214884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Procesa 1 FPS por cámara</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localmente y detecta la</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ausencia de EPP.</a:t>
            </a:r>
            <a:endParaRPr b="0" i="0" sz="1150" u="none" cap="none" strike="noStrike">
              <a:solidFill>
                <a:schemeClr val="dk1"/>
              </a:solidFill>
              <a:latin typeface="Calibri"/>
              <a:ea typeface="Calibri"/>
              <a:cs typeface="Calibri"/>
              <a:sym typeface="Calibri"/>
            </a:endParaRPr>
          </a:p>
        </p:txBody>
      </p:sp>
      <p:sp>
        <p:nvSpPr>
          <p:cNvPr id="87" name="Google Shape;87;p4"/>
          <p:cNvSpPr/>
          <p:nvPr/>
        </p:nvSpPr>
        <p:spPr>
          <a:xfrm rot="5400000">
            <a:off x="6117336" y="3273552"/>
            <a:ext cx="146304" cy="182880"/>
          </a:xfrm>
          <a:prstGeom prst="triangle">
            <a:avLst>
              <a:gd fmla="val 50000" name="adj"/>
            </a:avLst>
          </a:prstGeom>
          <a:solidFill>
            <a:srgbClr val="A9B4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4"/>
          <p:cNvSpPr/>
          <p:nvPr/>
        </p:nvSpPr>
        <p:spPr>
          <a:xfrm>
            <a:off x="6254496" y="1737360"/>
            <a:ext cx="2606040" cy="3566160"/>
          </a:xfrm>
          <a:prstGeom prst="roundRect">
            <a:avLst>
              <a:gd fmla="val 2105"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4"/>
          <p:cNvSpPr/>
          <p:nvPr/>
        </p:nvSpPr>
        <p:spPr>
          <a:xfrm>
            <a:off x="6510528" y="1965960"/>
            <a:ext cx="457200" cy="457200"/>
          </a:xfrm>
          <a:prstGeom prst="ellipse">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4"/>
          <p:cNvSpPr/>
          <p:nvPr/>
        </p:nvSpPr>
        <p:spPr>
          <a:xfrm>
            <a:off x="6510528" y="19659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91" name="Google Shape;91;p4"/>
          <p:cNvSpPr/>
          <p:nvPr/>
        </p:nvSpPr>
        <p:spPr>
          <a:xfrm>
            <a:off x="6510528" y="2606040"/>
            <a:ext cx="21031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700"/>
              <a:buFont typeface="Cambria"/>
              <a:buNone/>
            </a:pPr>
            <a:r>
              <a:rPr b="1" i="0" lang="en-US" sz="1700" u="none" cap="none" strike="noStrike">
                <a:solidFill>
                  <a:srgbClr val="1B2A36"/>
                </a:solidFill>
                <a:latin typeface="Cambria"/>
                <a:ea typeface="Cambria"/>
                <a:cs typeface="Cambria"/>
                <a:sym typeface="Cambria"/>
              </a:rPr>
              <a:t>Alerta física</a:t>
            </a:r>
            <a:endParaRPr b="0" i="0" sz="1700" u="none" cap="none" strike="noStrike">
              <a:solidFill>
                <a:schemeClr val="dk1"/>
              </a:solidFill>
              <a:latin typeface="Calibri"/>
              <a:ea typeface="Calibri"/>
              <a:cs typeface="Calibri"/>
              <a:sym typeface="Calibri"/>
            </a:endParaRPr>
          </a:p>
        </p:txBody>
      </p:sp>
      <p:sp>
        <p:nvSpPr>
          <p:cNvPr id="92" name="Google Shape;92;p4"/>
          <p:cNvSpPr/>
          <p:nvPr/>
        </p:nvSpPr>
        <p:spPr>
          <a:xfrm>
            <a:off x="6510528" y="2971800"/>
            <a:ext cx="21488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100"/>
              <a:buFont typeface="Calibri"/>
              <a:buNone/>
            </a:pPr>
            <a:r>
              <a:rPr b="1" i="0" lang="en-US" sz="1100" u="none" cap="none" strike="noStrike">
                <a:solidFill>
                  <a:srgbClr val="C2410C"/>
                </a:solidFill>
                <a:latin typeface="Calibri"/>
                <a:ea typeface="Calibri"/>
                <a:cs typeface="Calibri"/>
                <a:sym typeface="Calibri"/>
              </a:rPr>
              <a:t>Red IP · gateway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2410C"/>
              </a:buClr>
              <a:buSzPts val="1100"/>
              <a:buFont typeface="Calibri"/>
              <a:buNone/>
            </a:pPr>
            <a:r>
              <a:rPr b="1" i="0" lang="en-US" sz="1100" u="none" cap="none" strike="noStrike">
                <a:solidFill>
                  <a:srgbClr val="C2410C"/>
                </a:solidFill>
                <a:latin typeface="Calibri"/>
                <a:ea typeface="Calibri"/>
                <a:cs typeface="Calibri"/>
                <a:sym typeface="Calibri"/>
              </a:rPr>
              <a:t>dispositivo receptor</a:t>
            </a:r>
            <a:endParaRPr b="0" i="0" sz="1100" u="none" cap="none" strike="noStrike">
              <a:solidFill>
                <a:schemeClr val="dk1"/>
              </a:solidFill>
              <a:latin typeface="Calibri"/>
              <a:ea typeface="Calibri"/>
              <a:cs typeface="Calibri"/>
              <a:sym typeface="Calibri"/>
            </a:endParaRPr>
          </a:p>
        </p:txBody>
      </p:sp>
      <p:sp>
        <p:nvSpPr>
          <p:cNvPr id="93" name="Google Shape;93;p4"/>
          <p:cNvSpPr/>
          <p:nvPr/>
        </p:nvSpPr>
        <p:spPr>
          <a:xfrm>
            <a:off x="6510528" y="3611880"/>
            <a:ext cx="214884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Envía el evento a la IP del</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dispositivo, que emite sonido</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y vibración.</a:t>
            </a:r>
            <a:endParaRPr b="0" i="0" sz="1150" u="none" cap="none" strike="noStrike">
              <a:solidFill>
                <a:schemeClr val="dk1"/>
              </a:solidFill>
              <a:latin typeface="Calibri"/>
              <a:ea typeface="Calibri"/>
              <a:cs typeface="Calibri"/>
              <a:sym typeface="Calibri"/>
            </a:endParaRPr>
          </a:p>
        </p:txBody>
      </p:sp>
      <p:sp>
        <p:nvSpPr>
          <p:cNvPr id="94" name="Google Shape;94;p4"/>
          <p:cNvSpPr/>
          <p:nvPr/>
        </p:nvSpPr>
        <p:spPr>
          <a:xfrm rot="5400000">
            <a:off x="8924544" y="3273552"/>
            <a:ext cx="146304" cy="182880"/>
          </a:xfrm>
          <a:prstGeom prst="triangle">
            <a:avLst>
              <a:gd fmla="val 50000" name="adj"/>
            </a:avLst>
          </a:prstGeom>
          <a:solidFill>
            <a:srgbClr val="A9B4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4"/>
          <p:cNvSpPr/>
          <p:nvPr/>
        </p:nvSpPr>
        <p:spPr>
          <a:xfrm>
            <a:off x="9061704" y="1737360"/>
            <a:ext cx="2606040" cy="3566160"/>
          </a:xfrm>
          <a:prstGeom prst="roundRect">
            <a:avLst>
              <a:gd fmla="val 2105"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4"/>
          <p:cNvSpPr/>
          <p:nvPr/>
        </p:nvSpPr>
        <p:spPr>
          <a:xfrm>
            <a:off x="9317736" y="1965960"/>
            <a:ext cx="457200" cy="45720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4"/>
          <p:cNvSpPr/>
          <p:nvPr/>
        </p:nvSpPr>
        <p:spPr>
          <a:xfrm>
            <a:off x="9317736" y="19659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98" name="Google Shape;98;p4"/>
          <p:cNvSpPr/>
          <p:nvPr/>
        </p:nvSpPr>
        <p:spPr>
          <a:xfrm>
            <a:off x="9317736" y="2606040"/>
            <a:ext cx="21031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700"/>
              <a:buFont typeface="Cambria"/>
              <a:buNone/>
            </a:pPr>
            <a:r>
              <a:rPr b="1" i="0" lang="en-US" sz="1700" u="none" cap="none" strike="noStrike">
                <a:solidFill>
                  <a:srgbClr val="1B2A36"/>
                </a:solidFill>
                <a:latin typeface="Cambria"/>
                <a:ea typeface="Cambria"/>
                <a:cs typeface="Cambria"/>
                <a:sym typeface="Cambria"/>
              </a:rPr>
              <a:t>Gestión</a:t>
            </a:r>
            <a:endParaRPr b="0" i="0" sz="1700" u="none" cap="none" strike="noStrike">
              <a:solidFill>
                <a:schemeClr val="dk1"/>
              </a:solidFill>
              <a:latin typeface="Calibri"/>
              <a:ea typeface="Calibri"/>
              <a:cs typeface="Calibri"/>
              <a:sym typeface="Calibri"/>
            </a:endParaRPr>
          </a:p>
        </p:txBody>
      </p:sp>
      <p:sp>
        <p:nvSpPr>
          <p:cNvPr id="99" name="Google Shape;99;p4"/>
          <p:cNvSpPr/>
          <p:nvPr/>
        </p:nvSpPr>
        <p:spPr>
          <a:xfrm>
            <a:off x="9317736" y="2971800"/>
            <a:ext cx="21488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React · FastAPI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PostgreSQL · Twilio</a:t>
            </a:r>
            <a:endParaRPr b="0" i="0" sz="1100" u="none" cap="none" strike="noStrike">
              <a:solidFill>
                <a:schemeClr val="dk1"/>
              </a:solidFill>
              <a:latin typeface="Calibri"/>
              <a:ea typeface="Calibri"/>
              <a:cs typeface="Calibri"/>
              <a:sym typeface="Calibri"/>
            </a:endParaRPr>
          </a:p>
        </p:txBody>
      </p:sp>
      <p:sp>
        <p:nvSpPr>
          <p:cNvPr id="100" name="Google Shape;100;p4"/>
          <p:cNvSpPr/>
          <p:nvPr/>
        </p:nvSpPr>
        <p:spPr>
          <a:xfrm>
            <a:off x="9317736" y="3611880"/>
            <a:ext cx="214884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Dashboard, historial con</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evidencia, reportes y avisos</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al prevencionista.</a:t>
            </a:r>
            <a:endParaRPr b="0" i="0" sz="1150" u="none" cap="none" strike="noStrike">
              <a:solidFill>
                <a:schemeClr val="dk1"/>
              </a:solidFill>
              <a:latin typeface="Calibri"/>
              <a:ea typeface="Calibri"/>
              <a:cs typeface="Calibri"/>
              <a:sym typeface="Calibri"/>
            </a:endParaRPr>
          </a:p>
        </p:txBody>
      </p:sp>
      <p:sp>
        <p:nvSpPr>
          <p:cNvPr id="101" name="Google Shape;101;p4"/>
          <p:cNvSpPr/>
          <p:nvPr/>
        </p:nvSpPr>
        <p:spPr>
          <a:xfrm>
            <a:off x="640080" y="5623560"/>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0" i="1" lang="en-US" sz="1300" u="none" cap="none" strike="noStrike">
                <a:solidFill>
                  <a:srgbClr val="C2410C"/>
                </a:solidFill>
                <a:latin typeface="Calibri"/>
                <a:ea typeface="Calibri"/>
                <a:cs typeface="Calibri"/>
                <a:sym typeface="Calibri"/>
              </a:rPr>
              <a:t>El componente 3 es el que separa a CascoVision de un software de analítica de video: cierra el circuito hacia el trabajador.</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106" name="Shape 106"/>
        <p:cNvGrpSpPr/>
        <p:nvPr/>
      </p:nvGrpSpPr>
      <p:grpSpPr>
        <a:xfrm>
          <a:off x="0" y="0"/>
          <a:ext cx="0" cy="0"/>
          <a:chOff x="0" y="0"/>
          <a:chExt cx="0" cy="0"/>
        </a:xfrm>
      </p:grpSpPr>
      <p:sp>
        <p:nvSpPr>
          <p:cNvPr id="107" name="Google Shape;107;p5"/>
          <p:cNvSpPr/>
          <p:nvPr/>
        </p:nvSpPr>
        <p:spPr>
          <a:xfrm>
            <a:off x="640080" y="45720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400"/>
              <a:buFont typeface="Cambria"/>
              <a:buNone/>
            </a:pPr>
            <a:r>
              <a:rPr b="1" i="0" lang="en-US" sz="3400" u="none" cap="none" strike="noStrike">
                <a:solidFill>
                  <a:srgbClr val="FFFFFF"/>
                </a:solidFill>
                <a:latin typeface="Cambria"/>
                <a:ea typeface="Cambria"/>
                <a:cs typeface="Cambria"/>
                <a:sym typeface="Cambria"/>
              </a:rPr>
              <a:t>El diferenciador: alerta física por IP</a:t>
            </a:r>
            <a:endParaRPr b="0" i="0" sz="3400" u="none" cap="none" strike="noStrike">
              <a:solidFill>
                <a:schemeClr val="dk1"/>
              </a:solidFill>
              <a:latin typeface="Calibri"/>
              <a:ea typeface="Calibri"/>
              <a:cs typeface="Calibri"/>
              <a:sym typeface="Calibri"/>
            </a:endParaRPr>
          </a:p>
        </p:txBody>
      </p:sp>
      <p:sp>
        <p:nvSpPr>
          <p:cNvPr id="108" name="Google Shape;108;p5"/>
          <p:cNvSpPr/>
          <p:nvPr/>
        </p:nvSpPr>
        <p:spPr>
          <a:xfrm>
            <a:off x="640080" y="1115568"/>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2A3AE"/>
              </a:buClr>
              <a:buSzPts val="1400"/>
              <a:buFont typeface="Calibri"/>
              <a:buNone/>
            </a:pPr>
            <a:r>
              <a:rPr b="0" i="0" lang="en-US" sz="1400" u="none" cap="none" strike="noStrike">
                <a:solidFill>
                  <a:srgbClr val="92A3AE"/>
                </a:solidFill>
                <a:latin typeface="Calibri"/>
                <a:ea typeface="Calibri"/>
                <a:cs typeface="Calibri"/>
                <a:sym typeface="Calibri"/>
              </a:rPr>
              <a:t>De supervisión reactiva a prevención en tiempo real</a:t>
            </a:r>
            <a:endParaRPr b="0" i="0" sz="1400" u="none" cap="none" strike="noStrike">
              <a:solidFill>
                <a:schemeClr val="dk1"/>
              </a:solidFill>
              <a:latin typeface="Calibri"/>
              <a:ea typeface="Calibri"/>
              <a:cs typeface="Calibri"/>
              <a:sym typeface="Calibri"/>
            </a:endParaRPr>
          </a:p>
        </p:txBody>
      </p:sp>
      <p:sp>
        <p:nvSpPr>
          <p:cNvPr id="109" name="Google Shape;109;p5"/>
          <p:cNvSpPr/>
          <p:nvPr/>
        </p:nvSpPr>
        <p:spPr>
          <a:xfrm>
            <a:off x="640080"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868680"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868680"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112" name="Google Shape;112;p5"/>
          <p:cNvSpPr/>
          <p:nvPr/>
        </p:nvSpPr>
        <p:spPr>
          <a:xfrm>
            <a:off x="868680"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Detecta</a:t>
            </a:r>
            <a:endParaRPr b="0" i="0" sz="1600" u="none" cap="none" strike="noStrike">
              <a:solidFill>
                <a:schemeClr val="dk1"/>
              </a:solidFill>
              <a:latin typeface="Calibri"/>
              <a:ea typeface="Calibri"/>
              <a:cs typeface="Calibri"/>
              <a:sym typeface="Calibri"/>
            </a:endParaRPr>
          </a:p>
        </p:txBody>
      </p:sp>
      <p:sp>
        <p:nvSpPr>
          <p:cNvPr id="113" name="Google Shape;113;p5"/>
          <p:cNvSpPr/>
          <p:nvPr/>
        </p:nvSpPr>
        <p:spPr>
          <a:xfrm>
            <a:off x="868680"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El agente identifica a una persona sin casco o chaleco dentro de una zona de riesgo configurada.</a:t>
            </a:r>
            <a:endParaRPr b="0" i="0" sz="1050" u="none" cap="none" strike="noStrike">
              <a:solidFill>
                <a:schemeClr val="dk1"/>
              </a:solidFill>
              <a:latin typeface="Calibri"/>
              <a:ea typeface="Calibri"/>
              <a:cs typeface="Calibri"/>
              <a:sym typeface="Calibri"/>
            </a:endParaRPr>
          </a:p>
        </p:txBody>
      </p:sp>
      <p:sp>
        <p:nvSpPr>
          <p:cNvPr id="114" name="Google Shape;114;p5"/>
          <p:cNvSpPr/>
          <p:nvPr/>
        </p:nvSpPr>
        <p:spPr>
          <a:xfrm>
            <a:off x="2871216"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3099816"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5"/>
          <p:cNvSpPr/>
          <p:nvPr/>
        </p:nvSpPr>
        <p:spPr>
          <a:xfrm>
            <a:off x="3099816"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117" name="Google Shape;117;p5"/>
          <p:cNvSpPr/>
          <p:nvPr/>
        </p:nvSpPr>
        <p:spPr>
          <a:xfrm>
            <a:off x="3099816"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Resuelve</a:t>
            </a:r>
            <a:endParaRPr b="0" i="0" sz="1600" u="none" cap="none" strike="noStrike">
              <a:solidFill>
                <a:schemeClr val="dk1"/>
              </a:solidFill>
              <a:latin typeface="Calibri"/>
              <a:ea typeface="Calibri"/>
              <a:cs typeface="Calibri"/>
              <a:sym typeface="Calibri"/>
            </a:endParaRPr>
          </a:p>
        </p:txBody>
      </p:sp>
      <p:sp>
        <p:nvSpPr>
          <p:cNvPr id="118" name="Google Shape;118;p5"/>
          <p:cNvSpPr/>
          <p:nvPr/>
        </p:nvSpPr>
        <p:spPr>
          <a:xfrm>
            <a:off x="3099816"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Localiza la dirección IP del dispositivo receptor asignado a esa zona o a ese trabajador.</a:t>
            </a:r>
            <a:endParaRPr b="0" i="0" sz="1050" u="none" cap="none" strike="noStrike">
              <a:solidFill>
                <a:schemeClr val="dk1"/>
              </a:solidFill>
              <a:latin typeface="Calibri"/>
              <a:ea typeface="Calibri"/>
              <a:cs typeface="Calibri"/>
              <a:sym typeface="Calibri"/>
            </a:endParaRPr>
          </a:p>
        </p:txBody>
      </p:sp>
      <p:sp>
        <p:nvSpPr>
          <p:cNvPr id="119" name="Google Shape;119;p5"/>
          <p:cNvSpPr/>
          <p:nvPr/>
        </p:nvSpPr>
        <p:spPr>
          <a:xfrm>
            <a:off x="5102352"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5"/>
          <p:cNvSpPr/>
          <p:nvPr/>
        </p:nvSpPr>
        <p:spPr>
          <a:xfrm>
            <a:off x="5330952"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5"/>
          <p:cNvSpPr/>
          <p:nvPr/>
        </p:nvSpPr>
        <p:spPr>
          <a:xfrm>
            <a:off x="5330952"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122" name="Google Shape;122;p5"/>
          <p:cNvSpPr/>
          <p:nvPr/>
        </p:nvSpPr>
        <p:spPr>
          <a:xfrm>
            <a:off x="5330952"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Alerta</a:t>
            </a:r>
            <a:endParaRPr b="0" i="0" sz="1600" u="none" cap="none" strike="noStrike">
              <a:solidFill>
                <a:schemeClr val="dk1"/>
              </a:solidFill>
              <a:latin typeface="Calibri"/>
              <a:ea typeface="Calibri"/>
              <a:cs typeface="Calibri"/>
              <a:sym typeface="Calibri"/>
            </a:endParaRPr>
          </a:p>
        </p:txBody>
      </p:sp>
      <p:sp>
        <p:nvSpPr>
          <p:cNvPr id="123" name="Google Shape;123;p5"/>
          <p:cNvSpPr/>
          <p:nvPr/>
        </p:nvSpPr>
        <p:spPr>
          <a:xfrm>
            <a:off x="5330952"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El dispositivo emite simultáneamente una señal sonora y una vibración, montado en el casco o el arnés.</a:t>
            </a:r>
            <a:endParaRPr b="0" i="0" sz="1050" u="none" cap="none" strike="noStrike">
              <a:solidFill>
                <a:schemeClr val="dk1"/>
              </a:solidFill>
              <a:latin typeface="Calibri"/>
              <a:ea typeface="Calibri"/>
              <a:cs typeface="Calibri"/>
              <a:sym typeface="Calibri"/>
            </a:endParaRPr>
          </a:p>
        </p:txBody>
      </p:sp>
      <p:sp>
        <p:nvSpPr>
          <p:cNvPr id="124" name="Google Shape;124;p5"/>
          <p:cNvSpPr/>
          <p:nvPr/>
        </p:nvSpPr>
        <p:spPr>
          <a:xfrm>
            <a:off x="7333488"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5"/>
          <p:cNvSpPr/>
          <p:nvPr/>
        </p:nvSpPr>
        <p:spPr>
          <a:xfrm>
            <a:off x="7562088"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5"/>
          <p:cNvSpPr/>
          <p:nvPr/>
        </p:nvSpPr>
        <p:spPr>
          <a:xfrm>
            <a:off x="7562088"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127" name="Google Shape;127;p5"/>
          <p:cNvSpPr/>
          <p:nvPr/>
        </p:nvSpPr>
        <p:spPr>
          <a:xfrm>
            <a:off x="7562088"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Registra</a:t>
            </a:r>
            <a:endParaRPr b="0" i="0" sz="1600" u="none" cap="none" strike="noStrike">
              <a:solidFill>
                <a:schemeClr val="dk1"/>
              </a:solidFill>
              <a:latin typeface="Calibri"/>
              <a:ea typeface="Calibri"/>
              <a:cs typeface="Calibri"/>
              <a:sym typeface="Calibri"/>
            </a:endParaRPr>
          </a:p>
        </p:txBody>
      </p:sp>
      <p:sp>
        <p:nvSpPr>
          <p:cNvPr id="128" name="Google Shape;128;p5"/>
          <p:cNvSpPr/>
          <p:nvPr/>
        </p:nvSpPr>
        <p:spPr>
          <a:xfrm>
            <a:off x="7562088"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El incidente queda en base de datos con imagen de evidencia, zona, tipo de infracción y hora.</a:t>
            </a:r>
            <a:endParaRPr b="0" i="0" sz="1050" u="none" cap="none" strike="noStrike">
              <a:solidFill>
                <a:schemeClr val="dk1"/>
              </a:solidFill>
              <a:latin typeface="Calibri"/>
              <a:ea typeface="Calibri"/>
              <a:cs typeface="Calibri"/>
              <a:sym typeface="Calibri"/>
            </a:endParaRPr>
          </a:p>
        </p:txBody>
      </p:sp>
      <p:sp>
        <p:nvSpPr>
          <p:cNvPr id="129" name="Google Shape;129;p5"/>
          <p:cNvSpPr/>
          <p:nvPr/>
        </p:nvSpPr>
        <p:spPr>
          <a:xfrm>
            <a:off x="9564624"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5"/>
          <p:cNvSpPr/>
          <p:nvPr/>
        </p:nvSpPr>
        <p:spPr>
          <a:xfrm>
            <a:off x="9793224"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5"/>
          <p:cNvSpPr/>
          <p:nvPr/>
        </p:nvSpPr>
        <p:spPr>
          <a:xfrm>
            <a:off x="9793224"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5</a:t>
            </a:r>
            <a:endParaRPr b="0" i="0" sz="1500" u="none" cap="none" strike="noStrike">
              <a:solidFill>
                <a:schemeClr val="dk1"/>
              </a:solidFill>
              <a:latin typeface="Calibri"/>
              <a:ea typeface="Calibri"/>
              <a:cs typeface="Calibri"/>
              <a:sym typeface="Calibri"/>
            </a:endParaRPr>
          </a:p>
        </p:txBody>
      </p:sp>
      <p:sp>
        <p:nvSpPr>
          <p:cNvPr id="132" name="Google Shape;132;p5"/>
          <p:cNvSpPr/>
          <p:nvPr/>
        </p:nvSpPr>
        <p:spPr>
          <a:xfrm>
            <a:off x="9793224"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Notifica</a:t>
            </a:r>
            <a:endParaRPr b="0" i="0" sz="1600" u="none" cap="none" strike="noStrike">
              <a:solidFill>
                <a:schemeClr val="dk1"/>
              </a:solidFill>
              <a:latin typeface="Calibri"/>
              <a:ea typeface="Calibri"/>
              <a:cs typeface="Calibri"/>
              <a:sym typeface="Calibri"/>
            </a:endParaRPr>
          </a:p>
        </p:txBody>
      </p:sp>
      <p:sp>
        <p:nvSpPr>
          <p:cNvPr id="133" name="Google Shape;133;p5"/>
          <p:cNvSpPr/>
          <p:nvPr/>
        </p:nvSpPr>
        <p:spPr>
          <a:xfrm>
            <a:off x="9793224"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El prevencionista recibe SMS y correo con el detalle y la fotografía del incidente.</a:t>
            </a:r>
            <a:endParaRPr b="0" i="0" sz="1050" u="none" cap="none" strike="noStrike">
              <a:solidFill>
                <a:schemeClr val="dk1"/>
              </a:solidFill>
              <a:latin typeface="Calibri"/>
              <a:ea typeface="Calibri"/>
              <a:cs typeface="Calibri"/>
              <a:sym typeface="Calibri"/>
            </a:endParaRPr>
          </a:p>
        </p:txBody>
      </p:sp>
      <p:sp>
        <p:nvSpPr>
          <p:cNvPr id="134" name="Google Shape;134;p5"/>
          <p:cNvSpPr/>
          <p:nvPr/>
        </p:nvSpPr>
        <p:spPr>
          <a:xfrm>
            <a:off x="640080" y="5029200"/>
            <a:ext cx="10881360" cy="868680"/>
          </a:xfrm>
          <a:prstGeom prst="roundRect">
            <a:avLst>
              <a:gd fmla="val 8421"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5"/>
          <p:cNvSpPr/>
          <p:nvPr/>
        </p:nvSpPr>
        <p:spPr>
          <a:xfrm>
            <a:off x="1005840" y="5029200"/>
            <a:ext cx="1014984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9C6CF"/>
              </a:buClr>
              <a:buSzPts val="1500"/>
              <a:buFont typeface="Calibri"/>
              <a:buNone/>
            </a:pPr>
            <a:r>
              <a:rPr b="0" i="0" lang="en-US" sz="1500" u="none" cap="none" strike="noStrike">
                <a:solidFill>
                  <a:srgbClr val="B9C6CF"/>
                </a:solidFill>
                <a:latin typeface="Calibri"/>
                <a:ea typeface="Calibri"/>
                <a:cs typeface="Calibri"/>
                <a:sym typeface="Calibri"/>
              </a:rPr>
              <a:t>Latencia objetivo del ciclo completo:  </a:t>
            </a:r>
            <a:r>
              <a:rPr b="1" i="0" lang="en-US" sz="1900" u="none" cap="none" strike="noStrike">
                <a:solidFill>
                  <a:srgbClr val="F2B705"/>
                </a:solidFill>
                <a:latin typeface="Calibri"/>
                <a:ea typeface="Calibri"/>
                <a:cs typeface="Calibri"/>
                <a:sym typeface="Calibri"/>
              </a:rPr>
              <a:t>menos de 5 segundos</a:t>
            </a:r>
            <a:r>
              <a:rPr b="0" i="0" lang="en-US" sz="1500" u="none" cap="none" strike="noStrike">
                <a:solidFill>
                  <a:srgbClr val="B9C6CF"/>
                </a:solidFill>
                <a:latin typeface="Calibri"/>
                <a:ea typeface="Calibri"/>
                <a:cs typeface="Calibri"/>
                <a:sym typeface="Calibri"/>
              </a:rPr>
              <a:t>   entre la detección y la alerta emitida.</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6"/>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Relación con el perfil de egreso</a:t>
            </a:r>
            <a:endParaRPr b="0" i="0" sz="3400" u="none" cap="none" strike="noStrike">
              <a:solidFill>
                <a:schemeClr val="dk1"/>
              </a:solidFill>
              <a:latin typeface="Calibri"/>
              <a:ea typeface="Calibri"/>
              <a:cs typeface="Calibri"/>
              <a:sym typeface="Calibri"/>
            </a:endParaRPr>
          </a:p>
        </p:txBody>
      </p:sp>
      <p:sp>
        <p:nvSpPr>
          <p:cNvPr id="142" name="Google Shape;142;p6"/>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El proyecto exige las cuatro competencias, encadenadas</a:t>
            </a:r>
            <a:endParaRPr b="0" i="0" sz="1400" u="none" cap="none" strike="noStrike">
              <a:solidFill>
                <a:schemeClr val="dk1"/>
              </a:solidFill>
              <a:latin typeface="Calibri"/>
              <a:ea typeface="Calibri"/>
              <a:cs typeface="Calibri"/>
              <a:sym typeface="Calibri"/>
            </a:endParaRPr>
          </a:p>
        </p:txBody>
      </p:sp>
      <p:sp>
        <p:nvSpPr>
          <p:cNvPr id="143" name="Google Shape;143;p6"/>
          <p:cNvSpPr/>
          <p:nvPr/>
        </p:nvSpPr>
        <p:spPr>
          <a:xfrm>
            <a:off x="640080" y="1691640"/>
            <a:ext cx="5349240" cy="1481328"/>
          </a:xfrm>
          <a:prstGeom prst="roundRect">
            <a:avLst>
              <a:gd fmla="val 3704"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6"/>
          <p:cNvSpPr/>
          <p:nvPr/>
        </p:nvSpPr>
        <p:spPr>
          <a:xfrm>
            <a:off x="914400" y="1856232"/>
            <a:ext cx="402336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Desarrollar una solución de software</a:t>
            </a:r>
            <a:endParaRPr b="0" i="0" sz="1550" u="none" cap="none" strike="noStrike">
              <a:solidFill>
                <a:schemeClr val="dk1"/>
              </a:solidFill>
              <a:latin typeface="Calibri"/>
              <a:ea typeface="Calibri"/>
              <a:cs typeface="Calibri"/>
              <a:sym typeface="Calibri"/>
            </a:endParaRPr>
          </a:p>
        </p:txBody>
      </p:sp>
      <p:sp>
        <p:nvSpPr>
          <p:cNvPr id="145" name="Google Shape;145;p6"/>
          <p:cNvSpPr/>
          <p:nvPr/>
        </p:nvSpPr>
        <p:spPr>
          <a:xfrm>
            <a:off x="4956048" y="1874520"/>
            <a:ext cx="8686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B6E7A"/>
              </a:buClr>
              <a:buSzPts val="950"/>
              <a:buFont typeface="Calibri"/>
              <a:buNone/>
            </a:pPr>
            <a:r>
              <a:rPr b="1" i="0" lang="en-US" sz="950" u="none" cap="none" strike="noStrike">
                <a:solidFill>
                  <a:srgbClr val="0B6E7A"/>
                </a:solidFill>
                <a:latin typeface="Calibri"/>
                <a:ea typeface="Calibri"/>
                <a:cs typeface="Calibri"/>
                <a:sym typeface="Calibri"/>
              </a:rPr>
              <a:t>4.1 · 4.2 · 4.3</a:t>
            </a:r>
            <a:endParaRPr b="0" i="0" sz="950" u="none" cap="none" strike="noStrike">
              <a:solidFill>
                <a:schemeClr val="dk1"/>
              </a:solidFill>
              <a:latin typeface="Calibri"/>
              <a:ea typeface="Calibri"/>
              <a:cs typeface="Calibri"/>
              <a:sym typeface="Calibri"/>
            </a:endParaRPr>
          </a:p>
        </p:txBody>
      </p:sp>
      <p:sp>
        <p:nvSpPr>
          <p:cNvPr id="146" name="Google Shape;146;p6"/>
          <p:cNvSpPr/>
          <p:nvPr/>
        </p:nvSpPr>
        <p:spPr>
          <a:xfrm>
            <a:off x="914400" y="2404872"/>
            <a:ext cx="48006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Agente Edge en Python, API REST en FastAPI y dashboard en React. Integración de todos los componentes e implantación con manual de traspaso.</a:t>
            </a:r>
            <a:endParaRPr b="0" i="0" sz="1150" u="none" cap="none" strike="noStrike">
              <a:solidFill>
                <a:schemeClr val="dk1"/>
              </a:solidFill>
              <a:latin typeface="Calibri"/>
              <a:ea typeface="Calibri"/>
              <a:cs typeface="Calibri"/>
              <a:sym typeface="Calibri"/>
            </a:endParaRPr>
          </a:p>
        </p:txBody>
      </p:sp>
      <p:sp>
        <p:nvSpPr>
          <p:cNvPr id="147" name="Google Shape;147;p6"/>
          <p:cNvSpPr/>
          <p:nvPr/>
        </p:nvSpPr>
        <p:spPr>
          <a:xfrm>
            <a:off x="6263640" y="1691640"/>
            <a:ext cx="5349240" cy="1481328"/>
          </a:xfrm>
          <a:prstGeom prst="roundRect">
            <a:avLst>
              <a:gd fmla="val 3704"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6"/>
          <p:cNvSpPr/>
          <p:nvPr/>
        </p:nvSpPr>
        <p:spPr>
          <a:xfrm>
            <a:off x="6537960" y="1856232"/>
            <a:ext cx="402336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Construir modelos de datos</a:t>
            </a:r>
            <a:endParaRPr b="0" i="0" sz="1550" u="none" cap="none" strike="noStrike">
              <a:solidFill>
                <a:schemeClr val="dk1"/>
              </a:solidFill>
              <a:latin typeface="Calibri"/>
              <a:ea typeface="Calibri"/>
              <a:cs typeface="Calibri"/>
              <a:sym typeface="Calibri"/>
            </a:endParaRPr>
          </a:p>
        </p:txBody>
      </p:sp>
      <p:sp>
        <p:nvSpPr>
          <p:cNvPr id="149" name="Google Shape;149;p6"/>
          <p:cNvSpPr/>
          <p:nvPr/>
        </p:nvSpPr>
        <p:spPr>
          <a:xfrm>
            <a:off x="10579608" y="1874520"/>
            <a:ext cx="8686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B6E7A"/>
              </a:buClr>
              <a:buSzPts val="950"/>
              <a:buFont typeface="Calibri"/>
              <a:buNone/>
            </a:pPr>
            <a:r>
              <a:rPr b="1" i="0" lang="en-US" sz="950" u="none" cap="none" strike="noStrike">
                <a:solidFill>
                  <a:srgbClr val="0B6E7A"/>
                </a:solidFill>
                <a:latin typeface="Calibri"/>
                <a:ea typeface="Calibri"/>
                <a:cs typeface="Calibri"/>
                <a:sym typeface="Calibri"/>
              </a:rPr>
              <a:t>3.1 · 3.2</a:t>
            </a:r>
            <a:endParaRPr b="0" i="0" sz="950" u="none" cap="none" strike="noStrike">
              <a:solidFill>
                <a:schemeClr val="dk1"/>
              </a:solidFill>
              <a:latin typeface="Calibri"/>
              <a:ea typeface="Calibri"/>
              <a:cs typeface="Calibri"/>
              <a:sym typeface="Calibri"/>
            </a:endParaRPr>
          </a:p>
        </p:txBody>
      </p:sp>
      <p:sp>
        <p:nvSpPr>
          <p:cNvPr id="150" name="Google Shape;150;p6"/>
          <p:cNvSpPr/>
          <p:nvPr/>
        </p:nvSpPr>
        <p:spPr>
          <a:xfrm>
            <a:off x="6537960" y="2404872"/>
            <a:ext cx="48006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Esquema PostgreSQL de cámaras, zonas, incidentes, evidencias y usuarios, con migraciones versionadas e índices para la reportería histórica.</a:t>
            </a:r>
            <a:endParaRPr b="0" i="0" sz="1150" u="none" cap="none" strike="noStrike">
              <a:solidFill>
                <a:schemeClr val="dk1"/>
              </a:solidFill>
              <a:latin typeface="Calibri"/>
              <a:ea typeface="Calibri"/>
              <a:cs typeface="Calibri"/>
              <a:sym typeface="Calibri"/>
            </a:endParaRPr>
          </a:p>
        </p:txBody>
      </p:sp>
      <p:sp>
        <p:nvSpPr>
          <p:cNvPr id="151" name="Google Shape;151;p6"/>
          <p:cNvSpPr/>
          <p:nvPr/>
        </p:nvSpPr>
        <p:spPr>
          <a:xfrm>
            <a:off x="640080" y="3383280"/>
            <a:ext cx="5349240" cy="1481328"/>
          </a:xfrm>
          <a:prstGeom prst="roundRect">
            <a:avLst>
              <a:gd fmla="val 3704"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6"/>
          <p:cNvSpPr/>
          <p:nvPr/>
        </p:nvSpPr>
        <p:spPr>
          <a:xfrm>
            <a:off x="914400" y="3547872"/>
            <a:ext cx="402336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Realizar pruebas de certificación</a:t>
            </a:r>
            <a:endParaRPr b="0" i="0" sz="1550" u="none" cap="none" strike="noStrike">
              <a:solidFill>
                <a:schemeClr val="dk1"/>
              </a:solidFill>
              <a:latin typeface="Calibri"/>
              <a:ea typeface="Calibri"/>
              <a:cs typeface="Calibri"/>
              <a:sym typeface="Calibri"/>
            </a:endParaRPr>
          </a:p>
        </p:txBody>
      </p:sp>
      <p:sp>
        <p:nvSpPr>
          <p:cNvPr id="153" name="Google Shape;153;p6"/>
          <p:cNvSpPr/>
          <p:nvPr/>
        </p:nvSpPr>
        <p:spPr>
          <a:xfrm>
            <a:off x="4956048" y="3566160"/>
            <a:ext cx="8686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2410C"/>
              </a:buClr>
              <a:buSzPts val="950"/>
              <a:buFont typeface="Calibri"/>
              <a:buNone/>
            </a:pPr>
            <a:r>
              <a:rPr b="1" i="0" lang="en-US" sz="950" u="none" cap="none" strike="noStrike">
                <a:solidFill>
                  <a:srgbClr val="C2410C"/>
                </a:solidFill>
                <a:latin typeface="Calibri"/>
                <a:ea typeface="Calibri"/>
                <a:cs typeface="Calibri"/>
                <a:sym typeface="Calibri"/>
              </a:rPr>
              <a:t>1.1 · 1.2 · 1.3</a:t>
            </a:r>
            <a:endParaRPr b="0" i="0" sz="950" u="none" cap="none" strike="noStrike">
              <a:solidFill>
                <a:schemeClr val="dk1"/>
              </a:solidFill>
              <a:latin typeface="Calibri"/>
              <a:ea typeface="Calibri"/>
              <a:cs typeface="Calibri"/>
              <a:sym typeface="Calibri"/>
            </a:endParaRPr>
          </a:p>
        </p:txBody>
      </p:sp>
      <p:sp>
        <p:nvSpPr>
          <p:cNvPr id="154" name="Google Shape;154;p6"/>
          <p:cNvSpPr/>
          <p:nvPr/>
        </p:nvSpPr>
        <p:spPr>
          <a:xfrm>
            <a:off x="914400" y="4096512"/>
            <a:ext cx="48006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Plan de pruebas con criterios medibles (mAP ≥ 0,90 · latencia &lt; 5 s · uptime ≥ 99%), su ejecución y las mejoras derivadas de los resultados.</a:t>
            </a:r>
            <a:endParaRPr b="0" i="0" sz="1150" u="none" cap="none" strike="noStrike">
              <a:solidFill>
                <a:schemeClr val="dk1"/>
              </a:solidFill>
              <a:latin typeface="Calibri"/>
              <a:ea typeface="Calibri"/>
              <a:cs typeface="Calibri"/>
              <a:sym typeface="Calibri"/>
            </a:endParaRPr>
          </a:p>
        </p:txBody>
      </p:sp>
      <p:sp>
        <p:nvSpPr>
          <p:cNvPr id="155" name="Google Shape;155;p6"/>
          <p:cNvSpPr/>
          <p:nvPr/>
        </p:nvSpPr>
        <p:spPr>
          <a:xfrm>
            <a:off x="6263640" y="3383280"/>
            <a:ext cx="5349240" cy="1481328"/>
          </a:xfrm>
          <a:prstGeom prst="roundRect">
            <a:avLst>
              <a:gd fmla="val 3704"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6"/>
          <p:cNvSpPr/>
          <p:nvPr/>
        </p:nvSpPr>
        <p:spPr>
          <a:xfrm>
            <a:off x="6537960" y="3547872"/>
            <a:ext cx="402336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Gestionar proyectos informáticos</a:t>
            </a:r>
            <a:endParaRPr b="0" i="0" sz="1550" u="none" cap="none" strike="noStrike">
              <a:solidFill>
                <a:schemeClr val="dk1"/>
              </a:solidFill>
              <a:latin typeface="Calibri"/>
              <a:ea typeface="Calibri"/>
              <a:cs typeface="Calibri"/>
              <a:sym typeface="Calibri"/>
            </a:endParaRPr>
          </a:p>
        </p:txBody>
      </p:sp>
      <p:sp>
        <p:nvSpPr>
          <p:cNvPr id="157" name="Google Shape;157;p6"/>
          <p:cNvSpPr/>
          <p:nvPr/>
        </p:nvSpPr>
        <p:spPr>
          <a:xfrm>
            <a:off x="10579608" y="3566160"/>
            <a:ext cx="8686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B6E7A"/>
              </a:buClr>
              <a:buSzPts val="950"/>
              <a:buFont typeface="Calibri"/>
              <a:buNone/>
            </a:pPr>
            <a:r>
              <a:rPr b="1" i="0" lang="en-US" sz="950" u="none" cap="none" strike="noStrike">
                <a:solidFill>
                  <a:srgbClr val="0B6E7A"/>
                </a:solidFill>
                <a:latin typeface="Calibri"/>
                <a:ea typeface="Calibri"/>
                <a:cs typeface="Calibri"/>
                <a:sym typeface="Calibri"/>
              </a:rPr>
              <a:t>2.1 · 2.2</a:t>
            </a:r>
            <a:endParaRPr b="0" i="0" sz="950" u="none" cap="none" strike="noStrike">
              <a:solidFill>
                <a:schemeClr val="dk1"/>
              </a:solidFill>
              <a:latin typeface="Calibri"/>
              <a:ea typeface="Calibri"/>
              <a:cs typeface="Calibri"/>
              <a:sym typeface="Calibri"/>
            </a:endParaRPr>
          </a:p>
        </p:txBody>
      </p:sp>
      <p:sp>
        <p:nvSpPr>
          <p:cNvPr id="158" name="Google Shape;158;p6"/>
          <p:cNvSpPr/>
          <p:nvPr/>
        </p:nvSpPr>
        <p:spPr>
          <a:xfrm>
            <a:off x="6537960" y="4096512"/>
            <a:ext cx="48006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EDT de ocho paquetes, carta Gantt de 18 semanas, matriz de riesgos y control de avance por hitos con gestión de desviaciones.</a:t>
            </a:r>
            <a:endParaRPr b="0" i="0" sz="1150" u="none" cap="none" strike="noStrike">
              <a:solidFill>
                <a:schemeClr val="dk1"/>
              </a:solidFill>
              <a:latin typeface="Calibri"/>
              <a:ea typeface="Calibri"/>
              <a:cs typeface="Calibri"/>
              <a:sym typeface="Calibri"/>
            </a:endParaRPr>
          </a:p>
        </p:txBody>
      </p:sp>
      <p:sp>
        <p:nvSpPr>
          <p:cNvPr id="159" name="Google Shape;159;p6"/>
          <p:cNvSpPr/>
          <p:nvPr/>
        </p:nvSpPr>
        <p:spPr>
          <a:xfrm>
            <a:off x="640080" y="5212080"/>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250"/>
              <a:buFont typeface="Calibri"/>
              <a:buNone/>
            </a:pPr>
            <a:r>
              <a:rPr b="0" i="1" lang="en-US" sz="1250" u="none" cap="none" strike="noStrike">
                <a:solidFill>
                  <a:srgbClr val="C2410C"/>
                </a:solidFill>
                <a:latin typeface="Calibri"/>
                <a:ea typeface="Calibri"/>
                <a:cs typeface="Calibri"/>
                <a:sym typeface="Calibri"/>
              </a:rPr>
              <a:t>Destacada: la competencia de pruebas es la que el equipo declara como oportunidad de mejora, y por eso tiene un paquete de trabajo propio en la EDT.</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sp>
        <p:nvSpPr>
          <p:cNvPr id="165" name="Google Shape;165;p7"/>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Relación con nuestros intereses profesionales</a:t>
            </a:r>
            <a:endParaRPr b="0" i="0" sz="3400" u="none" cap="none" strike="noStrike">
              <a:solidFill>
                <a:schemeClr val="dk1"/>
              </a:solidFill>
              <a:latin typeface="Calibri"/>
              <a:ea typeface="Calibri"/>
              <a:cs typeface="Calibri"/>
              <a:sym typeface="Calibri"/>
            </a:endParaRPr>
          </a:p>
        </p:txBody>
      </p:sp>
      <p:sp>
        <p:nvSpPr>
          <p:cNvPr id="166" name="Google Shape;166;p7"/>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Por qué este proyecto y no otro</a:t>
            </a:r>
            <a:endParaRPr b="0" i="0" sz="1400" u="none" cap="none" strike="noStrike">
              <a:solidFill>
                <a:schemeClr val="dk1"/>
              </a:solidFill>
              <a:latin typeface="Calibri"/>
              <a:ea typeface="Calibri"/>
              <a:cs typeface="Calibri"/>
              <a:sym typeface="Calibri"/>
            </a:endParaRPr>
          </a:p>
        </p:txBody>
      </p:sp>
      <p:sp>
        <p:nvSpPr>
          <p:cNvPr id="167" name="Google Shape;167;p7"/>
          <p:cNvSpPr/>
          <p:nvPr/>
        </p:nvSpPr>
        <p:spPr>
          <a:xfrm>
            <a:off x="640080" y="1645920"/>
            <a:ext cx="658368" cy="658368"/>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7"/>
          <p:cNvSpPr/>
          <p:nvPr/>
        </p:nvSpPr>
        <p:spPr>
          <a:xfrm>
            <a:off x="640080" y="1645920"/>
            <a:ext cx="658368"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IV</a:t>
            </a:r>
            <a:endParaRPr b="0" i="0" sz="1500" u="none" cap="none" strike="noStrike">
              <a:solidFill>
                <a:schemeClr val="dk1"/>
              </a:solidFill>
              <a:latin typeface="Calibri"/>
              <a:ea typeface="Calibri"/>
              <a:cs typeface="Calibri"/>
              <a:sym typeface="Calibri"/>
            </a:endParaRPr>
          </a:p>
        </p:txBody>
      </p:sp>
      <p:sp>
        <p:nvSpPr>
          <p:cNvPr id="169" name="Google Shape;169;p7"/>
          <p:cNvSpPr/>
          <p:nvPr/>
        </p:nvSpPr>
        <p:spPr>
          <a:xfrm>
            <a:off x="1463040" y="1645920"/>
            <a:ext cx="10058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Iahn Vera   </a:t>
            </a:r>
            <a:r>
              <a:rPr b="1" i="0" lang="en-US" sz="1200" u="none" cap="none" strike="noStrike">
                <a:solidFill>
                  <a:srgbClr val="C2410C"/>
                </a:solidFill>
                <a:latin typeface="Calibri"/>
                <a:ea typeface="Calibri"/>
                <a:cs typeface="Calibri"/>
                <a:sym typeface="Calibri"/>
              </a:rPr>
              <a:t>Jefe de proyecto · Motor de IA</a:t>
            </a:r>
            <a:endParaRPr b="0" i="0" sz="1450" u="none" cap="none" strike="noStrike">
              <a:solidFill>
                <a:schemeClr val="dk1"/>
              </a:solidFill>
              <a:latin typeface="Calibri"/>
              <a:ea typeface="Calibri"/>
              <a:cs typeface="Calibri"/>
              <a:sym typeface="Calibri"/>
            </a:endParaRPr>
          </a:p>
        </p:txBody>
      </p:sp>
      <p:sp>
        <p:nvSpPr>
          <p:cNvPr id="170" name="Google Shape;170;p7"/>
          <p:cNvSpPr/>
          <p:nvPr/>
        </p:nvSpPr>
        <p:spPr>
          <a:xfrm>
            <a:off x="1463040" y="1956816"/>
            <a:ext cx="9966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Visión computacional aplicada y gestión de proyectos informáticos. Administra una empresa de transporte, donde el cumplimiento normativo y la documentación de incidentes son parte del trabajo diario.</a:t>
            </a:r>
            <a:endParaRPr b="0" i="0" sz="1150" u="none" cap="none" strike="noStrike">
              <a:solidFill>
                <a:schemeClr val="dk1"/>
              </a:solidFill>
              <a:latin typeface="Calibri"/>
              <a:ea typeface="Calibri"/>
              <a:cs typeface="Calibri"/>
              <a:sym typeface="Calibri"/>
            </a:endParaRPr>
          </a:p>
        </p:txBody>
      </p:sp>
      <p:sp>
        <p:nvSpPr>
          <p:cNvPr id="171" name="Google Shape;171;p7"/>
          <p:cNvSpPr/>
          <p:nvPr/>
        </p:nvSpPr>
        <p:spPr>
          <a:xfrm>
            <a:off x="640080" y="2697480"/>
            <a:ext cx="658368" cy="658368"/>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7"/>
          <p:cNvSpPr/>
          <p:nvPr/>
        </p:nvSpPr>
        <p:spPr>
          <a:xfrm>
            <a:off x="640080" y="2697480"/>
            <a:ext cx="658368"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JA</a:t>
            </a:r>
            <a:endParaRPr b="0" i="0" sz="1500" u="none" cap="none" strike="noStrike">
              <a:solidFill>
                <a:schemeClr val="dk1"/>
              </a:solidFill>
              <a:latin typeface="Calibri"/>
              <a:ea typeface="Calibri"/>
              <a:cs typeface="Calibri"/>
              <a:sym typeface="Calibri"/>
            </a:endParaRPr>
          </a:p>
        </p:txBody>
      </p:sp>
      <p:sp>
        <p:nvSpPr>
          <p:cNvPr id="173" name="Google Shape;173;p7"/>
          <p:cNvSpPr/>
          <p:nvPr/>
        </p:nvSpPr>
        <p:spPr>
          <a:xfrm>
            <a:off x="1463040" y="2697480"/>
            <a:ext cx="10058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Joaquín Armijo   </a:t>
            </a:r>
            <a:r>
              <a:rPr b="1" i="0" lang="en-US" sz="1200" u="none" cap="none" strike="noStrike">
                <a:solidFill>
                  <a:srgbClr val="0B6E7A"/>
                </a:solidFill>
                <a:latin typeface="Calibri"/>
                <a:ea typeface="Calibri"/>
                <a:cs typeface="Calibri"/>
                <a:sym typeface="Calibri"/>
              </a:rPr>
              <a:t>Backend y modelo de datos</a:t>
            </a:r>
            <a:endParaRPr b="0" i="0" sz="1450" u="none" cap="none" strike="noStrike">
              <a:solidFill>
                <a:schemeClr val="dk1"/>
              </a:solidFill>
              <a:latin typeface="Calibri"/>
              <a:ea typeface="Calibri"/>
              <a:cs typeface="Calibri"/>
              <a:sym typeface="Calibri"/>
            </a:endParaRPr>
          </a:p>
        </p:txBody>
      </p:sp>
      <p:sp>
        <p:nvSpPr>
          <p:cNvPr id="174" name="Google Shape;174;p7"/>
          <p:cNvSpPr/>
          <p:nvPr/>
        </p:nvSpPr>
        <p:spPr>
          <a:xfrm>
            <a:off x="1463040" y="3008376"/>
            <a:ext cx="9966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Desarrollo de servicios y diseño de bases de datos escalables, orientado a cargos de desarrollador backend.</a:t>
            </a:r>
            <a:endParaRPr b="0" i="0" sz="1150" u="none" cap="none" strike="noStrike">
              <a:solidFill>
                <a:schemeClr val="dk1"/>
              </a:solidFill>
              <a:latin typeface="Calibri"/>
              <a:ea typeface="Calibri"/>
              <a:cs typeface="Calibri"/>
              <a:sym typeface="Calibri"/>
            </a:endParaRPr>
          </a:p>
        </p:txBody>
      </p:sp>
      <p:sp>
        <p:nvSpPr>
          <p:cNvPr id="175" name="Google Shape;175;p7"/>
          <p:cNvSpPr/>
          <p:nvPr/>
        </p:nvSpPr>
        <p:spPr>
          <a:xfrm>
            <a:off x="640080" y="3749040"/>
            <a:ext cx="658368" cy="658368"/>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7"/>
          <p:cNvSpPr/>
          <p:nvPr/>
        </p:nvSpPr>
        <p:spPr>
          <a:xfrm>
            <a:off x="640080" y="3749040"/>
            <a:ext cx="658368"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BC</a:t>
            </a:r>
            <a:endParaRPr b="0" i="0" sz="1500" u="none" cap="none" strike="noStrike">
              <a:solidFill>
                <a:schemeClr val="dk1"/>
              </a:solidFill>
              <a:latin typeface="Calibri"/>
              <a:ea typeface="Calibri"/>
              <a:cs typeface="Calibri"/>
              <a:sym typeface="Calibri"/>
            </a:endParaRPr>
          </a:p>
        </p:txBody>
      </p:sp>
      <p:sp>
        <p:nvSpPr>
          <p:cNvPr id="177" name="Google Shape;177;p7"/>
          <p:cNvSpPr/>
          <p:nvPr/>
        </p:nvSpPr>
        <p:spPr>
          <a:xfrm>
            <a:off x="1463040" y="3749040"/>
            <a:ext cx="10058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Benjamín Cáceres   </a:t>
            </a:r>
            <a:r>
              <a:rPr b="1" i="0" lang="en-US" sz="1200" u="none" cap="none" strike="noStrike">
                <a:solidFill>
                  <a:srgbClr val="0B6E7A"/>
                </a:solidFill>
                <a:latin typeface="Calibri"/>
                <a:ea typeface="Calibri"/>
                <a:cs typeface="Calibri"/>
                <a:sym typeface="Calibri"/>
              </a:rPr>
              <a:t>Frontend y reportería</a:t>
            </a:r>
            <a:endParaRPr b="0" i="0" sz="1450" u="none" cap="none" strike="noStrike">
              <a:solidFill>
                <a:schemeClr val="dk1"/>
              </a:solidFill>
              <a:latin typeface="Calibri"/>
              <a:ea typeface="Calibri"/>
              <a:cs typeface="Calibri"/>
              <a:sym typeface="Calibri"/>
            </a:endParaRPr>
          </a:p>
        </p:txBody>
      </p:sp>
      <p:sp>
        <p:nvSpPr>
          <p:cNvPr id="178" name="Google Shape;178;p7"/>
          <p:cNvSpPr/>
          <p:nvPr/>
        </p:nvSpPr>
        <p:spPr>
          <a:xfrm>
            <a:off x="1463040" y="4059936"/>
            <a:ext cx="9966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Construcción de interfaces de gestión y visualización de datos operativos para usuarios no técnicos.</a:t>
            </a:r>
            <a:endParaRPr b="0" i="0" sz="1150" u="none" cap="none" strike="noStrike">
              <a:solidFill>
                <a:schemeClr val="dk1"/>
              </a:solidFill>
              <a:latin typeface="Calibri"/>
              <a:ea typeface="Calibri"/>
              <a:cs typeface="Calibri"/>
              <a:sym typeface="Calibri"/>
            </a:endParaRPr>
          </a:p>
        </p:txBody>
      </p:sp>
      <p:sp>
        <p:nvSpPr>
          <p:cNvPr id="179" name="Google Shape;179;p7"/>
          <p:cNvSpPr/>
          <p:nvPr/>
        </p:nvSpPr>
        <p:spPr>
          <a:xfrm>
            <a:off x="640080" y="4800600"/>
            <a:ext cx="658368" cy="658368"/>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7"/>
          <p:cNvSpPr/>
          <p:nvPr/>
        </p:nvSpPr>
        <p:spPr>
          <a:xfrm>
            <a:off x="640080" y="4800600"/>
            <a:ext cx="658368"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FM</a:t>
            </a:r>
            <a:endParaRPr b="0" i="0" sz="1500" u="none" cap="none" strike="noStrike">
              <a:solidFill>
                <a:schemeClr val="dk1"/>
              </a:solidFill>
              <a:latin typeface="Calibri"/>
              <a:ea typeface="Calibri"/>
              <a:cs typeface="Calibri"/>
              <a:sym typeface="Calibri"/>
            </a:endParaRPr>
          </a:p>
        </p:txBody>
      </p:sp>
      <p:sp>
        <p:nvSpPr>
          <p:cNvPr id="181" name="Google Shape;181;p7"/>
          <p:cNvSpPr/>
          <p:nvPr/>
        </p:nvSpPr>
        <p:spPr>
          <a:xfrm>
            <a:off x="1463040" y="4800600"/>
            <a:ext cx="10058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Fernando Muñoz   </a:t>
            </a:r>
            <a:r>
              <a:rPr b="1" i="0" lang="en-US" sz="1200" u="none" cap="none" strike="noStrike">
                <a:solidFill>
                  <a:srgbClr val="0B6E7A"/>
                </a:solidFill>
                <a:latin typeface="Calibri"/>
                <a:ea typeface="Calibri"/>
                <a:cs typeface="Calibri"/>
                <a:sym typeface="Calibri"/>
              </a:rPr>
              <a:t>Alerta física y pruebas</a:t>
            </a:r>
            <a:endParaRPr b="0" i="0" sz="1450" u="none" cap="none" strike="noStrike">
              <a:solidFill>
                <a:schemeClr val="dk1"/>
              </a:solidFill>
              <a:latin typeface="Calibri"/>
              <a:ea typeface="Calibri"/>
              <a:cs typeface="Calibri"/>
              <a:sym typeface="Calibri"/>
            </a:endParaRPr>
          </a:p>
        </p:txBody>
      </p:sp>
      <p:sp>
        <p:nvSpPr>
          <p:cNvPr id="182" name="Google Shape;182;p7"/>
          <p:cNvSpPr/>
          <p:nvPr/>
        </p:nvSpPr>
        <p:spPr>
          <a:xfrm>
            <a:off x="1463040" y="5111496"/>
            <a:ext cx="9966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Integración de sistemas embebidos por red y aseguramiento de calidad del software.</a:t>
            </a:r>
            <a:endParaRPr b="0" i="0" sz="1150" u="none" cap="none" strike="noStrike">
              <a:solidFill>
                <a:schemeClr val="dk1"/>
              </a:solidFill>
              <a:latin typeface="Calibri"/>
              <a:ea typeface="Calibri"/>
              <a:cs typeface="Calibri"/>
              <a:sym typeface="Calibri"/>
            </a:endParaRPr>
          </a:p>
        </p:txBody>
      </p:sp>
      <p:sp>
        <p:nvSpPr>
          <p:cNvPr id="183" name="Google Shape;183;p7"/>
          <p:cNvSpPr/>
          <p:nvPr/>
        </p:nvSpPr>
        <p:spPr>
          <a:xfrm>
            <a:off x="640080" y="5943600"/>
            <a:ext cx="10881360" cy="685800"/>
          </a:xfrm>
          <a:prstGeom prst="roundRect">
            <a:avLst>
              <a:gd fmla="val 8000" name="adj"/>
            </a:avLst>
          </a:prstGeom>
          <a:solidFill>
            <a:srgbClr val="FDF6E3"/>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7"/>
          <p:cNvSpPr/>
          <p:nvPr/>
        </p:nvSpPr>
        <p:spPr>
          <a:xfrm>
            <a:off x="914400" y="5943600"/>
            <a:ext cx="103327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A5A00"/>
              </a:buClr>
              <a:buSzPts val="1250"/>
              <a:buFont typeface="Calibri"/>
              <a:buNone/>
            </a:pPr>
            <a:r>
              <a:rPr b="0" i="1" lang="en-US" sz="1250" u="none" cap="none" strike="noStrike">
                <a:solidFill>
                  <a:srgbClr val="7A5A00"/>
                </a:solidFill>
                <a:latin typeface="Calibri"/>
                <a:ea typeface="Calibri"/>
                <a:cs typeface="Calibri"/>
                <a:sym typeface="Calibri"/>
              </a:rPr>
              <a:t>El proyecto está formulado como producto vendible, no solo como trabajo académico: si el Capstone lo deja operativo, puede continuarse después de la titulación.</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 name="Shape 189"/>
        <p:cNvGrpSpPr/>
        <p:nvPr/>
      </p:nvGrpSpPr>
      <p:grpSpPr>
        <a:xfrm>
          <a:off x="0" y="0"/>
          <a:ext cx="0" cy="0"/>
          <a:chOff x="0" y="0"/>
          <a:chExt cx="0" cy="0"/>
        </a:xfrm>
      </p:grpSpPr>
      <p:sp>
        <p:nvSpPr>
          <p:cNvPr id="190" name="Google Shape;190;p8"/>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Objetivos del proyecto</a:t>
            </a:r>
            <a:endParaRPr b="0" i="0" sz="3400" u="none" cap="none" strike="noStrike">
              <a:solidFill>
                <a:schemeClr val="dk1"/>
              </a:solidFill>
              <a:latin typeface="Calibri"/>
              <a:ea typeface="Calibri"/>
              <a:cs typeface="Calibri"/>
              <a:sym typeface="Calibri"/>
            </a:endParaRPr>
          </a:p>
        </p:txBody>
      </p:sp>
      <p:sp>
        <p:nvSpPr>
          <p:cNvPr id="191" name="Google Shape;191;p8"/>
          <p:cNvSpPr/>
          <p:nvPr/>
        </p:nvSpPr>
        <p:spPr>
          <a:xfrm>
            <a:off x="640080" y="1600200"/>
            <a:ext cx="10881360" cy="1234440"/>
          </a:xfrm>
          <a:prstGeom prst="roundRect">
            <a:avLst>
              <a:gd fmla="val 4444"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8"/>
          <p:cNvSpPr/>
          <p:nvPr/>
        </p:nvSpPr>
        <p:spPr>
          <a:xfrm>
            <a:off x="914400" y="1737360"/>
            <a:ext cx="10332720" cy="960120"/>
          </a:xfrm>
          <a:prstGeom prst="rect">
            <a:avLst/>
          </a:prstGeom>
          <a:noFill/>
          <a:ln>
            <a:noFill/>
          </a:ln>
        </p:spPr>
        <p:txBody>
          <a:bodyPr anchorCtr="0" anchor="ctr" bIns="0" lIns="0" spcFirstLastPara="1" rIns="0" wrap="square" tIns="0">
            <a:noAutofit/>
          </a:bodyPr>
          <a:lstStyle/>
          <a:p>
            <a:pPr indent="0" lvl="0" marL="0" marR="0" rtl="0" algn="l">
              <a:lnSpc>
                <a:spcPct val="155555"/>
              </a:lnSpc>
              <a:spcBef>
                <a:spcPts val="0"/>
              </a:spcBef>
              <a:spcAft>
                <a:spcPts val="0"/>
              </a:spcAft>
              <a:buClr>
                <a:srgbClr val="0B4F58"/>
              </a:buClr>
              <a:buSzPts val="1350"/>
              <a:buFont typeface="Calibri"/>
              <a:buNone/>
            </a:pPr>
            <a:r>
              <a:rPr b="1" i="0" lang="en-US" sz="1350" u="none" cap="none" strike="noStrike">
                <a:solidFill>
                  <a:srgbClr val="0B4F58"/>
                </a:solidFill>
                <a:latin typeface="Calibri"/>
                <a:ea typeface="Calibri"/>
                <a:cs typeface="Calibri"/>
                <a:sym typeface="Calibri"/>
              </a:rPr>
              <a:t>Objetivo general.  </a:t>
            </a:r>
            <a:r>
              <a:rPr b="0" i="0" lang="en-US" sz="1350" u="none" cap="none" strike="noStrike">
                <a:solidFill>
                  <a:srgbClr val="0B4F58"/>
                </a:solidFill>
                <a:latin typeface="Calibri"/>
                <a:ea typeface="Calibri"/>
                <a:cs typeface="Calibri"/>
                <a:sym typeface="Calibri"/>
              </a:rPr>
              <a:t>Desarrollar e implementar CascoVision, un sistema de detección automatizada del uso de EPP basado en visión computacional y dispositivos de alerta conectados por IP, que permita a las empresas constructoras prevenir accidentes laborales, reducir su exposición a multas y respaldar el cumplimiento de la norma ISO 45001, dentro del periodo académico de 18 semanas.</a:t>
            </a:r>
            <a:endParaRPr b="0" i="0" sz="1350" u="none" cap="none" strike="noStrike">
              <a:solidFill>
                <a:schemeClr val="dk1"/>
              </a:solidFill>
              <a:latin typeface="Calibri"/>
              <a:ea typeface="Calibri"/>
              <a:cs typeface="Calibri"/>
              <a:sym typeface="Calibri"/>
            </a:endParaRPr>
          </a:p>
        </p:txBody>
      </p:sp>
      <p:sp>
        <p:nvSpPr>
          <p:cNvPr id="193" name="Google Shape;193;p8"/>
          <p:cNvSpPr/>
          <p:nvPr/>
        </p:nvSpPr>
        <p:spPr>
          <a:xfrm>
            <a:off x="640080" y="3063240"/>
            <a:ext cx="4572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800"/>
              <a:buFont typeface="Cambria"/>
              <a:buNone/>
            </a:pPr>
            <a:r>
              <a:rPr b="1" i="0" lang="en-US" sz="1800" u="none" cap="none" strike="noStrike">
                <a:solidFill>
                  <a:srgbClr val="1B2A36"/>
                </a:solidFill>
                <a:latin typeface="Cambria"/>
                <a:ea typeface="Cambria"/>
                <a:cs typeface="Cambria"/>
                <a:sym typeface="Cambria"/>
              </a:rPr>
              <a:t>Objetivos específicos</a:t>
            </a:r>
            <a:endParaRPr b="0" i="0" sz="1800" u="none" cap="none" strike="noStrike">
              <a:solidFill>
                <a:schemeClr val="dk1"/>
              </a:solidFill>
              <a:latin typeface="Calibri"/>
              <a:ea typeface="Calibri"/>
              <a:cs typeface="Calibri"/>
              <a:sym typeface="Calibri"/>
            </a:endParaRPr>
          </a:p>
        </p:txBody>
      </p:sp>
      <p:sp>
        <p:nvSpPr>
          <p:cNvPr id="194" name="Google Shape;194;p8"/>
          <p:cNvSpPr/>
          <p:nvPr/>
        </p:nvSpPr>
        <p:spPr>
          <a:xfrm>
            <a:off x="640080" y="3520440"/>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8"/>
          <p:cNvSpPr/>
          <p:nvPr/>
        </p:nvSpPr>
        <p:spPr>
          <a:xfrm>
            <a:off x="640080" y="3520440"/>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196" name="Google Shape;196;p8"/>
          <p:cNvSpPr/>
          <p:nvPr/>
        </p:nvSpPr>
        <p:spPr>
          <a:xfrm>
            <a:off x="1152144" y="3447288"/>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Entrenar y validar un modelo YOLOv8 que identifique casco y chaleco con mAP ≥ 0,90.</a:t>
            </a:r>
            <a:endParaRPr b="0" i="0" sz="1150" u="none" cap="none" strike="noStrike">
              <a:solidFill>
                <a:schemeClr val="dk1"/>
              </a:solidFill>
              <a:latin typeface="Calibri"/>
              <a:ea typeface="Calibri"/>
              <a:cs typeface="Calibri"/>
              <a:sym typeface="Calibri"/>
            </a:endParaRPr>
          </a:p>
        </p:txBody>
      </p:sp>
      <p:sp>
        <p:nvSpPr>
          <p:cNvPr id="197" name="Google Shape;197;p8"/>
          <p:cNvSpPr/>
          <p:nvPr/>
        </p:nvSpPr>
        <p:spPr>
          <a:xfrm>
            <a:off x="6263640" y="3520440"/>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8"/>
          <p:cNvSpPr/>
          <p:nvPr/>
        </p:nvSpPr>
        <p:spPr>
          <a:xfrm>
            <a:off x="6263640" y="3520440"/>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199" name="Google Shape;199;p8"/>
          <p:cNvSpPr/>
          <p:nvPr/>
        </p:nvSpPr>
        <p:spPr>
          <a:xfrm>
            <a:off x="6775704" y="3447288"/>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Desarrollar el agente Edge integrado con cámaras IP por ONVIF/RTSP, sin reemplazar hardware.</a:t>
            </a:r>
            <a:endParaRPr b="0" i="0" sz="1150" u="none" cap="none" strike="noStrike">
              <a:solidFill>
                <a:schemeClr val="dk1"/>
              </a:solidFill>
              <a:latin typeface="Calibri"/>
              <a:ea typeface="Calibri"/>
              <a:cs typeface="Calibri"/>
              <a:sym typeface="Calibri"/>
            </a:endParaRPr>
          </a:p>
        </p:txBody>
      </p:sp>
      <p:sp>
        <p:nvSpPr>
          <p:cNvPr id="200" name="Google Shape;200;p8"/>
          <p:cNvSpPr/>
          <p:nvPr/>
        </p:nvSpPr>
        <p:spPr>
          <a:xfrm>
            <a:off x="640080" y="4270248"/>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8"/>
          <p:cNvSpPr/>
          <p:nvPr/>
        </p:nvSpPr>
        <p:spPr>
          <a:xfrm>
            <a:off x="640080" y="427024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202" name="Google Shape;202;p8"/>
          <p:cNvSpPr/>
          <p:nvPr/>
        </p:nvSpPr>
        <p:spPr>
          <a:xfrm>
            <a:off x="1152144" y="4197096"/>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Implementar el subsistema de alerta física por IP con señal sonora y vibratoria en menos de 5 s.</a:t>
            </a:r>
            <a:endParaRPr b="0" i="0" sz="1150" u="none" cap="none" strike="noStrike">
              <a:solidFill>
                <a:schemeClr val="dk1"/>
              </a:solidFill>
              <a:latin typeface="Calibri"/>
              <a:ea typeface="Calibri"/>
              <a:cs typeface="Calibri"/>
              <a:sym typeface="Calibri"/>
            </a:endParaRPr>
          </a:p>
        </p:txBody>
      </p:sp>
      <p:sp>
        <p:nvSpPr>
          <p:cNvPr id="203" name="Google Shape;203;p8"/>
          <p:cNvSpPr/>
          <p:nvPr/>
        </p:nvSpPr>
        <p:spPr>
          <a:xfrm>
            <a:off x="6263640" y="4270248"/>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p:nvPr/>
        </p:nvSpPr>
        <p:spPr>
          <a:xfrm>
            <a:off x="6263640" y="427024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205" name="Google Shape;205;p8"/>
          <p:cNvSpPr/>
          <p:nvPr/>
        </p:nvSpPr>
        <p:spPr>
          <a:xfrm>
            <a:off x="6775704" y="4197096"/>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Diseñar e implementar el modelo de datos que sostenga incidentes, evidencias, zonas y usuarios.</a:t>
            </a:r>
            <a:endParaRPr b="0" i="0" sz="1150" u="none" cap="none" strike="noStrike">
              <a:solidFill>
                <a:schemeClr val="dk1"/>
              </a:solidFill>
              <a:latin typeface="Calibri"/>
              <a:ea typeface="Calibri"/>
              <a:cs typeface="Calibri"/>
              <a:sym typeface="Calibri"/>
            </a:endParaRPr>
          </a:p>
        </p:txBody>
      </p:sp>
      <p:sp>
        <p:nvSpPr>
          <p:cNvPr id="206" name="Google Shape;206;p8"/>
          <p:cNvSpPr/>
          <p:nvPr/>
        </p:nvSpPr>
        <p:spPr>
          <a:xfrm>
            <a:off x="640080" y="5020056"/>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
          <p:cNvSpPr/>
          <p:nvPr/>
        </p:nvSpPr>
        <p:spPr>
          <a:xfrm>
            <a:off x="640080" y="5020056"/>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5</a:t>
            </a:r>
            <a:endParaRPr b="0" i="0" sz="1500" u="none" cap="none" strike="noStrike">
              <a:solidFill>
                <a:schemeClr val="dk1"/>
              </a:solidFill>
              <a:latin typeface="Calibri"/>
              <a:ea typeface="Calibri"/>
              <a:cs typeface="Calibri"/>
              <a:sym typeface="Calibri"/>
            </a:endParaRPr>
          </a:p>
        </p:txBody>
      </p:sp>
      <p:sp>
        <p:nvSpPr>
          <p:cNvPr id="208" name="Google Shape;208;p8"/>
          <p:cNvSpPr/>
          <p:nvPr/>
        </p:nvSpPr>
        <p:spPr>
          <a:xfrm>
            <a:off x="1152144" y="4946904"/>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Construir el dashboard de monitoreo y reportería con evidencia fotográfica y control por rol.</a:t>
            </a:r>
            <a:endParaRPr b="0" i="0" sz="1150" u="none" cap="none" strike="noStrike">
              <a:solidFill>
                <a:schemeClr val="dk1"/>
              </a:solidFill>
              <a:latin typeface="Calibri"/>
              <a:ea typeface="Calibri"/>
              <a:cs typeface="Calibri"/>
              <a:sym typeface="Calibri"/>
            </a:endParaRPr>
          </a:p>
        </p:txBody>
      </p:sp>
      <p:sp>
        <p:nvSpPr>
          <p:cNvPr id="209" name="Google Shape;209;p8"/>
          <p:cNvSpPr/>
          <p:nvPr/>
        </p:nvSpPr>
        <p:spPr>
          <a:xfrm>
            <a:off x="6263640" y="5020056"/>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8"/>
          <p:cNvSpPr/>
          <p:nvPr/>
        </p:nvSpPr>
        <p:spPr>
          <a:xfrm>
            <a:off x="6263640" y="5020056"/>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6</a:t>
            </a:r>
            <a:endParaRPr b="0" i="0" sz="1500" u="none" cap="none" strike="noStrike">
              <a:solidFill>
                <a:schemeClr val="dk1"/>
              </a:solidFill>
              <a:latin typeface="Calibri"/>
              <a:ea typeface="Calibri"/>
              <a:cs typeface="Calibri"/>
              <a:sym typeface="Calibri"/>
            </a:endParaRPr>
          </a:p>
        </p:txBody>
      </p:sp>
      <p:sp>
        <p:nvSpPr>
          <p:cNvPr id="211" name="Google Shape;211;p8"/>
          <p:cNvSpPr/>
          <p:nvPr/>
        </p:nvSpPr>
        <p:spPr>
          <a:xfrm>
            <a:off x="6775704" y="4946904"/>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Integrar las notificaciones remotas por SMS y correo hacia el prevencionista de riesgos.</a:t>
            </a:r>
            <a:endParaRPr b="0" i="0" sz="1150" u="none" cap="none" strike="noStrike">
              <a:solidFill>
                <a:schemeClr val="dk1"/>
              </a:solidFill>
              <a:latin typeface="Calibri"/>
              <a:ea typeface="Calibri"/>
              <a:cs typeface="Calibri"/>
              <a:sym typeface="Calibri"/>
            </a:endParaRPr>
          </a:p>
        </p:txBody>
      </p:sp>
      <p:sp>
        <p:nvSpPr>
          <p:cNvPr id="212" name="Google Shape;212;p8"/>
          <p:cNvSpPr/>
          <p:nvPr/>
        </p:nvSpPr>
        <p:spPr>
          <a:xfrm>
            <a:off x="640080" y="5769864"/>
            <a:ext cx="365760" cy="365760"/>
          </a:xfrm>
          <a:prstGeom prst="ellipse">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8"/>
          <p:cNvSpPr/>
          <p:nvPr/>
        </p:nvSpPr>
        <p:spPr>
          <a:xfrm>
            <a:off x="640080" y="5769864"/>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7</a:t>
            </a:r>
            <a:endParaRPr b="0" i="0" sz="1500" u="none" cap="none" strike="noStrike">
              <a:solidFill>
                <a:schemeClr val="dk1"/>
              </a:solidFill>
              <a:latin typeface="Calibri"/>
              <a:ea typeface="Calibri"/>
              <a:cs typeface="Calibri"/>
              <a:sym typeface="Calibri"/>
            </a:endParaRPr>
          </a:p>
        </p:txBody>
      </p:sp>
      <p:sp>
        <p:nvSpPr>
          <p:cNvPr id="214" name="Google Shape;214;p8"/>
          <p:cNvSpPr/>
          <p:nvPr/>
        </p:nvSpPr>
        <p:spPr>
          <a:xfrm>
            <a:off x="1152144" y="5696712"/>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Diseñar y aplicar el plan de pruebas de validación, y desarrollar las mejoras derivadas.</a:t>
            </a:r>
            <a:endParaRPr b="0" i="0" sz="1150" u="none" cap="none" strike="noStrike">
              <a:solidFill>
                <a:schemeClr val="dk1"/>
              </a:solidFill>
              <a:latin typeface="Calibri"/>
              <a:ea typeface="Calibri"/>
              <a:cs typeface="Calibri"/>
              <a:sym typeface="Calibri"/>
            </a:endParaRPr>
          </a:p>
        </p:txBody>
      </p:sp>
      <p:sp>
        <p:nvSpPr>
          <p:cNvPr id="215" name="Google Shape;215;p8"/>
          <p:cNvSpPr/>
          <p:nvPr/>
        </p:nvSpPr>
        <p:spPr>
          <a:xfrm>
            <a:off x="6263640" y="5769864"/>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8"/>
          <p:cNvSpPr/>
          <p:nvPr/>
        </p:nvSpPr>
        <p:spPr>
          <a:xfrm>
            <a:off x="6263640" y="5769864"/>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8</a:t>
            </a:r>
            <a:endParaRPr b="0" i="0" sz="1500" u="none" cap="none" strike="noStrike">
              <a:solidFill>
                <a:schemeClr val="dk1"/>
              </a:solidFill>
              <a:latin typeface="Calibri"/>
              <a:ea typeface="Calibri"/>
              <a:cs typeface="Calibri"/>
              <a:sym typeface="Calibri"/>
            </a:endParaRPr>
          </a:p>
        </p:txBody>
      </p:sp>
      <p:sp>
        <p:nvSpPr>
          <p:cNvPr id="217" name="Google Shape;217;p8"/>
          <p:cNvSpPr/>
          <p:nvPr/>
        </p:nvSpPr>
        <p:spPr>
          <a:xfrm>
            <a:off x="6775704" y="5696712"/>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Documentar arquitectura, modelo de datos y manual de operación, y defender el proyecto.</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9"/>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Metodología de trabajo</a:t>
            </a:r>
            <a:endParaRPr b="0" i="0" sz="3400" u="none" cap="none" strike="noStrike">
              <a:solidFill>
                <a:schemeClr val="dk1"/>
              </a:solidFill>
              <a:latin typeface="Calibri"/>
              <a:ea typeface="Calibri"/>
              <a:cs typeface="Calibri"/>
              <a:sym typeface="Calibri"/>
            </a:endParaRPr>
          </a:p>
        </p:txBody>
      </p:sp>
      <p:sp>
        <p:nvSpPr>
          <p:cNvPr id="224" name="Google Shape;224;p9"/>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Iterativa incremental, con ciclos quincenales alineados a los hitos</a:t>
            </a:r>
            <a:endParaRPr b="0" i="0" sz="1400" u="none" cap="none" strike="noStrike">
              <a:solidFill>
                <a:schemeClr val="dk1"/>
              </a:solidFill>
              <a:latin typeface="Calibri"/>
              <a:ea typeface="Calibri"/>
              <a:cs typeface="Calibri"/>
              <a:sym typeface="Calibri"/>
            </a:endParaRPr>
          </a:p>
        </p:txBody>
      </p:sp>
      <p:sp>
        <p:nvSpPr>
          <p:cNvPr id="225" name="Google Shape;225;p9"/>
          <p:cNvSpPr/>
          <p:nvPr/>
        </p:nvSpPr>
        <p:spPr>
          <a:xfrm>
            <a:off x="640075" y="1645926"/>
            <a:ext cx="5120700" cy="3557100"/>
          </a:xfrm>
          <a:prstGeom prst="roundRect">
            <a:avLst>
              <a:gd fmla="val 1905"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9"/>
          <p:cNvSpPr/>
          <p:nvPr/>
        </p:nvSpPr>
        <p:spPr>
          <a:xfrm>
            <a:off x="914400" y="1828800"/>
            <a:ext cx="4572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600"/>
              <a:buFont typeface="Cambria"/>
              <a:buNone/>
            </a:pPr>
            <a:r>
              <a:rPr b="1" i="0" lang="en-US" sz="1600" u="none" cap="none" strike="noStrike">
                <a:solidFill>
                  <a:srgbClr val="1B2A36"/>
                </a:solidFill>
                <a:latin typeface="Cambria"/>
                <a:ea typeface="Cambria"/>
                <a:cs typeface="Cambria"/>
                <a:sym typeface="Cambria"/>
              </a:rPr>
              <a:t>Por qué iterativa y no cascada</a:t>
            </a:r>
            <a:endParaRPr b="0" i="0" sz="1600" u="none" cap="none" strike="noStrike">
              <a:solidFill>
                <a:schemeClr val="dk1"/>
              </a:solidFill>
              <a:latin typeface="Calibri"/>
              <a:ea typeface="Calibri"/>
              <a:cs typeface="Calibri"/>
              <a:sym typeface="Calibri"/>
            </a:endParaRPr>
          </a:p>
        </p:txBody>
      </p:sp>
      <p:sp>
        <p:nvSpPr>
          <p:cNvPr id="227" name="Google Shape;227;p9"/>
          <p:cNvSpPr/>
          <p:nvPr/>
        </p:nvSpPr>
        <p:spPr>
          <a:xfrm>
            <a:off x="914400" y="2240280"/>
            <a:ext cx="4572000" cy="2194560"/>
          </a:xfrm>
          <a:prstGeom prst="rect">
            <a:avLst/>
          </a:prstGeom>
          <a:noFill/>
          <a:ln>
            <a:noFill/>
          </a:ln>
        </p:spPr>
        <p:txBody>
          <a:bodyPr anchorCtr="0" anchor="t" bIns="0" lIns="0" spcFirstLastPara="1" rIns="0" wrap="square" tIns="0">
            <a:noAutofit/>
          </a:bodyPr>
          <a:lstStyle/>
          <a:p>
            <a:pPr indent="0" lvl="0" marL="0" marR="0" rtl="0" algn="l">
              <a:lnSpc>
                <a:spcPct val="158333"/>
              </a:lnSpc>
              <a:spcBef>
                <a:spcPts val="0"/>
              </a:spcBef>
              <a:spcAft>
                <a:spcPts val="0"/>
              </a:spcAft>
              <a:buClr>
                <a:srgbClr val="5C6B77"/>
              </a:buClr>
              <a:buSzPts val="1200"/>
              <a:buFont typeface="Calibri"/>
              <a:buNone/>
            </a:pPr>
            <a:r>
              <a:rPr b="1" i="0" lang="en-US" sz="1200" u="none" cap="none" strike="noStrike">
                <a:solidFill>
                  <a:srgbClr val="5C6B77"/>
                </a:solidFill>
                <a:latin typeface="Calibri"/>
                <a:ea typeface="Calibri"/>
                <a:cs typeface="Calibri"/>
                <a:sym typeface="Calibri"/>
              </a:rPr>
              <a:t>El componente de IA </a:t>
            </a:r>
            <a:r>
              <a:rPr b="0" i="0" lang="en-US" sz="1200" u="none" cap="none" strike="noStrike">
                <a:solidFill>
                  <a:srgbClr val="5C6B77"/>
                </a:solidFill>
                <a:latin typeface="Calibri"/>
                <a:ea typeface="Calibri"/>
                <a:cs typeface="Calibri"/>
                <a:sym typeface="Calibri"/>
              </a:rPr>
              <a:t>exige ciclos de entrenamiento, medición y reentrenamiento que no se pueden planificar como una etapa única.</a:t>
            </a:r>
            <a:br>
              <a:rPr b="0" i="0" lang="en-US" sz="1200" u="none" cap="none" strike="noStrike">
                <a:solidFill>
                  <a:srgbClr val="5C6B77"/>
                </a:solidFill>
                <a:latin typeface="Calibri"/>
                <a:ea typeface="Calibri"/>
                <a:cs typeface="Calibri"/>
                <a:sym typeface="Calibri"/>
              </a:rPr>
            </a:br>
            <a:br>
              <a:rPr b="0" i="0" lang="en-US" sz="1200" u="none" cap="none" strike="noStrike">
                <a:solidFill>
                  <a:srgbClr val="5C6B77"/>
                </a:solidFill>
                <a:latin typeface="Calibri"/>
                <a:ea typeface="Calibri"/>
                <a:cs typeface="Calibri"/>
                <a:sym typeface="Calibri"/>
              </a:rPr>
            </a:br>
            <a:r>
              <a:rPr b="1" i="0" lang="en-US" sz="1200" u="none" cap="none" strike="noStrike">
                <a:solidFill>
                  <a:srgbClr val="5C6B77"/>
                </a:solidFill>
                <a:latin typeface="Calibri"/>
                <a:ea typeface="Calibri"/>
                <a:cs typeface="Calibri"/>
                <a:sym typeface="Calibri"/>
              </a:rPr>
              <a:t>El dispositivo de alerta </a:t>
            </a:r>
            <a:r>
              <a:rPr b="0" i="0" lang="en-US" sz="1200" u="none" cap="none" strike="noStrike">
                <a:solidFill>
                  <a:srgbClr val="5C6B77"/>
                </a:solidFill>
                <a:latin typeface="Calibri"/>
                <a:ea typeface="Calibri"/>
                <a:cs typeface="Calibri"/>
                <a:sym typeface="Calibri"/>
              </a:rPr>
              <a:t>depende de hardware cuya disponibilidad no está garantizada, por lo que se desarrolla primero contra un receptor simulado y se sustituye después sin rehacer lo construido.</a:t>
            </a:r>
            <a:br>
              <a:rPr b="0" i="0" lang="en-US" sz="1200" u="none" cap="none" strike="noStrike">
                <a:solidFill>
                  <a:srgbClr val="5C6B77"/>
                </a:solidFill>
                <a:latin typeface="Calibri"/>
                <a:ea typeface="Calibri"/>
                <a:cs typeface="Calibri"/>
                <a:sym typeface="Calibri"/>
              </a:rPr>
            </a:br>
            <a:br>
              <a:rPr b="0" i="0" lang="en-US" sz="1200" u="none" cap="none" strike="noStrike">
                <a:solidFill>
                  <a:srgbClr val="5C6B77"/>
                </a:solidFill>
                <a:latin typeface="Calibri"/>
                <a:ea typeface="Calibri"/>
                <a:cs typeface="Calibri"/>
                <a:sym typeface="Calibri"/>
              </a:rPr>
            </a:br>
            <a:r>
              <a:rPr b="0" i="1" lang="en-US" sz="1200" u="none" cap="none" strike="noStrike">
                <a:solidFill>
                  <a:srgbClr val="5C6B77"/>
                </a:solidFill>
                <a:latin typeface="Calibri"/>
                <a:ea typeface="Calibri"/>
                <a:cs typeface="Calibri"/>
                <a:sym typeface="Calibri"/>
              </a:rPr>
              <a:t>Cada ciclo cierra con un incremento demostrable —no con un documento— y una revisión que compara el avance real contra lo planificado.</a:t>
            </a:r>
            <a:endParaRPr b="0" i="0" sz="1200" u="none" cap="none" strike="noStrike">
              <a:solidFill>
                <a:schemeClr val="dk1"/>
              </a:solidFill>
              <a:latin typeface="Calibri"/>
              <a:ea typeface="Calibri"/>
              <a:cs typeface="Calibri"/>
              <a:sym typeface="Calibri"/>
            </a:endParaRPr>
          </a:p>
        </p:txBody>
      </p:sp>
      <p:sp>
        <p:nvSpPr>
          <p:cNvPr id="228" name="Google Shape;228;p9"/>
          <p:cNvSpPr/>
          <p:nvPr/>
        </p:nvSpPr>
        <p:spPr>
          <a:xfrm>
            <a:off x="6126480" y="1645920"/>
            <a:ext cx="4572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600"/>
              <a:buFont typeface="Cambria"/>
              <a:buNone/>
            </a:pPr>
            <a:r>
              <a:rPr b="1" i="0" lang="en-US" sz="1600" u="none" cap="none" strike="noStrike">
                <a:solidFill>
                  <a:srgbClr val="1B2A36"/>
                </a:solidFill>
                <a:latin typeface="Cambria"/>
                <a:ea typeface="Cambria"/>
                <a:cs typeface="Cambria"/>
                <a:sym typeface="Cambria"/>
              </a:rPr>
              <a:t>Etapas</a:t>
            </a:r>
            <a:endParaRPr b="0" i="0" sz="1600" u="none" cap="none" strike="noStrike">
              <a:solidFill>
                <a:schemeClr val="dk1"/>
              </a:solidFill>
              <a:latin typeface="Calibri"/>
              <a:ea typeface="Calibri"/>
              <a:cs typeface="Calibri"/>
              <a:sym typeface="Calibri"/>
            </a:endParaRPr>
          </a:p>
        </p:txBody>
      </p:sp>
      <p:sp>
        <p:nvSpPr>
          <p:cNvPr id="229" name="Google Shape;229;p9"/>
          <p:cNvSpPr/>
          <p:nvPr/>
        </p:nvSpPr>
        <p:spPr>
          <a:xfrm>
            <a:off x="6126480" y="212140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9"/>
          <p:cNvSpPr/>
          <p:nvPr/>
        </p:nvSpPr>
        <p:spPr>
          <a:xfrm>
            <a:off x="6126480" y="212140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1–4</a:t>
            </a:r>
            <a:endParaRPr b="0" i="0" sz="1050" u="none" cap="none" strike="noStrike">
              <a:solidFill>
                <a:schemeClr val="dk1"/>
              </a:solidFill>
              <a:latin typeface="Calibri"/>
              <a:ea typeface="Calibri"/>
              <a:cs typeface="Calibri"/>
              <a:sym typeface="Calibri"/>
            </a:endParaRPr>
          </a:p>
        </p:txBody>
      </p:sp>
      <p:sp>
        <p:nvSpPr>
          <p:cNvPr id="231" name="Google Shape;231;p9"/>
          <p:cNvSpPr/>
          <p:nvPr/>
        </p:nvSpPr>
        <p:spPr>
          <a:xfrm>
            <a:off x="7223760" y="209397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Definición y planificación</a:t>
            </a:r>
            <a:endParaRPr b="0" i="0" sz="1300" u="none" cap="none" strike="noStrike">
              <a:solidFill>
                <a:schemeClr val="dk1"/>
              </a:solidFill>
              <a:latin typeface="Calibri"/>
              <a:ea typeface="Calibri"/>
              <a:cs typeface="Calibri"/>
              <a:sym typeface="Calibri"/>
            </a:endParaRPr>
          </a:p>
        </p:txBody>
      </p:sp>
      <p:sp>
        <p:nvSpPr>
          <p:cNvPr id="232" name="Google Shape;232;p9"/>
          <p:cNvSpPr/>
          <p:nvPr/>
        </p:nvSpPr>
        <p:spPr>
          <a:xfrm>
            <a:off x="7223760" y="239572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Requerimientos, arquitectura, EDT, Gantt y riesgos.</a:t>
            </a:r>
            <a:endParaRPr b="0" i="0" sz="1100" u="none" cap="none" strike="noStrike">
              <a:solidFill>
                <a:schemeClr val="dk1"/>
              </a:solidFill>
              <a:latin typeface="Calibri"/>
              <a:ea typeface="Calibri"/>
              <a:cs typeface="Calibri"/>
              <a:sym typeface="Calibri"/>
            </a:endParaRPr>
          </a:p>
        </p:txBody>
      </p:sp>
      <p:sp>
        <p:nvSpPr>
          <p:cNvPr id="233" name="Google Shape;233;p9"/>
          <p:cNvSpPr/>
          <p:nvPr/>
        </p:nvSpPr>
        <p:spPr>
          <a:xfrm>
            <a:off x="6126480" y="289864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9"/>
          <p:cNvSpPr/>
          <p:nvPr/>
        </p:nvSpPr>
        <p:spPr>
          <a:xfrm>
            <a:off x="6126480" y="289864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5–10</a:t>
            </a:r>
            <a:endParaRPr b="0" i="0" sz="1050" u="none" cap="none" strike="noStrike">
              <a:solidFill>
                <a:schemeClr val="dk1"/>
              </a:solidFill>
              <a:latin typeface="Calibri"/>
              <a:ea typeface="Calibri"/>
              <a:cs typeface="Calibri"/>
              <a:sym typeface="Calibri"/>
            </a:endParaRPr>
          </a:p>
        </p:txBody>
      </p:sp>
      <p:sp>
        <p:nvSpPr>
          <p:cNvPr id="235" name="Google Shape;235;p9"/>
          <p:cNvSpPr/>
          <p:nvPr/>
        </p:nvSpPr>
        <p:spPr>
          <a:xfrm>
            <a:off x="7223760" y="287121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Construcción de componentes base</a:t>
            </a:r>
            <a:endParaRPr b="0" i="0" sz="1300" u="none" cap="none" strike="noStrike">
              <a:solidFill>
                <a:schemeClr val="dk1"/>
              </a:solidFill>
              <a:latin typeface="Calibri"/>
              <a:ea typeface="Calibri"/>
              <a:cs typeface="Calibri"/>
              <a:sym typeface="Calibri"/>
            </a:endParaRPr>
          </a:p>
        </p:txBody>
      </p:sp>
      <p:sp>
        <p:nvSpPr>
          <p:cNvPr id="236" name="Google Shape;236;p9"/>
          <p:cNvSpPr/>
          <p:nvPr/>
        </p:nvSpPr>
        <p:spPr>
          <a:xfrm>
            <a:off x="7223760" y="317296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Motor de IA, modelo de datos, agente Edge y API.</a:t>
            </a:r>
            <a:endParaRPr b="0" i="0" sz="1100" u="none" cap="none" strike="noStrike">
              <a:solidFill>
                <a:schemeClr val="dk1"/>
              </a:solidFill>
              <a:latin typeface="Calibri"/>
              <a:ea typeface="Calibri"/>
              <a:cs typeface="Calibri"/>
              <a:sym typeface="Calibri"/>
            </a:endParaRPr>
          </a:p>
        </p:txBody>
      </p:sp>
      <p:sp>
        <p:nvSpPr>
          <p:cNvPr id="237" name="Google Shape;237;p9"/>
          <p:cNvSpPr/>
          <p:nvPr/>
        </p:nvSpPr>
        <p:spPr>
          <a:xfrm>
            <a:off x="6126480" y="367588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9"/>
          <p:cNvSpPr/>
          <p:nvPr/>
        </p:nvSpPr>
        <p:spPr>
          <a:xfrm>
            <a:off x="6126480" y="367588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10–14</a:t>
            </a:r>
            <a:endParaRPr b="0" i="0" sz="1050" u="none" cap="none" strike="noStrike">
              <a:solidFill>
                <a:schemeClr val="dk1"/>
              </a:solidFill>
              <a:latin typeface="Calibri"/>
              <a:ea typeface="Calibri"/>
              <a:cs typeface="Calibri"/>
              <a:sym typeface="Calibri"/>
            </a:endParaRPr>
          </a:p>
        </p:txBody>
      </p:sp>
      <p:sp>
        <p:nvSpPr>
          <p:cNvPr id="239" name="Google Shape;239;p9"/>
          <p:cNvSpPr/>
          <p:nvPr/>
        </p:nvSpPr>
        <p:spPr>
          <a:xfrm>
            <a:off x="7223760" y="364845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Integración e interfaces</a:t>
            </a:r>
            <a:endParaRPr b="0" i="0" sz="1300" u="none" cap="none" strike="noStrike">
              <a:solidFill>
                <a:schemeClr val="dk1"/>
              </a:solidFill>
              <a:latin typeface="Calibri"/>
              <a:ea typeface="Calibri"/>
              <a:cs typeface="Calibri"/>
              <a:sym typeface="Calibri"/>
            </a:endParaRPr>
          </a:p>
        </p:txBody>
      </p:sp>
      <p:sp>
        <p:nvSpPr>
          <p:cNvPr id="240" name="Google Shape;240;p9"/>
          <p:cNvSpPr/>
          <p:nvPr/>
        </p:nvSpPr>
        <p:spPr>
          <a:xfrm>
            <a:off x="7223760" y="395020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Alerta física, dashboard, reportes y avisos remotos.</a:t>
            </a:r>
            <a:endParaRPr b="0" i="0" sz="1100" u="none" cap="none" strike="noStrike">
              <a:solidFill>
                <a:schemeClr val="dk1"/>
              </a:solidFill>
              <a:latin typeface="Calibri"/>
              <a:ea typeface="Calibri"/>
              <a:cs typeface="Calibri"/>
              <a:sym typeface="Calibri"/>
            </a:endParaRPr>
          </a:p>
        </p:txBody>
      </p:sp>
      <p:sp>
        <p:nvSpPr>
          <p:cNvPr id="241" name="Google Shape;241;p9"/>
          <p:cNvSpPr/>
          <p:nvPr/>
        </p:nvSpPr>
        <p:spPr>
          <a:xfrm>
            <a:off x="6126480" y="445312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9"/>
          <p:cNvSpPr/>
          <p:nvPr/>
        </p:nvSpPr>
        <p:spPr>
          <a:xfrm>
            <a:off x="6126480" y="445312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13–15</a:t>
            </a:r>
            <a:endParaRPr b="0" i="0" sz="1050" u="none" cap="none" strike="noStrike">
              <a:solidFill>
                <a:schemeClr val="dk1"/>
              </a:solidFill>
              <a:latin typeface="Calibri"/>
              <a:ea typeface="Calibri"/>
              <a:cs typeface="Calibri"/>
              <a:sym typeface="Calibri"/>
            </a:endParaRPr>
          </a:p>
        </p:txBody>
      </p:sp>
      <p:sp>
        <p:nvSpPr>
          <p:cNvPr id="243" name="Google Shape;243;p9"/>
          <p:cNvSpPr/>
          <p:nvPr/>
        </p:nvSpPr>
        <p:spPr>
          <a:xfrm>
            <a:off x="7223760" y="442569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Validación y cierre</a:t>
            </a:r>
            <a:endParaRPr b="0" i="0" sz="1300" u="none" cap="none" strike="noStrike">
              <a:solidFill>
                <a:schemeClr val="dk1"/>
              </a:solidFill>
              <a:latin typeface="Calibri"/>
              <a:ea typeface="Calibri"/>
              <a:cs typeface="Calibri"/>
              <a:sym typeface="Calibri"/>
            </a:endParaRPr>
          </a:p>
        </p:txBody>
      </p:sp>
      <p:sp>
        <p:nvSpPr>
          <p:cNvPr id="244" name="Google Shape;244;p9"/>
          <p:cNvSpPr/>
          <p:nvPr/>
        </p:nvSpPr>
        <p:spPr>
          <a:xfrm>
            <a:off x="7223760" y="472744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Plan de pruebas, mejoras e informe técnico.</a:t>
            </a:r>
            <a:endParaRPr b="0" i="0" sz="1100" u="none" cap="none" strike="noStrike">
              <a:solidFill>
                <a:schemeClr val="dk1"/>
              </a:solidFill>
              <a:latin typeface="Calibri"/>
              <a:ea typeface="Calibri"/>
              <a:cs typeface="Calibri"/>
              <a:sym typeface="Calibri"/>
            </a:endParaRPr>
          </a:p>
        </p:txBody>
      </p:sp>
      <p:sp>
        <p:nvSpPr>
          <p:cNvPr id="245" name="Google Shape;245;p9"/>
          <p:cNvSpPr/>
          <p:nvPr/>
        </p:nvSpPr>
        <p:spPr>
          <a:xfrm>
            <a:off x="6126480" y="523036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9"/>
          <p:cNvSpPr/>
          <p:nvPr/>
        </p:nvSpPr>
        <p:spPr>
          <a:xfrm>
            <a:off x="6126480" y="523036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16–18</a:t>
            </a:r>
            <a:endParaRPr b="0" i="0" sz="1050" u="none" cap="none" strike="noStrike">
              <a:solidFill>
                <a:schemeClr val="dk1"/>
              </a:solidFill>
              <a:latin typeface="Calibri"/>
              <a:ea typeface="Calibri"/>
              <a:cs typeface="Calibri"/>
              <a:sym typeface="Calibri"/>
            </a:endParaRPr>
          </a:p>
        </p:txBody>
      </p:sp>
      <p:sp>
        <p:nvSpPr>
          <p:cNvPr id="247" name="Google Shape;247;p9"/>
          <p:cNvSpPr/>
          <p:nvPr/>
        </p:nvSpPr>
        <p:spPr>
          <a:xfrm>
            <a:off x="7223760" y="520293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Presentación y defensa</a:t>
            </a:r>
            <a:endParaRPr b="0" i="0" sz="1300" u="none" cap="none" strike="noStrike">
              <a:solidFill>
                <a:schemeClr val="dk1"/>
              </a:solidFill>
              <a:latin typeface="Calibri"/>
              <a:ea typeface="Calibri"/>
              <a:cs typeface="Calibri"/>
              <a:sym typeface="Calibri"/>
            </a:endParaRPr>
          </a:p>
        </p:txBody>
      </p:sp>
      <p:sp>
        <p:nvSpPr>
          <p:cNvPr id="248" name="Google Shape;248;p9"/>
          <p:cNvSpPr/>
          <p:nvPr/>
        </p:nvSpPr>
        <p:spPr>
          <a:xfrm>
            <a:off x="7223760" y="550468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Reflexión, demostración y defensa final.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0"/>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Plan de trabajo y carta Gantt</a:t>
            </a:r>
            <a:endParaRPr b="0" i="0" sz="3400" u="none" cap="none" strike="noStrike">
              <a:solidFill>
                <a:schemeClr val="dk1"/>
              </a:solidFill>
              <a:latin typeface="Calibri"/>
              <a:ea typeface="Calibri"/>
              <a:cs typeface="Calibri"/>
              <a:sym typeface="Calibri"/>
            </a:endParaRPr>
          </a:p>
        </p:txBody>
      </p:sp>
      <p:sp>
        <p:nvSpPr>
          <p:cNvPr id="255" name="Google Shape;255;p10"/>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18 semanas · 10 de agosto al 12 de diciembre de 2026</a:t>
            </a:r>
            <a:endParaRPr b="0" i="0" sz="1400" u="none" cap="none" strike="noStrike">
              <a:solidFill>
                <a:schemeClr val="dk1"/>
              </a:solidFill>
              <a:latin typeface="Calibri"/>
              <a:ea typeface="Calibri"/>
              <a:cs typeface="Calibri"/>
              <a:sym typeface="Calibri"/>
            </a:endParaRPr>
          </a:p>
        </p:txBody>
      </p:sp>
      <p:sp>
        <p:nvSpPr>
          <p:cNvPr id="256" name="Google Shape;256;p10"/>
          <p:cNvSpPr/>
          <p:nvPr/>
        </p:nvSpPr>
        <p:spPr>
          <a:xfrm>
            <a:off x="640080" y="1691640"/>
            <a:ext cx="2212848" cy="566928"/>
          </a:xfrm>
          <a:prstGeom prst="roundRect">
            <a:avLst>
              <a:gd fmla="val 9677" name="adj"/>
            </a:avLst>
          </a:prstGeom>
          <a:solidFill>
            <a:srgbClr val="1F4E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0"/>
          <p:cNvSpPr/>
          <p:nvPr/>
        </p:nvSpPr>
        <p:spPr>
          <a:xfrm>
            <a:off x="640080" y="1691640"/>
            <a:ext cx="2212848"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Fase 1 · Definición   S 1–4</a:t>
            </a:r>
            <a:endParaRPr b="0" i="0" sz="1200" u="none" cap="none" strike="noStrike">
              <a:solidFill>
                <a:schemeClr val="dk1"/>
              </a:solidFill>
              <a:latin typeface="Calibri"/>
              <a:ea typeface="Calibri"/>
              <a:cs typeface="Calibri"/>
              <a:sym typeface="Calibri"/>
            </a:endParaRPr>
          </a:p>
        </p:txBody>
      </p:sp>
      <p:sp>
        <p:nvSpPr>
          <p:cNvPr id="258" name="Google Shape;258;p10"/>
          <p:cNvSpPr/>
          <p:nvPr/>
        </p:nvSpPr>
        <p:spPr>
          <a:xfrm>
            <a:off x="2944368" y="1691640"/>
            <a:ext cx="6080760" cy="566928"/>
          </a:xfrm>
          <a:prstGeom prst="roundRect">
            <a:avLst>
              <a:gd fmla="val 9677"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0"/>
          <p:cNvSpPr/>
          <p:nvPr/>
        </p:nvSpPr>
        <p:spPr>
          <a:xfrm>
            <a:off x="2944368" y="1691640"/>
            <a:ext cx="608076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Fase 2 · Desarrollo   S 5–15</a:t>
            </a:r>
            <a:endParaRPr b="0" i="0" sz="1200" u="none" cap="none" strike="noStrike">
              <a:solidFill>
                <a:schemeClr val="dk1"/>
              </a:solidFill>
              <a:latin typeface="Calibri"/>
              <a:ea typeface="Calibri"/>
              <a:cs typeface="Calibri"/>
              <a:sym typeface="Calibri"/>
            </a:endParaRPr>
          </a:p>
        </p:txBody>
      </p:sp>
      <p:sp>
        <p:nvSpPr>
          <p:cNvPr id="260" name="Google Shape;260;p10"/>
          <p:cNvSpPr/>
          <p:nvPr/>
        </p:nvSpPr>
        <p:spPr>
          <a:xfrm>
            <a:off x="9116568" y="1691640"/>
            <a:ext cx="2404872" cy="566928"/>
          </a:xfrm>
          <a:prstGeom prst="roundRect">
            <a:avLst>
              <a:gd fmla="val 9677" name="adj"/>
            </a:avLst>
          </a:prstGeom>
          <a:solidFill>
            <a:srgbClr val="9DC3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0"/>
          <p:cNvSpPr/>
          <p:nvPr/>
        </p:nvSpPr>
        <p:spPr>
          <a:xfrm>
            <a:off x="9116568" y="1691640"/>
            <a:ext cx="2404872"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23A52"/>
              </a:buClr>
              <a:buSzPts val="1200"/>
              <a:buFont typeface="Calibri"/>
              <a:buNone/>
            </a:pPr>
            <a:r>
              <a:rPr b="1" i="0" lang="en-US" sz="1200" u="none" cap="none" strike="noStrike">
                <a:solidFill>
                  <a:srgbClr val="123A52"/>
                </a:solidFill>
                <a:latin typeface="Calibri"/>
                <a:ea typeface="Calibri"/>
                <a:cs typeface="Calibri"/>
                <a:sym typeface="Calibri"/>
              </a:rPr>
              <a:t>Fase 3 · Presentación   S 16–18</a:t>
            </a:r>
            <a:endParaRPr b="0" i="0" sz="1200" u="none" cap="none" strike="noStrike">
              <a:solidFill>
                <a:schemeClr val="dk1"/>
              </a:solidFill>
              <a:latin typeface="Calibri"/>
              <a:ea typeface="Calibri"/>
              <a:cs typeface="Calibri"/>
              <a:sym typeface="Calibri"/>
            </a:endParaRPr>
          </a:p>
        </p:txBody>
      </p:sp>
      <p:sp>
        <p:nvSpPr>
          <p:cNvPr id="262" name="Google Shape;262;p10"/>
          <p:cNvSpPr/>
          <p:nvPr/>
        </p:nvSpPr>
        <p:spPr>
          <a:xfrm>
            <a:off x="640080" y="2468880"/>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Definición y planificación</a:t>
            </a:r>
            <a:endParaRPr b="0" i="0" sz="1050" u="none" cap="none" strike="noStrike">
              <a:solidFill>
                <a:schemeClr val="dk1"/>
              </a:solidFill>
              <a:latin typeface="Calibri"/>
              <a:ea typeface="Calibri"/>
              <a:cs typeface="Calibri"/>
              <a:sym typeface="Calibri"/>
            </a:endParaRPr>
          </a:p>
        </p:txBody>
      </p:sp>
      <p:sp>
        <p:nvSpPr>
          <p:cNvPr id="263" name="Google Shape;263;p10"/>
          <p:cNvSpPr/>
          <p:nvPr/>
        </p:nvSpPr>
        <p:spPr>
          <a:xfrm>
            <a:off x="4709160" y="2487168"/>
            <a:ext cx="1477264" cy="256032"/>
          </a:xfrm>
          <a:prstGeom prst="roundRect">
            <a:avLst>
              <a:gd fmla="val 35714" name="adj"/>
            </a:avLst>
          </a:prstGeom>
          <a:solidFill>
            <a:srgbClr val="1F4E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0"/>
          <p:cNvSpPr/>
          <p:nvPr/>
        </p:nvSpPr>
        <p:spPr>
          <a:xfrm>
            <a:off x="640080" y="2852928"/>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Dataset · entrenamiento y validación YOLOv8</a:t>
            </a:r>
            <a:endParaRPr b="0" i="0" sz="1050" u="none" cap="none" strike="noStrike">
              <a:solidFill>
                <a:schemeClr val="dk1"/>
              </a:solidFill>
              <a:latin typeface="Calibri"/>
              <a:ea typeface="Calibri"/>
              <a:cs typeface="Calibri"/>
              <a:sym typeface="Calibri"/>
            </a:endParaRPr>
          </a:p>
        </p:txBody>
      </p:sp>
      <p:sp>
        <p:nvSpPr>
          <p:cNvPr id="265" name="Google Shape;265;p10"/>
          <p:cNvSpPr/>
          <p:nvPr/>
        </p:nvSpPr>
        <p:spPr>
          <a:xfrm>
            <a:off x="6223000" y="2871216"/>
            <a:ext cx="109880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0"/>
          <p:cNvSpPr/>
          <p:nvPr/>
        </p:nvSpPr>
        <p:spPr>
          <a:xfrm>
            <a:off x="640080" y="3236976"/>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Modelo de datos PostgreSQL</a:t>
            </a:r>
            <a:endParaRPr b="0" i="0" sz="1050" u="none" cap="none" strike="noStrike">
              <a:solidFill>
                <a:schemeClr val="dk1"/>
              </a:solidFill>
              <a:latin typeface="Calibri"/>
              <a:ea typeface="Calibri"/>
              <a:cs typeface="Calibri"/>
              <a:sym typeface="Calibri"/>
            </a:endParaRPr>
          </a:p>
        </p:txBody>
      </p:sp>
      <p:sp>
        <p:nvSpPr>
          <p:cNvPr id="267" name="Google Shape;267;p10"/>
          <p:cNvSpPr/>
          <p:nvPr/>
        </p:nvSpPr>
        <p:spPr>
          <a:xfrm>
            <a:off x="6601460" y="3255264"/>
            <a:ext cx="72034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0"/>
          <p:cNvSpPr/>
          <p:nvPr/>
        </p:nvSpPr>
        <p:spPr>
          <a:xfrm>
            <a:off x="640080" y="3621024"/>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Agente Edge (RTSP) y API REST</a:t>
            </a:r>
            <a:endParaRPr b="0" i="0" sz="1050" u="none" cap="none" strike="noStrike">
              <a:solidFill>
                <a:schemeClr val="dk1"/>
              </a:solidFill>
              <a:latin typeface="Calibri"/>
              <a:ea typeface="Calibri"/>
              <a:cs typeface="Calibri"/>
              <a:sym typeface="Calibri"/>
            </a:endParaRPr>
          </a:p>
        </p:txBody>
      </p:sp>
      <p:sp>
        <p:nvSpPr>
          <p:cNvPr id="269" name="Google Shape;269;p10"/>
          <p:cNvSpPr/>
          <p:nvPr/>
        </p:nvSpPr>
        <p:spPr>
          <a:xfrm>
            <a:off x="6979920" y="3639312"/>
            <a:ext cx="147726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0"/>
          <p:cNvSpPr/>
          <p:nvPr/>
        </p:nvSpPr>
        <p:spPr>
          <a:xfrm>
            <a:off x="640080" y="4005072"/>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Subsistema de alerta física por IP</a:t>
            </a:r>
            <a:endParaRPr b="0" i="0" sz="1050" u="none" cap="none" strike="noStrike">
              <a:solidFill>
                <a:schemeClr val="dk1"/>
              </a:solidFill>
              <a:latin typeface="Calibri"/>
              <a:ea typeface="Calibri"/>
              <a:cs typeface="Calibri"/>
              <a:sym typeface="Calibri"/>
            </a:endParaRPr>
          </a:p>
        </p:txBody>
      </p:sp>
      <p:sp>
        <p:nvSpPr>
          <p:cNvPr id="271" name="Google Shape;271;p10"/>
          <p:cNvSpPr/>
          <p:nvPr/>
        </p:nvSpPr>
        <p:spPr>
          <a:xfrm>
            <a:off x="8115300" y="4023360"/>
            <a:ext cx="109880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0"/>
          <p:cNvSpPr/>
          <p:nvPr/>
        </p:nvSpPr>
        <p:spPr>
          <a:xfrm>
            <a:off x="640080" y="4389120"/>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Dashboard web y motor de reportes</a:t>
            </a:r>
            <a:endParaRPr b="0" i="0" sz="1050" u="none" cap="none" strike="noStrike">
              <a:solidFill>
                <a:schemeClr val="dk1"/>
              </a:solidFill>
              <a:latin typeface="Calibri"/>
              <a:ea typeface="Calibri"/>
              <a:cs typeface="Calibri"/>
              <a:sym typeface="Calibri"/>
            </a:endParaRPr>
          </a:p>
        </p:txBody>
      </p:sp>
      <p:sp>
        <p:nvSpPr>
          <p:cNvPr id="273" name="Google Shape;273;p10"/>
          <p:cNvSpPr/>
          <p:nvPr/>
        </p:nvSpPr>
        <p:spPr>
          <a:xfrm>
            <a:off x="8493760" y="4407408"/>
            <a:ext cx="109880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0"/>
          <p:cNvSpPr/>
          <p:nvPr/>
        </p:nvSpPr>
        <p:spPr>
          <a:xfrm>
            <a:off x="640080" y="4773168"/>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Alertas remotas SMS / correo</a:t>
            </a:r>
            <a:endParaRPr b="0" i="0" sz="1050" u="none" cap="none" strike="noStrike">
              <a:solidFill>
                <a:schemeClr val="dk1"/>
              </a:solidFill>
              <a:latin typeface="Calibri"/>
              <a:ea typeface="Calibri"/>
              <a:cs typeface="Calibri"/>
              <a:sym typeface="Calibri"/>
            </a:endParaRPr>
          </a:p>
        </p:txBody>
      </p:sp>
      <p:sp>
        <p:nvSpPr>
          <p:cNvPr id="275" name="Google Shape;275;p10"/>
          <p:cNvSpPr/>
          <p:nvPr/>
        </p:nvSpPr>
        <p:spPr>
          <a:xfrm>
            <a:off x="9250680" y="4791456"/>
            <a:ext cx="72034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0"/>
          <p:cNvSpPr/>
          <p:nvPr/>
        </p:nvSpPr>
        <p:spPr>
          <a:xfrm>
            <a:off x="640080" y="5157216"/>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Plan de pruebas de validación y mejoras</a:t>
            </a:r>
            <a:endParaRPr b="0" i="0" sz="1050" u="none" cap="none" strike="noStrike">
              <a:solidFill>
                <a:schemeClr val="dk1"/>
              </a:solidFill>
              <a:latin typeface="Calibri"/>
              <a:ea typeface="Calibri"/>
              <a:cs typeface="Calibri"/>
              <a:sym typeface="Calibri"/>
            </a:endParaRPr>
          </a:p>
        </p:txBody>
      </p:sp>
      <p:sp>
        <p:nvSpPr>
          <p:cNvPr id="277" name="Google Shape;277;p10"/>
          <p:cNvSpPr/>
          <p:nvPr/>
        </p:nvSpPr>
        <p:spPr>
          <a:xfrm>
            <a:off x="9250680" y="5175504"/>
            <a:ext cx="1098804" cy="256032"/>
          </a:xfrm>
          <a:prstGeom prst="roundRect">
            <a:avLst>
              <a:gd fmla="val 35714" name="adj"/>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640080" y="5541264"/>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Preparación y defensa</a:t>
            </a:r>
            <a:endParaRPr b="0" i="0" sz="1050" u="none" cap="none" strike="noStrike">
              <a:solidFill>
                <a:schemeClr val="dk1"/>
              </a:solidFill>
              <a:latin typeface="Calibri"/>
              <a:ea typeface="Calibri"/>
              <a:cs typeface="Calibri"/>
              <a:sym typeface="Calibri"/>
            </a:endParaRPr>
          </a:p>
        </p:txBody>
      </p:sp>
      <p:sp>
        <p:nvSpPr>
          <p:cNvPr id="279" name="Google Shape;279;p10"/>
          <p:cNvSpPr/>
          <p:nvPr/>
        </p:nvSpPr>
        <p:spPr>
          <a:xfrm>
            <a:off x="10386060" y="5559552"/>
            <a:ext cx="1098804" cy="256032"/>
          </a:xfrm>
          <a:prstGeom prst="roundRect">
            <a:avLst>
              <a:gd fmla="val 35714" name="adj"/>
            </a:avLst>
          </a:prstGeom>
          <a:solidFill>
            <a:srgbClr val="9DC3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0"/>
          <p:cNvSpPr/>
          <p:nvPr/>
        </p:nvSpPr>
        <p:spPr>
          <a:xfrm>
            <a:off x="6027369" y="2450592"/>
            <a:ext cx="12802" cy="3703320"/>
          </a:xfrm>
          <a:prstGeom prst="rect">
            <a:avLst/>
          </a:prstGeom>
          <a:solidFill>
            <a:srgbClr val="E4C4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0"/>
          <p:cNvSpPr/>
          <p:nvPr/>
        </p:nvSpPr>
        <p:spPr>
          <a:xfrm>
            <a:off x="5805170" y="6053328"/>
            <a:ext cx="457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282" name="Google Shape;282;p10"/>
          <p:cNvSpPr/>
          <p:nvPr/>
        </p:nvSpPr>
        <p:spPr>
          <a:xfrm>
            <a:off x="8298129" y="2450592"/>
            <a:ext cx="12802" cy="3703320"/>
          </a:xfrm>
          <a:prstGeom prst="rect">
            <a:avLst/>
          </a:prstGeom>
          <a:solidFill>
            <a:srgbClr val="E4C4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0"/>
          <p:cNvSpPr/>
          <p:nvPr/>
        </p:nvSpPr>
        <p:spPr>
          <a:xfrm>
            <a:off x="8075930" y="6053328"/>
            <a:ext cx="457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284" name="Google Shape;284;p10"/>
          <p:cNvSpPr/>
          <p:nvPr/>
        </p:nvSpPr>
        <p:spPr>
          <a:xfrm>
            <a:off x="10190429" y="2450592"/>
            <a:ext cx="12802" cy="3703320"/>
          </a:xfrm>
          <a:prstGeom prst="rect">
            <a:avLst/>
          </a:prstGeom>
          <a:solidFill>
            <a:srgbClr val="E4C4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0"/>
          <p:cNvSpPr/>
          <p:nvPr/>
        </p:nvSpPr>
        <p:spPr>
          <a:xfrm>
            <a:off x="9968230" y="6053328"/>
            <a:ext cx="457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286" name="Google Shape;286;p10"/>
          <p:cNvSpPr/>
          <p:nvPr/>
        </p:nvSpPr>
        <p:spPr>
          <a:xfrm>
            <a:off x="11325809" y="2450592"/>
            <a:ext cx="12802" cy="3703320"/>
          </a:xfrm>
          <a:prstGeom prst="rect">
            <a:avLst/>
          </a:prstGeom>
          <a:solidFill>
            <a:srgbClr val="E4C4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0"/>
          <p:cNvSpPr/>
          <p:nvPr/>
        </p:nvSpPr>
        <p:spPr>
          <a:xfrm>
            <a:off x="11103610" y="6053328"/>
            <a:ext cx="457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288" name="Google Shape;288;p10"/>
          <p:cNvSpPr/>
          <p:nvPr/>
        </p:nvSpPr>
        <p:spPr>
          <a:xfrm>
            <a:off x="640080" y="6263640"/>
            <a:ext cx="108813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  Hitos evaluativos: Semana 4 presentación · Semana 10 avance · Semana 15 entrega final · Semanas 17-18 defensa</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3" name="Shape 293"/>
        <p:cNvGrpSpPr/>
        <p:nvPr/>
      </p:nvGrpSpPr>
      <p:grpSpPr>
        <a:xfrm>
          <a:off x="0" y="0"/>
          <a:ext cx="0" cy="0"/>
          <a:chOff x="0" y="0"/>
          <a:chExt cx="0" cy="0"/>
        </a:xfrm>
      </p:grpSpPr>
      <p:sp>
        <p:nvSpPr>
          <p:cNvPr id="294" name="Google Shape;294;p11"/>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Evidencias comprometidas</a:t>
            </a:r>
            <a:endParaRPr b="0" i="0" sz="3400" u="none" cap="none" strike="noStrike">
              <a:solidFill>
                <a:schemeClr val="dk1"/>
              </a:solidFill>
              <a:latin typeface="Calibri"/>
              <a:ea typeface="Calibri"/>
              <a:cs typeface="Calibri"/>
              <a:sym typeface="Calibri"/>
            </a:endParaRPr>
          </a:p>
        </p:txBody>
      </p:sp>
      <p:sp>
        <p:nvSpPr>
          <p:cNvPr id="295" name="Google Shape;295;p11"/>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Qué entregamos y </a:t>
            </a:r>
            <a:r>
              <a:rPr lang="en-US">
                <a:solidFill>
                  <a:srgbClr val="5C6B77"/>
                </a:solidFill>
                <a:latin typeface="Calibri"/>
                <a:ea typeface="Calibri"/>
                <a:cs typeface="Calibri"/>
                <a:sym typeface="Calibri"/>
              </a:rPr>
              <a:t>que</a:t>
            </a:r>
            <a:r>
              <a:rPr b="0" i="0" lang="en-US" sz="1400" u="none" cap="none" strike="noStrike">
                <a:solidFill>
                  <a:srgbClr val="5C6B77"/>
                </a:solidFill>
                <a:latin typeface="Calibri"/>
                <a:ea typeface="Calibri"/>
                <a:cs typeface="Calibri"/>
                <a:sym typeface="Calibri"/>
              </a:rPr>
              <a:t> demuestra cada entrega</a:t>
            </a:r>
            <a:endParaRPr b="0" i="0" sz="1400" u="none" cap="none" strike="noStrike">
              <a:solidFill>
                <a:schemeClr val="dk1"/>
              </a:solidFill>
              <a:latin typeface="Calibri"/>
              <a:ea typeface="Calibri"/>
              <a:cs typeface="Calibri"/>
              <a:sym typeface="Calibri"/>
            </a:endParaRPr>
          </a:p>
        </p:txBody>
      </p:sp>
      <p:sp>
        <p:nvSpPr>
          <p:cNvPr id="296" name="Google Shape;296;p11"/>
          <p:cNvSpPr/>
          <p:nvPr/>
        </p:nvSpPr>
        <p:spPr>
          <a:xfrm>
            <a:off x="640080" y="1645920"/>
            <a:ext cx="5349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1600"/>
              <a:buFont typeface="Cambria"/>
              <a:buNone/>
            </a:pPr>
            <a:r>
              <a:rPr b="1" i="0" lang="en-US" sz="1600" u="none" cap="none" strike="noStrike">
                <a:solidFill>
                  <a:srgbClr val="0B6E7A"/>
                </a:solidFill>
                <a:latin typeface="Cambria"/>
                <a:ea typeface="Cambria"/>
                <a:cs typeface="Cambria"/>
                <a:sym typeface="Cambria"/>
              </a:rPr>
              <a:t>Entrega de avance · Semana 10</a:t>
            </a:r>
            <a:endParaRPr b="0" i="0" sz="1600" u="none" cap="none" strike="noStrike">
              <a:solidFill>
                <a:schemeClr val="dk1"/>
              </a:solidFill>
              <a:latin typeface="Calibri"/>
              <a:ea typeface="Calibri"/>
              <a:cs typeface="Calibri"/>
              <a:sym typeface="Calibri"/>
            </a:endParaRPr>
          </a:p>
        </p:txBody>
      </p:sp>
      <p:sp>
        <p:nvSpPr>
          <p:cNvPr id="297" name="Google Shape;297;p11"/>
          <p:cNvSpPr/>
          <p:nvPr/>
        </p:nvSpPr>
        <p:spPr>
          <a:xfrm>
            <a:off x="6263640" y="1645920"/>
            <a:ext cx="5257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600"/>
              <a:buFont typeface="Cambria"/>
              <a:buNone/>
            </a:pPr>
            <a:r>
              <a:rPr b="1" i="0" lang="en-US" sz="1600" u="none" cap="none" strike="noStrike">
                <a:solidFill>
                  <a:srgbClr val="C2410C"/>
                </a:solidFill>
                <a:latin typeface="Cambria"/>
                <a:ea typeface="Cambria"/>
                <a:cs typeface="Cambria"/>
                <a:sym typeface="Cambria"/>
              </a:rPr>
              <a:t>Entrega final · Semana 15</a:t>
            </a:r>
            <a:endParaRPr b="0" i="0" sz="1600" u="none" cap="none" strike="noStrike">
              <a:solidFill>
                <a:schemeClr val="dk1"/>
              </a:solidFill>
              <a:latin typeface="Calibri"/>
              <a:ea typeface="Calibri"/>
              <a:cs typeface="Calibri"/>
              <a:sym typeface="Calibri"/>
            </a:endParaRPr>
          </a:p>
        </p:txBody>
      </p:sp>
      <p:sp>
        <p:nvSpPr>
          <p:cNvPr id="298" name="Google Shape;298;p11"/>
          <p:cNvSpPr/>
          <p:nvPr/>
        </p:nvSpPr>
        <p:spPr>
          <a:xfrm>
            <a:off x="640080" y="2103120"/>
            <a:ext cx="5257800" cy="868680"/>
          </a:xfrm>
          <a:prstGeom prst="roundRect">
            <a:avLst>
              <a:gd fmla="val 6316"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1"/>
          <p:cNvSpPr/>
          <p:nvPr/>
        </p:nvSpPr>
        <p:spPr>
          <a:xfrm>
            <a:off x="896112" y="219456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Motor de IA entrenado</a:t>
            </a:r>
            <a:endParaRPr b="0" i="0" sz="1250" u="none" cap="none" strike="noStrike">
              <a:solidFill>
                <a:schemeClr val="dk1"/>
              </a:solidFill>
              <a:latin typeface="Calibri"/>
              <a:ea typeface="Calibri"/>
              <a:cs typeface="Calibri"/>
              <a:sym typeface="Calibri"/>
            </a:endParaRPr>
          </a:p>
        </p:txBody>
      </p:sp>
      <p:sp>
        <p:nvSpPr>
          <p:cNvPr id="300" name="Google Shape;300;p11"/>
          <p:cNvSpPr/>
          <p:nvPr/>
        </p:nvSpPr>
        <p:spPr>
          <a:xfrm>
            <a:off x="896112" y="246888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Modelo YOLOv8 con matriz de confusión y mAP por clase, exportado a ONNX.</a:t>
            </a:r>
            <a:endParaRPr b="0" i="0" sz="1050" u="none" cap="none" strike="noStrike">
              <a:solidFill>
                <a:schemeClr val="dk1"/>
              </a:solidFill>
              <a:latin typeface="Calibri"/>
              <a:ea typeface="Calibri"/>
              <a:cs typeface="Calibri"/>
              <a:sym typeface="Calibri"/>
            </a:endParaRPr>
          </a:p>
        </p:txBody>
      </p:sp>
      <p:sp>
        <p:nvSpPr>
          <p:cNvPr id="301" name="Google Shape;301;p11"/>
          <p:cNvSpPr/>
          <p:nvPr/>
        </p:nvSpPr>
        <p:spPr>
          <a:xfrm>
            <a:off x="640080" y="3108960"/>
            <a:ext cx="5257800" cy="868680"/>
          </a:xfrm>
          <a:prstGeom prst="roundRect">
            <a:avLst>
              <a:gd fmla="val 6316"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1"/>
          <p:cNvSpPr/>
          <p:nvPr/>
        </p:nvSpPr>
        <p:spPr>
          <a:xfrm>
            <a:off x="896112" y="320040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Esquema de datos implementado</a:t>
            </a:r>
            <a:endParaRPr b="0" i="0" sz="1250" u="none" cap="none" strike="noStrike">
              <a:solidFill>
                <a:schemeClr val="dk1"/>
              </a:solidFill>
              <a:latin typeface="Calibri"/>
              <a:ea typeface="Calibri"/>
              <a:cs typeface="Calibri"/>
              <a:sym typeface="Calibri"/>
            </a:endParaRPr>
          </a:p>
        </p:txBody>
      </p:sp>
      <p:sp>
        <p:nvSpPr>
          <p:cNvPr id="303" name="Google Shape;303;p11"/>
          <p:cNvSpPr/>
          <p:nvPr/>
        </p:nvSpPr>
        <p:spPr>
          <a:xfrm>
            <a:off x="896112" y="347472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PostgreSQL con migraciones versionadas e índices por zona y fecha.</a:t>
            </a:r>
            <a:endParaRPr b="0" i="0" sz="1050" u="none" cap="none" strike="noStrike">
              <a:solidFill>
                <a:schemeClr val="dk1"/>
              </a:solidFill>
              <a:latin typeface="Calibri"/>
              <a:ea typeface="Calibri"/>
              <a:cs typeface="Calibri"/>
              <a:sym typeface="Calibri"/>
            </a:endParaRPr>
          </a:p>
        </p:txBody>
      </p:sp>
      <p:sp>
        <p:nvSpPr>
          <p:cNvPr id="304" name="Google Shape;304;p11"/>
          <p:cNvSpPr/>
          <p:nvPr/>
        </p:nvSpPr>
        <p:spPr>
          <a:xfrm>
            <a:off x="640080" y="4114800"/>
            <a:ext cx="5257800" cy="868680"/>
          </a:xfrm>
          <a:prstGeom prst="roundRect">
            <a:avLst>
              <a:gd fmla="val 6316"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1"/>
          <p:cNvSpPr/>
          <p:nvPr/>
        </p:nvSpPr>
        <p:spPr>
          <a:xfrm>
            <a:off x="896112" y="420624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API REST operativa</a:t>
            </a:r>
            <a:endParaRPr b="0" i="0" sz="1250" u="none" cap="none" strike="noStrike">
              <a:solidFill>
                <a:schemeClr val="dk1"/>
              </a:solidFill>
              <a:latin typeface="Calibri"/>
              <a:ea typeface="Calibri"/>
              <a:cs typeface="Calibri"/>
              <a:sym typeface="Calibri"/>
            </a:endParaRPr>
          </a:p>
        </p:txBody>
      </p:sp>
      <p:sp>
        <p:nvSpPr>
          <p:cNvPr id="306" name="Google Shape;306;p11"/>
          <p:cNvSpPr/>
          <p:nvPr/>
        </p:nvSpPr>
        <p:spPr>
          <a:xfrm>
            <a:off x="896112" y="448056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Registro y consulta de incidentes, zonas y usuarios por rol.</a:t>
            </a:r>
            <a:endParaRPr b="0" i="0" sz="1050" u="none" cap="none" strike="noStrike">
              <a:solidFill>
                <a:schemeClr val="dk1"/>
              </a:solidFill>
              <a:latin typeface="Calibri"/>
              <a:ea typeface="Calibri"/>
              <a:cs typeface="Calibri"/>
              <a:sym typeface="Calibri"/>
            </a:endParaRPr>
          </a:p>
        </p:txBody>
      </p:sp>
      <p:sp>
        <p:nvSpPr>
          <p:cNvPr id="307" name="Google Shape;307;p11"/>
          <p:cNvSpPr/>
          <p:nvPr/>
        </p:nvSpPr>
        <p:spPr>
          <a:xfrm>
            <a:off x="640080" y="5120640"/>
            <a:ext cx="5257800" cy="868680"/>
          </a:xfrm>
          <a:prstGeom prst="roundRect">
            <a:avLst>
              <a:gd fmla="val 6316"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1"/>
          <p:cNvSpPr/>
          <p:nvPr/>
        </p:nvSpPr>
        <p:spPr>
          <a:xfrm>
            <a:off x="896112" y="521208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Informe de avance</a:t>
            </a:r>
            <a:endParaRPr b="0" i="0" sz="1250" u="none" cap="none" strike="noStrike">
              <a:solidFill>
                <a:schemeClr val="dk1"/>
              </a:solidFill>
              <a:latin typeface="Calibri"/>
              <a:ea typeface="Calibri"/>
              <a:cs typeface="Calibri"/>
              <a:sym typeface="Calibri"/>
            </a:endParaRPr>
          </a:p>
        </p:txBody>
      </p:sp>
      <p:sp>
        <p:nvSpPr>
          <p:cNvPr id="309" name="Google Shape;309;p11"/>
          <p:cNvSpPr/>
          <p:nvPr/>
        </p:nvSpPr>
        <p:spPr>
          <a:xfrm>
            <a:off x="896112" y="548640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Avance real contra lo planificado, desviaciones y ajustes al plan.</a:t>
            </a:r>
            <a:endParaRPr b="0" i="0" sz="1050" u="none" cap="none" strike="noStrike">
              <a:solidFill>
                <a:schemeClr val="dk1"/>
              </a:solidFill>
              <a:latin typeface="Calibri"/>
              <a:ea typeface="Calibri"/>
              <a:cs typeface="Calibri"/>
              <a:sym typeface="Calibri"/>
            </a:endParaRPr>
          </a:p>
        </p:txBody>
      </p:sp>
      <p:sp>
        <p:nvSpPr>
          <p:cNvPr id="310" name="Google Shape;310;p11"/>
          <p:cNvSpPr/>
          <p:nvPr/>
        </p:nvSpPr>
        <p:spPr>
          <a:xfrm>
            <a:off x="6263640" y="2103120"/>
            <a:ext cx="5257800" cy="868680"/>
          </a:xfrm>
          <a:prstGeom prst="roundRect">
            <a:avLst>
              <a:gd fmla="val 6316"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1"/>
          <p:cNvSpPr/>
          <p:nvPr/>
        </p:nvSpPr>
        <p:spPr>
          <a:xfrm>
            <a:off x="6519672" y="219456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Sistema integrado funcionando</a:t>
            </a:r>
            <a:endParaRPr b="0" i="0" sz="1250" u="none" cap="none" strike="noStrike">
              <a:solidFill>
                <a:schemeClr val="dk1"/>
              </a:solidFill>
              <a:latin typeface="Calibri"/>
              <a:ea typeface="Calibri"/>
              <a:cs typeface="Calibri"/>
              <a:sym typeface="Calibri"/>
            </a:endParaRPr>
          </a:p>
        </p:txBody>
      </p:sp>
      <p:sp>
        <p:nvSpPr>
          <p:cNvPr id="312" name="Google Shape;312;p11"/>
          <p:cNvSpPr/>
          <p:nvPr/>
        </p:nvSpPr>
        <p:spPr>
          <a:xfrm>
            <a:off x="6519672" y="246888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Detección, alerta física por IP, dashboard y notificación remota, de extremo a extremo.</a:t>
            </a:r>
            <a:endParaRPr b="0" i="0" sz="1050" u="none" cap="none" strike="noStrike">
              <a:solidFill>
                <a:schemeClr val="dk1"/>
              </a:solidFill>
              <a:latin typeface="Calibri"/>
              <a:ea typeface="Calibri"/>
              <a:cs typeface="Calibri"/>
              <a:sym typeface="Calibri"/>
            </a:endParaRPr>
          </a:p>
        </p:txBody>
      </p:sp>
      <p:sp>
        <p:nvSpPr>
          <p:cNvPr id="313" name="Google Shape;313;p11"/>
          <p:cNvSpPr/>
          <p:nvPr/>
        </p:nvSpPr>
        <p:spPr>
          <a:xfrm>
            <a:off x="6263640" y="3108960"/>
            <a:ext cx="5257800" cy="868680"/>
          </a:xfrm>
          <a:prstGeom prst="roundRect">
            <a:avLst>
              <a:gd fmla="val 6316"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1"/>
          <p:cNvSpPr/>
          <p:nvPr/>
        </p:nvSpPr>
        <p:spPr>
          <a:xfrm>
            <a:off x="6519672" y="320040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Informe de pruebas de validación</a:t>
            </a:r>
            <a:endParaRPr b="0" i="0" sz="1250" u="none" cap="none" strike="noStrike">
              <a:solidFill>
                <a:schemeClr val="dk1"/>
              </a:solidFill>
              <a:latin typeface="Calibri"/>
              <a:ea typeface="Calibri"/>
              <a:cs typeface="Calibri"/>
              <a:sym typeface="Calibri"/>
            </a:endParaRPr>
          </a:p>
        </p:txBody>
      </p:sp>
      <p:sp>
        <p:nvSpPr>
          <p:cNvPr id="315" name="Google Shape;315;p11"/>
          <p:cNvSpPr/>
          <p:nvPr/>
        </p:nvSpPr>
        <p:spPr>
          <a:xfrm>
            <a:off x="6519672" y="347472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Diseño, ejecución y resultados del plan, con las mejoras aplicadas.</a:t>
            </a:r>
            <a:endParaRPr b="0" i="0" sz="1050" u="none" cap="none" strike="noStrike">
              <a:solidFill>
                <a:schemeClr val="dk1"/>
              </a:solidFill>
              <a:latin typeface="Calibri"/>
              <a:ea typeface="Calibri"/>
              <a:cs typeface="Calibri"/>
              <a:sym typeface="Calibri"/>
            </a:endParaRPr>
          </a:p>
        </p:txBody>
      </p:sp>
      <p:sp>
        <p:nvSpPr>
          <p:cNvPr id="316" name="Google Shape;316;p11"/>
          <p:cNvSpPr/>
          <p:nvPr/>
        </p:nvSpPr>
        <p:spPr>
          <a:xfrm>
            <a:off x="6263640" y="4114800"/>
            <a:ext cx="5257800" cy="868680"/>
          </a:xfrm>
          <a:prstGeom prst="roundRect">
            <a:avLst>
              <a:gd fmla="val 6316"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1"/>
          <p:cNvSpPr/>
          <p:nvPr/>
        </p:nvSpPr>
        <p:spPr>
          <a:xfrm>
            <a:off x="6519672" y="420624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Informe técnico final</a:t>
            </a:r>
            <a:endParaRPr b="0" i="0" sz="1250" u="none" cap="none" strike="noStrike">
              <a:solidFill>
                <a:schemeClr val="dk1"/>
              </a:solidFill>
              <a:latin typeface="Calibri"/>
              <a:ea typeface="Calibri"/>
              <a:cs typeface="Calibri"/>
              <a:sym typeface="Calibri"/>
            </a:endParaRPr>
          </a:p>
        </p:txBody>
      </p:sp>
      <p:sp>
        <p:nvSpPr>
          <p:cNvPr id="318" name="Google Shape;318;p11"/>
          <p:cNvSpPr/>
          <p:nvPr/>
        </p:nvSpPr>
        <p:spPr>
          <a:xfrm>
            <a:off x="6519672" y="448056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Abstract bilingüe, desarrollo de ingeniería, conclusiones y reflexión.</a:t>
            </a:r>
            <a:endParaRPr b="0" i="0" sz="1050" u="none" cap="none" strike="noStrike">
              <a:solidFill>
                <a:schemeClr val="dk1"/>
              </a:solidFill>
              <a:latin typeface="Calibri"/>
              <a:ea typeface="Calibri"/>
              <a:cs typeface="Calibri"/>
              <a:sym typeface="Calibri"/>
            </a:endParaRPr>
          </a:p>
        </p:txBody>
      </p:sp>
      <p:sp>
        <p:nvSpPr>
          <p:cNvPr id="319" name="Google Shape;319;p11"/>
          <p:cNvSpPr/>
          <p:nvPr/>
        </p:nvSpPr>
        <p:spPr>
          <a:xfrm>
            <a:off x="6263640" y="5120640"/>
            <a:ext cx="5257800" cy="868680"/>
          </a:xfrm>
          <a:prstGeom prst="roundRect">
            <a:avLst>
              <a:gd fmla="val 6316"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1"/>
          <p:cNvSpPr/>
          <p:nvPr/>
        </p:nvSpPr>
        <p:spPr>
          <a:xfrm>
            <a:off x="6519672" y="521208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Manual de operación y traspaso</a:t>
            </a:r>
            <a:endParaRPr b="0" i="0" sz="1250" u="none" cap="none" strike="noStrike">
              <a:solidFill>
                <a:schemeClr val="dk1"/>
              </a:solidFill>
              <a:latin typeface="Calibri"/>
              <a:ea typeface="Calibri"/>
              <a:cs typeface="Calibri"/>
              <a:sym typeface="Calibri"/>
            </a:endParaRPr>
          </a:p>
        </p:txBody>
      </p:sp>
      <p:sp>
        <p:nvSpPr>
          <p:cNvPr id="321" name="Google Shape;321;p11"/>
          <p:cNvSpPr/>
          <p:nvPr/>
        </p:nvSpPr>
        <p:spPr>
          <a:xfrm>
            <a:off x="6519672" y="548640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Documentación para la implantación y el uso del sistema.</a:t>
            </a:r>
            <a:endParaRPr b="0" i="0" sz="1050" u="none" cap="none" strike="noStrike">
              <a:solidFill>
                <a:schemeClr val="dk1"/>
              </a:solidFill>
              <a:latin typeface="Calibri"/>
              <a:ea typeface="Calibri"/>
              <a:cs typeface="Calibri"/>
              <a:sym typeface="Calibri"/>
            </a:endParaRPr>
          </a:p>
        </p:txBody>
      </p:sp>
      <p:sp>
        <p:nvSpPr>
          <p:cNvPr id="322" name="Google Shape;322;p11"/>
          <p:cNvSpPr/>
          <p:nvPr/>
        </p:nvSpPr>
        <p:spPr>
          <a:xfrm>
            <a:off x="640080" y="6263640"/>
            <a:ext cx="108813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1" lang="en-US" sz="1150" u="none" cap="none" strike="noStrike">
                <a:solidFill>
                  <a:srgbClr val="5C6B77"/>
                </a:solidFill>
                <a:latin typeface="Calibri"/>
                <a:ea typeface="Calibri"/>
                <a:cs typeface="Calibri"/>
                <a:sym typeface="Calibri"/>
              </a:rPr>
              <a:t>Las evidencias deben acordarse con el docente: esta tabla es nuestra propuesta de partida para esa conversación.</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7" name="Shape 327"/>
        <p:cNvGrpSpPr/>
        <p:nvPr/>
      </p:nvGrpSpPr>
      <p:grpSpPr>
        <a:xfrm>
          <a:off x="0" y="0"/>
          <a:ext cx="0" cy="0"/>
          <a:chOff x="0" y="0"/>
          <a:chExt cx="0" cy="0"/>
        </a:xfrm>
      </p:grpSpPr>
      <p:sp>
        <p:nvSpPr>
          <p:cNvPr id="328" name="Google Shape;328;p12"/>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Factibilidad y gestión de riesgos</a:t>
            </a:r>
            <a:endParaRPr b="0" i="0" sz="3400" u="none" cap="none" strike="noStrike">
              <a:solidFill>
                <a:schemeClr val="dk1"/>
              </a:solidFill>
              <a:latin typeface="Calibri"/>
              <a:ea typeface="Calibri"/>
              <a:cs typeface="Calibri"/>
              <a:sym typeface="Calibri"/>
            </a:endParaRPr>
          </a:p>
        </p:txBody>
      </p:sp>
      <p:sp>
        <p:nvSpPr>
          <p:cNvPr id="329" name="Google Shape;329;p12"/>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Por qué el proyecto se puede terminar en el semestre</a:t>
            </a:r>
            <a:endParaRPr b="0" i="0" sz="1400" u="none" cap="none" strike="noStrike">
              <a:solidFill>
                <a:schemeClr val="dk1"/>
              </a:solidFill>
              <a:latin typeface="Calibri"/>
              <a:ea typeface="Calibri"/>
              <a:cs typeface="Calibri"/>
              <a:sym typeface="Calibri"/>
            </a:endParaRPr>
          </a:p>
        </p:txBody>
      </p:sp>
      <p:sp>
        <p:nvSpPr>
          <p:cNvPr id="330" name="Google Shape;330;p12"/>
          <p:cNvSpPr/>
          <p:nvPr/>
        </p:nvSpPr>
        <p:spPr>
          <a:xfrm>
            <a:off x="640080" y="1645920"/>
            <a:ext cx="5120640" cy="1828800"/>
          </a:xfrm>
          <a:prstGeom prst="roundRect">
            <a:avLst>
              <a:gd fmla="val 3000"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2"/>
          <p:cNvSpPr/>
          <p:nvPr/>
        </p:nvSpPr>
        <p:spPr>
          <a:xfrm>
            <a:off x="914400" y="1810512"/>
            <a:ext cx="4572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4F58"/>
              </a:buClr>
              <a:buSzPts val="1550"/>
              <a:buFont typeface="Cambria"/>
              <a:buNone/>
            </a:pPr>
            <a:r>
              <a:rPr b="1" i="0" lang="en-US" sz="1550" u="none" cap="none" strike="noStrike">
                <a:solidFill>
                  <a:srgbClr val="0B4F58"/>
                </a:solidFill>
                <a:latin typeface="Cambria"/>
                <a:ea typeface="Cambria"/>
                <a:cs typeface="Cambria"/>
                <a:sym typeface="Cambria"/>
              </a:rPr>
              <a:t>El proyecto no parte de cero</a:t>
            </a:r>
            <a:endParaRPr b="0" i="0" sz="1550" u="none" cap="none" strike="noStrike">
              <a:solidFill>
                <a:schemeClr val="dk1"/>
              </a:solidFill>
              <a:latin typeface="Calibri"/>
              <a:ea typeface="Calibri"/>
              <a:cs typeface="Calibri"/>
              <a:sym typeface="Calibri"/>
            </a:endParaRPr>
          </a:p>
        </p:txBody>
      </p:sp>
      <p:sp>
        <p:nvSpPr>
          <p:cNvPr id="332" name="Google Shape;332;p12"/>
          <p:cNvSpPr/>
          <p:nvPr/>
        </p:nvSpPr>
        <p:spPr>
          <a:xfrm>
            <a:off x="914400" y="2176272"/>
            <a:ext cx="4572000" cy="1234440"/>
          </a:xfrm>
          <a:prstGeom prst="rect">
            <a:avLst/>
          </a:prstGeom>
          <a:noFill/>
          <a:ln>
            <a:noFill/>
          </a:ln>
        </p:spPr>
        <p:txBody>
          <a:bodyPr anchorCtr="0" anchor="t" bIns="0" lIns="0" spcFirstLastPara="1" rIns="0" wrap="square" tIns="0">
            <a:noAutofit/>
          </a:bodyPr>
          <a:lstStyle/>
          <a:p>
            <a:pPr indent="0" lvl="0" marL="0" marR="0" rtl="0" algn="l">
              <a:lnSpc>
                <a:spcPct val="156521"/>
              </a:lnSpc>
              <a:spcBef>
                <a:spcPts val="0"/>
              </a:spcBef>
              <a:spcAft>
                <a:spcPts val="0"/>
              </a:spcAft>
              <a:buClr>
                <a:srgbClr val="0B4F58"/>
              </a:buClr>
              <a:buSzPts val="1150"/>
              <a:buFont typeface="Calibri"/>
              <a:buNone/>
            </a:pPr>
            <a:r>
              <a:rPr b="0" i="0" lang="en-US" sz="1150" u="none" cap="none" strike="noStrike">
                <a:solidFill>
                  <a:srgbClr val="0B4F58"/>
                </a:solidFill>
                <a:latin typeface="Calibri"/>
                <a:ea typeface="Calibri"/>
                <a:cs typeface="Calibri"/>
                <a:sym typeface="Calibri"/>
              </a:rPr>
              <a:t>Ya existe un prototipo de detección funcionando con YOLOv8 sobre video real, la arquitectura está definida y documentada, y el proyecto cuenta con un estudio de viabilidad técnica, comercial y económica completo. Las 18 semanas se dedican a integrar y endurecer componentes ya probados por separado, no a investigar.</a:t>
            </a:r>
            <a:endParaRPr b="0" i="0" sz="1150" u="none" cap="none" strike="noStrike">
              <a:solidFill>
                <a:schemeClr val="dk1"/>
              </a:solidFill>
              <a:latin typeface="Calibri"/>
              <a:ea typeface="Calibri"/>
              <a:cs typeface="Calibri"/>
              <a:sym typeface="Calibri"/>
            </a:endParaRPr>
          </a:p>
        </p:txBody>
      </p:sp>
      <p:sp>
        <p:nvSpPr>
          <p:cNvPr id="333" name="Google Shape;333;p12"/>
          <p:cNvSpPr/>
          <p:nvPr/>
        </p:nvSpPr>
        <p:spPr>
          <a:xfrm>
            <a:off x="6126480" y="1645920"/>
            <a:ext cx="53949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Riesgos principales y su mitigación</a:t>
            </a:r>
            <a:endParaRPr b="0" i="0" sz="1550" u="none" cap="none" strike="noStrike">
              <a:solidFill>
                <a:schemeClr val="dk1"/>
              </a:solidFill>
              <a:latin typeface="Calibri"/>
              <a:ea typeface="Calibri"/>
              <a:cs typeface="Calibri"/>
              <a:sym typeface="Calibri"/>
            </a:endParaRPr>
          </a:p>
        </p:txBody>
      </p:sp>
      <p:sp>
        <p:nvSpPr>
          <p:cNvPr id="334" name="Google Shape;334;p12"/>
          <p:cNvSpPr/>
          <p:nvPr/>
        </p:nvSpPr>
        <p:spPr>
          <a:xfrm>
            <a:off x="6126480" y="210312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00"/>
              <a:buFont typeface="Calibri"/>
              <a:buNone/>
            </a:pPr>
            <a:r>
              <a:rPr b="1" i="0" lang="en-US" sz="1200" u="none" cap="none" strike="noStrike">
                <a:solidFill>
                  <a:srgbClr val="1B2A36"/>
                </a:solidFill>
                <a:latin typeface="Calibri"/>
                <a:ea typeface="Calibri"/>
                <a:cs typeface="Calibri"/>
                <a:sym typeface="Calibri"/>
              </a:rPr>
              <a:t>Hardware del dispositivo no llega a tiempo</a:t>
            </a:r>
            <a:endParaRPr b="0" i="0" sz="1200" u="none" cap="none" strike="noStrike">
              <a:solidFill>
                <a:schemeClr val="dk1"/>
              </a:solidFill>
              <a:latin typeface="Calibri"/>
              <a:ea typeface="Calibri"/>
              <a:cs typeface="Calibri"/>
              <a:sym typeface="Calibri"/>
            </a:endParaRPr>
          </a:p>
        </p:txBody>
      </p:sp>
      <p:sp>
        <p:nvSpPr>
          <p:cNvPr id="335" name="Google Shape;335;p12"/>
          <p:cNvSpPr/>
          <p:nvPr/>
        </p:nvSpPr>
        <p:spPr>
          <a:xfrm>
            <a:off x="10744200" y="2121408"/>
            <a:ext cx="777240" cy="237744"/>
          </a:xfrm>
          <a:prstGeom prst="roundRect">
            <a:avLst>
              <a:gd fmla="val 46154" name="adj"/>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12"/>
          <p:cNvSpPr/>
          <p:nvPr/>
        </p:nvSpPr>
        <p:spPr>
          <a:xfrm>
            <a:off x="10744200" y="2121408"/>
            <a:ext cx="7772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Alto</a:t>
            </a:r>
            <a:endParaRPr b="0" i="0" sz="900" u="none" cap="none" strike="noStrike">
              <a:solidFill>
                <a:schemeClr val="dk1"/>
              </a:solidFill>
              <a:latin typeface="Calibri"/>
              <a:ea typeface="Calibri"/>
              <a:cs typeface="Calibri"/>
              <a:sym typeface="Calibri"/>
            </a:endParaRPr>
          </a:p>
        </p:txBody>
      </p:sp>
      <p:sp>
        <p:nvSpPr>
          <p:cNvPr id="337" name="Google Shape;337;p12"/>
          <p:cNvSpPr/>
          <p:nvPr/>
        </p:nvSpPr>
        <p:spPr>
          <a:xfrm>
            <a:off x="6126480" y="2395728"/>
            <a:ext cx="5394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Se desarrolla el protocolo IP contra un receptor simulado desde la Semana 10.</a:t>
            </a:r>
            <a:endParaRPr b="0" i="0" sz="1050" u="none" cap="none" strike="noStrike">
              <a:solidFill>
                <a:schemeClr val="dk1"/>
              </a:solidFill>
              <a:latin typeface="Calibri"/>
              <a:ea typeface="Calibri"/>
              <a:cs typeface="Calibri"/>
              <a:sym typeface="Calibri"/>
            </a:endParaRPr>
          </a:p>
        </p:txBody>
      </p:sp>
      <p:sp>
        <p:nvSpPr>
          <p:cNvPr id="338" name="Google Shape;338;p12"/>
          <p:cNvSpPr/>
          <p:nvPr/>
        </p:nvSpPr>
        <p:spPr>
          <a:xfrm>
            <a:off x="6126480" y="306324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00"/>
              <a:buFont typeface="Calibri"/>
              <a:buNone/>
            </a:pPr>
            <a:r>
              <a:rPr b="1" i="0" lang="en-US" sz="1200" u="none" cap="none" strike="noStrike">
                <a:solidFill>
                  <a:srgbClr val="1B2A36"/>
                </a:solidFill>
                <a:latin typeface="Calibri"/>
                <a:ea typeface="Calibri"/>
                <a:cs typeface="Calibri"/>
                <a:sym typeface="Calibri"/>
              </a:rPr>
              <a:t>Sin acceso a una cámara IP real</a:t>
            </a:r>
            <a:endParaRPr b="0" i="0" sz="1200" u="none" cap="none" strike="noStrike">
              <a:solidFill>
                <a:schemeClr val="dk1"/>
              </a:solidFill>
              <a:latin typeface="Calibri"/>
              <a:ea typeface="Calibri"/>
              <a:cs typeface="Calibri"/>
              <a:sym typeface="Calibri"/>
            </a:endParaRPr>
          </a:p>
        </p:txBody>
      </p:sp>
      <p:sp>
        <p:nvSpPr>
          <p:cNvPr id="339" name="Google Shape;339;p12"/>
          <p:cNvSpPr/>
          <p:nvPr/>
        </p:nvSpPr>
        <p:spPr>
          <a:xfrm>
            <a:off x="10744200" y="3081528"/>
            <a:ext cx="777240" cy="237744"/>
          </a:xfrm>
          <a:prstGeom prst="roundRect">
            <a:avLst>
              <a:gd fmla="val 46154" name="adj"/>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12"/>
          <p:cNvSpPr/>
          <p:nvPr/>
        </p:nvSpPr>
        <p:spPr>
          <a:xfrm>
            <a:off x="10744200" y="3081528"/>
            <a:ext cx="7772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Medio</a:t>
            </a:r>
            <a:endParaRPr b="0" i="0" sz="900" u="none" cap="none" strike="noStrike">
              <a:solidFill>
                <a:schemeClr val="dk1"/>
              </a:solidFill>
              <a:latin typeface="Calibri"/>
              <a:ea typeface="Calibri"/>
              <a:cs typeface="Calibri"/>
              <a:sym typeface="Calibri"/>
            </a:endParaRPr>
          </a:p>
        </p:txBody>
      </p:sp>
      <p:sp>
        <p:nvSpPr>
          <p:cNvPr id="341" name="Google Shape;341;p12"/>
          <p:cNvSpPr/>
          <p:nvPr/>
        </p:nvSpPr>
        <p:spPr>
          <a:xfrm>
            <a:off x="6126480" y="3355848"/>
            <a:ext cx="5394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Video pregrabado servido por un emisor RTSP local; el agente no distingue la fuente.</a:t>
            </a:r>
            <a:endParaRPr b="0" i="0" sz="1050" u="none" cap="none" strike="noStrike">
              <a:solidFill>
                <a:schemeClr val="dk1"/>
              </a:solidFill>
              <a:latin typeface="Calibri"/>
              <a:ea typeface="Calibri"/>
              <a:cs typeface="Calibri"/>
              <a:sym typeface="Calibri"/>
            </a:endParaRPr>
          </a:p>
        </p:txBody>
      </p:sp>
      <p:sp>
        <p:nvSpPr>
          <p:cNvPr id="342" name="Google Shape;342;p12"/>
          <p:cNvSpPr/>
          <p:nvPr/>
        </p:nvSpPr>
        <p:spPr>
          <a:xfrm>
            <a:off x="6126480" y="402336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00"/>
              <a:buFont typeface="Calibri"/>
              <a:buNone/>
            </a:pPr>
            <a:r>
              <a:rPr b="1" i="0" lang="en-US" sz="1200" u="none" cap="none" strike="noStrike">
                <a:solidFill>
                  <a:srgbClr val="1B2A36"/>
                </a:solidFill>
                <a:latin typeface="Calibri"/>
                <a:ea typeface="Calibri"/>
                <a:cs typeface="Calibri"/>
                <a:sym typeface="Calibri"/>
              </a:rPr>
              <a:t>Dataset poco representativo</a:t>
            </a:r>
            <a:endParaRPr b="0" i="0" sz="1200" u="none" cap="none" strike="noStrike">
              <a:solidFill>
                <a:schemeClr val="dk1"/>
              </a:solidFill>
              <a:latin typeface="Calibri"/>
              <a:ea typeface="Calibri"/>
              <a:cs typeface="Calibri"/>
              <a:sym typeface="Calibri"/>
            </a:endParaRPr>
          </a:p>
        </p:txBody>
      </p:sp>
      <p:sp>
        <p:nvSpPr>
          <p:cNvPr id="343" name="Google Shape;343;p12"/>
          <p:cNvSpPr/>
          <p:nvPr/>
        </p:nvSpPr>
        <p:spPr>
          <a:xfrm>
            <a:off x="10744200" y="4041648"/>
            <a:ext cx="777240" cy="237744"/>
          </a:xfrm>
          <a:prstGeom prst="roundRect">
            <a:avLst>
              <a:gd fmla="val 46154" name="adj"/>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2"/>
          <p:cNvSpPr/>
          <p:nvPr/>
        </p:nvSpPr>
        <p:spPr>
          <a:xfrm>
            <a:off x="10744200" y="4041648"/>
            <a:ext cx="7772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Alto</a:t>
            </a:r>
            <a:endParaRPr b="0" i="0" sz="900" u="none" cap="none" strike="noStrike">
              <a:solidFill>
                <a:schemeClr val="dk1"/>
              </a:solidFill>
              <a:latin typeface="Calibri"/>
              <a:ea typeface="Calibri"/>
              <a:cs typeface="Calibri"/>
              <a:sym typeface="Calibri"/>
            </a:endParaRPr>
          </a:p>
        </p:txBody>
      </p:sp>
      <p:sp>
        <p:nvSpPr>
          <p:cNvPr id="345" name="Google Shape;345;p12"/>
          <p:cNvSpPr/>
          <p:nvPr/>
        </p:nvSpPr>
        <p:spPr>
          <a:xfrm>
            <a:off x="6126480" y="4315968"/>
            <a:ext cx="5394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Datasets públicos complementados con imágenes propias, midiendo el impacto en mAP.</a:t>
            </a:r>
            <a:endParaRPr b="0" i="0" sz="1050" u="none" cap="none" strike="noStrike">
              <a:solidFill>
                <a:schemeClr val="dk1"/>
              </a:solidFill>
              <a:latin typeface="Calibri"/>
              <a:ea typeface="Calibri"/>
              <a:cs typeface="Calibri"/>
              <a:sym typeface="Calibri"/>
            </a:endParaRPr>
          </a:p>
        </p:txBody>
      </p:sp>
      <p:sp>
        <p:nvSpPr>
          <p:cNvPr id="346" name="Google Shape;346;p12"/>
          <p:cNvSpPr/>
          <p:nvPr/>
        </p:nvSpPr>
        <p:spPr>
          <a:xfrm>
            <a:off x="6126480" y="498348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00"/>
              <a:buFont typeface="Calibri"/>
              <a:buNone/>
            </a:pPr>
            <a:r>
              <a:rPr b="1" i="0" lang="en-US" sz="1200" u="none" cap="none" strike="noStrike">
                <a:solidFill>
                  <a:srgbClr val="1B2A36"/>
                </a:solidFill>
                <a:latin typeface="Calibri"/>
                <a:ea typeface="Calibri"/>
                <a:cs typeface="Calibri"/>
                <a:sym typeface="Calibri"/>
              </a:rPr>
              <a:t>Carga académica y laboral paralela</a:t>
            </a:r>
            <a:endParaRPr b="0" i="0" sz="1200" u="none" cap="none" strike="noStrike">
              <a:solidFill>
                <a:schemeClr val="dk1"/>
              </a:solidFill>
              <a:latin typeface="Calibri"/>
              <a:ea typeface="Calibri"/>
              <a:cs typeface="Calibri"/>
              <a:sym typeface="Calibri"/>
            </a:endParaRPr>
          </a:p>
        </p:txBody>
      </p:sp>
      <p:sp>
        <p:nvSpPr>
          <p:cNvPr id="347" name="Google Shape;347;p12"/>
          <p:cNvSpPr/>
          <p:nvPr/>
        </p:nvSpPr>
        <p:spPr>
          <a:xfrm>
            <a:off x="10744200" y="5001768"/>
            <a:ext cx="777240" cy="237744"/>
          </a:xfrm>
          <a:prstGeom prst="roundRect">
            <a:avLst>
              <a:gd fmla="val 46154" name="adj"/>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2"/>
          <p:cNvSpPr/>
          <p:nvPr/>
        </p:nvSpPr>
        <p:spPr>
          <a:xfrm>
            <a:off x="10744200" y="5001768"/>
            <a:ext cx="7772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Alto</a:t>
            </a:r>
            <a:endParaRPr b="0" i="0" sz="900" u="none" cap="none" strike="noStrike">
              <a:solidFill>
                <a:schemeClr val="dk1"/>
              </a:solidFill>
              <a:latin typeface="Calibri"/>
              <a:ea typeface="Calibri"/>
              <a:cs typeface="Calibri"/>
              <a:sym typeface="Calibri"/>
            </a:endParaRPr>
          </a:p>
        </p:txBody>
      </p:sp>
      <p:sp>
        <p:nvSpPr>
          <p:cNvPr id="349" name="Google Shape;349;p12"/>
          <p:cNvSpPr/>
          <p:nvPr/>
        </p:nvSpPr>
        <p:spPr>
          <a:xfrm>
            <a:off x="6126480" y="5276088"/>
            <a:ext cx="5394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Alcance de MVP acotado, hitos quincenales y un responsable único por paquete.</a:t>
            </a:r>
            <a:endParaRPr b="0" i="0" sz="1050" u="none" cap="none" strike="noStrike">
              <a:solidFill>
                <a:schemeClr val="dk1"/>
              </a:solidFill>
              <a:latin typeface="Calibri"/>
              <a:ea typeface="Calibri"/>
              <a:cs typeface="Calibri"/>
              <a:sym typeface="Calibri"/>
            </a:endParaRPr>
          </a:p>
        </p:txBody>
      </p:sp>
      <p:sp>
        <p:nvSpPr>
          <p:cNvPr id="350" name="Google Shape;350;p12"/>
          <p:cNvSpPr/>
          <p:nvPr/>
        </p:nvSpPr>
        <p:spPr>
          <a:xfrm>
            <a:off x="640080" y="3703320"/>
            <a:ext cx="5120640" cy="2194560"/>
          </a:xfrm>
          <a:prstGeom prst="roundRect">
            <a:avLst>
              <a:gd fmla="val 25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2"/>
          <p:cNvSpPr/>
          <p:nvPr/>
        </p:nvSpPr>
        <p:spPr>
          <a:xfrm>
            <a:off x="914400" y="3858768"/>
            <a:ext cx="4572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Alcance declarado</a:t>
            </a:r>
            <a:endParaRPr b="0" i="0" sz="1550" u="none" cap="none" strike="noStrike">
              <a:solidFill>
                <a:schemeClr val="dk1"/>
              </a:solidFill>
              <a:latin typeface="Calibri"/>
              <a:ea typeface="Calibri"/>
              <a:cs typeface="Calibri"/>
              <a:sym typeface="Calibri"/>
            </a:endParaRPr>
          </a:p>
        </p:txBody>
      </p:sp>
      <p:sp>
        <p:nvSpPr>
          <p:cNvPr id="352" name="Google Shape;352;p12"/>
          <p:cNvSpPr/>
          <p:nvPr/>
        </p:nvSpPr>
        <p:spPr>
          <a:xfrm>
            <a:off x="914400" y="4224528"/>
            <a:ext cx="4572000" cy="1554480"/>
          </a:xfrm>
          <a:prstGeom prst="rect">
            <a:avLst/>
          </a:prstGeom>
          <a:noFill/>
          <a:ln>
            <a:noFill/>
          </a:ln>
        </p:spPr>
        <p:txBody>
          <a:bodyPr anchorCtr="0" anchor="t" bIns="0" lIns="0" spcFirstLastPara="1" rIns="0" wrap="square" tIns="0">
            <a:noAutofit/>
          </a:bodyPr>
          <a:lstStyle/>
          <a:p>
            <a:pPr indent="0" lvl="0" marL="0" marR="0" rtl="0" algn="l">
              <a:lnSpc>
                <a:spcPct val="156521"/>
              </a:lnSpc>
              <a:spcBef>
                <a:spcPts val="0"/>
              </a:spcBef>
              <a:spcAft>
                <a:spcPts val="0"/>
              </a:spcAft>
              <a:buClr>
                <a:srgbClr val="0B6E7A"/>
              </a:buClr>
              <a:buSzPts val="1150"/>
              <a:buFont typeface="Calibri"/>
              <a:buNone/>
            </a:pPr>
            <a:r>
              <a:rPr b="1" i="0" lang="en-US" sz="1150" u="none" cap="none" strike="noStrike">
                <a:solidFill>
                  <a:srgbClr val="0B6E7A"/>
                </a:solidFill>
                <a:latin typeface="Calibri"/>
                <a:ea typeface="Calibri"/>
                <a:cs typeface="Calibri"/>
                <a:sym typeface="Calibri"/>
              </a:rPr>
              <a:t>Dentro:  </a:t>
            </a:r>
            <a:r>
              <a:rPr b="0" i="0" lang="en-US" sz="1150" u="none" cap="none" strike="noStrike">
                <a:solidFill>
                  <a:srgbClr val="5C6B77"/>
                </a:solidFill>
                <a:latin typeface="Calibri"/>
                <a:ea typeface="Calibri"/>
                <a:cs typeface="Calibri"/>
                <a:sym typeface="Calibri"/>
              </a:rPr>
              <a:t>casco y chaleco reflectante, procesamiento local, dashboard, alertas remotas y dispositivo de alerta física.</a:t>
            </a:r>
            <a:br>
              <a:rPr b="0" i="0" lang="en-US" sz="1150" u="none" cap="none" strike="noStrike">
                <a:solidFill>
                  <a:srgbClr val="5C6B77"/>
                </a:solidFill>
                <a:latin typeface="Calibri"/>
                <a:ea typeface="Calibri"/>
                <a:cs typeface="Calibri"/>
                <a:sym typeface="Calibri"/>
              </a:rPr>
            </a:br>
            <a:br>
              <a:rPr b="0" i="0" lang="en-US" sz="1150" u="none" cap="none" strike="noStrike">
                <a:solidFill>
                  <a:srgbClr val="5C6B77"/>
                </a:solidFill>
                <a:latin typeface="Calibri"/>
                <a:ea typeface="Calibri"/>
                <a:cs typeface="Calibri"/>
                <a:sym typeface="Calibri"/>
              </a:rPr>
            </a:br>
            <a:r>
              <a:rPr b="1" i="0" lang="en-US" sz="1150" u="none" cap="none" strike="noStrike">
                <a:solidFill>
                  <a:srgbClr val="C2410C"/>
                </a:solidFill>
                <a:latin typeface="Calibri"/>
                <a:ea typeface="Calibri"/>
                <a:cs typeface="Calibri"/>
                <a:sym typeface="Calibri"/>
              </a:rPr>
              <a:t>Fuera:  </a:t>
            </a:r>
            <a:r>
              <a:rPr b="0" i="0" lang="en-US" sz="1150" u="none" cap="none" strike="noStrike">
                <a:solidFill>
                  <a:srgbClr val="5C6B77"/>
                </a:solidFill>
                <a:latin typeface="Calibri"/>
                <a:ea typeface="Calibri"/>
                <a:cs typeface="Calibri"/>
                <a:sym typeface="Calibri"/>
              </a:rPr>
              <a:t>reconocimiento facial o biometría (descartado por privacidad y resistencia sindical), reemplazo de cámaras, otros EPP, procesamiento en la nube e integración con ERP.</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13"/>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Viabilidad económica del producto</a:t>
            </a:r>
            <a:endParaRPr b="0" i="0" sz="3400" u="none" cap="none" strike="noStrike">
              <a:solidFill>
                <a:schemeClr val="dk1"/>
              </a:solidFill>
              <a:latin typeface="Calibri"/>
              <a:ea typeface="Calibri"/>
              <a:cs typeface="Calibri"/>
              <a:sym typeface="Calibri"/>
            </a:endParaRPr>
          </a:p>
        </p:txBody>
      </p:sp>
      <p:sp>
        <p:nvSpPr>
          <p:cNvPr id="359" name="Google Shape;359;p13"/>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Estudio heredado de Evaluación de Proyectos, como respaldo comercial</a:t>
            </a:r>
            <a:endParaRPr b="0" i="0" sz="1400" u="none" cap="none" strike="noStrike">
              <a:solidFill>
                <a:schemeClr val="dk1"/>
              </a:solidFill>
              <a:latin typeface="Calibri"/>
              <a:ea typeface="Calibri"/>
              <a:cs typeface="Calibri"/>
              <a:sym typeface="Calibri"/>
            </a:endParaRPr>
          </a:p>
        </p:txBody>
      </p:sp>
      <p:sp>
        <p:nvSpPr>
          <p:cNvPr id="360" name="Google Shape;360;p13"/>
          <p:cNvSpPr/>
          <p:nvPr/>
        </p:nvSpPr>
        <p:spPr>
          <a:xfrm>
            <a:off x="640080" y="17373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3"/>
          <p:cNvSpPr/>
          <p:nvPr/>
        </p:nvSpPr>
        <p:spPr>
          <a:xfrm>
            <a:off x="896112" y="18836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$45.000.000</a:t>
            </a:r>
            <a:endParaRPr b="0" i="0" sz="2600" u="none" cap="none" strike="noStrike">
              <a:solidFill>
                <a:schemeClr val="dk1"/>
              </a:solidFill>
              <a:latin typeface="Calibri"/>
              <a:ea typeface="Calibri"/>
              <a:cs typeface="Calibri"/>
              <a:sym typeface="Calibri"/>
            </a:endParaRPr>
          </a:p>
        </p:txBody>
      </p:sp>
      <p:sp>
        <p:nvSpPr>
          <p:cNvPr id="362" name="Google Shape;362;p13"/>
          <p:cNvSpPr/>
          <p:nvPr/>
        </p:nvSpPr>
        <p:spPr>
          <a:xfrm>
            <a:off x="896112" y="23957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Precio de venta llave en mano, pago único</a:t>
            </a:r>
            <a:endParaRPr b="0" i="0" sz="1100" u="none" cap="none" strike="noStrike">
              <a:solidFill>
                <a:schemeClr val="dk1"/>
              </a:solidFill>
              <a:latin typeface="Calibri"/>
              <a:ea typeface="Calibri"/>
              <a:cs typeface="Calibri"/>
              <a:sym typeface="Calibri"/>
            </a:endParaRPr>
          </a:p>
        </p:txBody>
      </p:sp>
      <p:sp>
        <p:nvSpPr>
          <p:cNvPr id="363" name="Google Shape;363;p13"/>
          <p:cNvSpPr/>
          <p:nvPr/>
        </p:nvSpPr>
        <p:spPr>
          <a:xfrm>
            <a:off x="4343400" y="17373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3"/>
          <p:cNvSpPr/>
          <p:nvPr/>
        </p:nvSpPr>
        <p:spPr>
          <a:xfrm>
            <a:off x="4599432" y="18836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$1.660.792</a:t>
            </a:r>
            <a:endParaRPr b="0" i="0" sz="2600" u="none" cap="none" strike="noStrike">
              <a:solidFill>
                <a:schemeClr val="dk1"/>
              </a:solidFill>
              <a:latin typeface="Calibri"/>
              <a:ea typeface="Calibri"/>
              <a:cs typeface="Calibri"/>
              <a:sym typeface="Calibri"/>
            </a:endParaRPr>
          </a:p>
        </p:txBody>
      </p:sp>
      <p:sp>
        <p:nvSpPr>
          <p:cNvPr id="365" name="Google Shape;365;p13"/>
          <p:cNvSpPr/>
          <p:nvPr/>
        </p:nvSpPr>
        <p:spPr>
          <a:xfrm>
            <a:off x="4599432" y="23957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VAN del proyecto puro a 4 meses</a:t>
            </a:r>
            <a:endParaRPr b="0" i="0" sz="1100" u="none" cap="none" strike="noStrike">
              <a:solidFill>
                <a:schemeClr val="dk1"/>
              </a:solidFill>
              <a:latin typeface="Calibri"/>
              <a:ea typeface="Calibri"/>
              <a:cs typeface="Calibri"/>
              <a:sym typeface="Calibri"/>
            </a:endParaRPr>
          </a:p>
        </p:txBody>
      </p:sp>
      <p:sp>
        <p:nvSpPr>
          <p:cNvPr id="366" name="Google Shape;366;p13"/>
          <p:cNvSpPr/>
          <p:nvPr/>
        </p:nvSpPr>
        <p:spPr>
          <a:xfrm>
            <a:off x="8046720" y="17373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3"/>
          <p:cNvSpPr/>
          <p:nvPr/>
        </p:nvSpPr>
        <p:spPr>
          <a:xfrm>
            <a:off x="8302752" y="18836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9,44%</a:t>
            </a:r>
            <a:endParaRPr b="0" i="0" sz="2600" u="none" cap="none" strike="noStrike">
              <a:solidFill>
                <a:schemeClr val="dk1"/>
              </a:solidFill>
              <a:latin typeface="Calibri"/>
              <a:ea typeface="Calibri"/>
              <a:cs typeface="Calibri"/>
              <a:sym typeface="Calibri"/>
            </a:endParaRPr>
          </a:p>
        </p:txBody>
      </p:sp>
      <p:sp>
        <p:nvSpPr>
          <p:cNvPr id="368" name="Google Shape;368;p13"/>
          <p:cNvSpPr/>
          <p:nvPr/>
        </p:nvSpPr>
        <p:spPr>
          <a:xfrm>
            <a:off x="8302752" y="23957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TIR mensual (~195% anual)</a:t>
            </a:r>
            <a:endParaRPr b="0" i="0" sz="1100" u="none" cap="none" strike="noStrike">
              <a:solidFill>
                <a:schemeClr val="dk1"/>
              </a:solidFill>
              <a:latin typeface="Calibri"/>
              <a:ea typeface="Calibri"/>
              <a:cs typeface="Calibri"/>
              <a:sym typeface="Calibri"/>
            </a:endParaRPr>
          </a:p>
        </p:txBody>
      </p:sp>
      <p:sp>
        <p:nvSpPr>
          <p:cNvPr id="369" name="Google Shape;369;p13"/>
          <p:cNvSpPr/>
          <p:nvPr/>
        </p:nvSpPr>
        <p:spPr>
          <a:xfrm>
            <a:off x="640080" y="33375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3"/>
          <p:cNvSpPr/>
          <p:nvPr/>
        </p:nvSpPr>
        <p:spPr>
          <a:xfrm>
            <a:off x="896112" y="34838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2,65 meses</a:t>
            </a:r>
            <a:endParaRPr b="0" i="0" sz="2600" u="none" cap="none" strike="noStrike">
              <a:solidFill>
                <a:schemeClr val="dk1"/>
              </a:solidFill>
              <a:latin typeface="Calibri"/>
              <a:ea typeface="Calibri"/>
              <a:cs typeface="Calibri"/>
              <a:sym typeface="Calibri"/>
            </a:endParaRPr>
          </a:p>
        </p:txBody>
      </p:sp>
      <p:sp>
        <p:nvSpPr>
          <p:cNvPr id="371" name="Google Shape;371;p13"/>
          <p:cNvSpPr/>
          <p:nvPr/>
        </p:nvSpPr>
        <p:spPr>
          <a:xfrm>
            <a:off x="896112" y="39959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Periodo de recuperación de la inversión</a:t>
            </a:r>
            <a:endParaRPr b="0" i="0" sz="1100" u="none" cap="none" strike="noStrike">
              <a:solidFill>
                <a:schemeClr val="dk1"/>
              </a:solidFill>
              <a:latin typeface="Calibri"/>
              <a:ea typeface="Calibri"/>
              <a:cs typeface="Calibri"/>
              <a:sym typeface="Calibri"/>
            </a:endParaRPr>
          </a:p>
        </p:txBody>
      </p:sp>
      <p:sp>
        <p:nvSpPr>
          <p:cNvPr id="372" name="Google Shape;372;p13"/>
          <p:cNvSpPr/>
          <p:nvPr/>
        </p:nvSpPr>
        <p:spPr>
          <a:xfrm>
            <a:off x="4343400" y="33375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3"/>
          <p:cNvSpPr/>
          <p:nvPr/>
        </p:nvSpPr>
        <p:spPr>
          <a:xfrm>
            <a:off x="4599432" y="34838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1,14</a:t>
            </a:r>
            <a:endParaRPr b="0" i="0" sz="2600" u="none" cap="none" strike="noStrike">
              <a:solidFill>
                <a:schemeClr val="dk1"/>
              </a:solidFill>
              <a:latin typeface="Calibri"/>
              <a:ea typeface="Calibri"/>
              <a:cs typeface="Calibri"/>
              <a:sym typeface="Calibri"/>
            </a:endParaRPr>
          </a:p>
        </p:txBody>
      </p:sp>
      <p:sp>
        <p:nvSpPr>
          <p:cNvPr id="374" name="Google Shape;374;p13"/>
          <p:cNvSpPr/>
          <p:nvPr/>
        </p:nvSpPr>
        <p:spPr>
          <a:xfrm>
            <a:off x="4599432" y="39959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Relación beneficio-costo</a:t>
            </a:r>
            <a:endParaRPr b="0" i="0" sz="1100" u="none" cap="none" strike="noStrike">
              <a:solidFill>
                <a:schemeClr val="dk1"/>
              </a:solidFill>
              <a:latin typeface="Calibri"/>
              <a:ea typeface="Calibri"/>
              <a:cs typeface="Calibri"/>
              <a:sym typeface="Calibri"/>
            </a:endParaRPr>
          </a:p>
        </p:txBody>
      </p:sp>
      <p:sp>
        <p:nvSpPr>
          <p:cNvPr id="375" name="Google Shape;375;p13"/>
          <p:cNvSpPr/>
          <p:nvPr/>
        </p:nvSpPr>
        <p:spPr>
          <a:xfrm>
            <a:off x="8046720" y="3337560"/>
            <a:ext cx="3429000" cy="1371600"/>
          </a:xfrm>
          <a:prstGeom prst="roundRect">
            <a:avLst>
              <a:gd fmla="val 4000"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3"/>
          <p:cNvSpPr/>
          <p:nvPr/>
        </p:nvSpPr>
        <p:spPr>
          <a:xfrm>
            <a:off x="8302752" y="34838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2600"/>
              <a:buFont typeface="Cambria"/>
              <a:buNone/>
            </a:pPr>
            <a:r>
              <a:rPr b="1" i="0" lang="en-US" sz="2600" u="none" cap="none" strike="noStrike">
                <a:solidFill>
                  <a:srgbClr val="C2410C"/>
                </a:solidFill>
                <a:latin typeface="Cambria"/>
                <a:ea typeface="Cambria"/>
                <a:cs typeface="Cambria"/>
                <a:sym typeface="Cambria"/>
              </a:rPr>
              <a:t>92 / 100</a:t>
            </a:r>
            <a:endParaRPr b="0" i="0" sz="2600" u="none" cap="none" strike="noStrike">
              <a:solidFill>
                <a:schemeClr val="dk1"/>
              </a:solidFill>
              <a:latin typeface="Calibri"/>
              <a:ea typeface="Calibri"/>
              <a:cs typeface="Calibri"/>
              <a:sym typeface="Calibri"/>
            </a:endParaRPr>
          </a:p>
        </p:txBody>
      </p:sp>
      <p:sp>
        <p:nvSpPr>
          <p:cNvPr id="377" name="Google Shape;377;p13"/>
          <p:cNvSpPr/>
          <p:nvPr/>
        </p:nvSpPr>
        <p:spPr>
          <a:xfrm>
            <a:off x="8302752" y="39959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Puntaje en la matriz multicriterio</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(umbral de aprobación: 70)</a:t>
            </a:r>
            <a:endParaRPr b="0" i="0" sz="1100" u="none" cap="none" strike="noStrike">
              <a:solidFill>
                <a:schemeClr val="dk1"/>
              </a:solidFill>
              <a:latin typeface="Calibri"/>
              <a:ea typeface="Calibri"/>
              <a:cs typeface="Calibri"/>
              <a:sym typeface="Calibri"/>
            </a:endParaRPr>
          </a:p>
        </p:txBody>
      </p:sp>
      <p:sp>
        <p:nvSpPr>
          <p:cNvPr id="378" name="Google Shape;378;p13"/>
          <p:cNvSpPr/>
          <p:nvPr/>
        </p:nvSpPr>
        <p:spPr>
          <a:xfrm>
            <a:off x="640080" y="5029200"/>
            <a:ext cx="10881360" cy="1234440"/>
          </a:xfrm>
          <a:prstGeom prst="roundRect">
            <a:avLst>
              <a:gd fmla="val 4444" name="adj"/>
            </a:avLst>
          </a:prstGeom>
          <a:solidFill>
            <a:srgbClr val="FDF6E3"/>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3"/>
          <p:cNvSpPr/>
          <p:nvPr/>
        </p:nvSpPr>
        <p:spPr>
          <a:xfrm>
            <a:off x="914400" y="5029200"/>
            <a:ext cx="10332720" cy="1234440"/>
          </a:xfrm>
          <a:prstGeom prst="rect">
            <a:avLst/>
          </a:prstGeom>
          <a:noFill/>
          <a:ln>
            <a:noFill/>
          </a:ln>
        </p:spPr>
        <p:txBody>
          <a:bodyPr anchorCtr="0" anchor="ctr" bIns="0" lIns="0" spcFirstLastPara="1" rIns="0" wrap="square" tIns="0">
            <a:noAutofit/>
          </a:bodyPr>
          <a:lstStyle/>
          <a:p>
            <a:pPr indent="0" lvl="0" marL="0" marR="0" rtl="0" algn="l">
              <a:lnSpc>
                <a:spcPct val="160000"/>
              </a:lnSpc>
              <a:spcBef>
                <a:spcPts val="0"/>
              </a:spcBef>
              <a:spcAft>
                <a:spcPts val="0"/>
              </a:spcAft>
              <a:buClr>
                <a:srgbClr val="7A5A00"/>
              </a:buClr>
              <a:buSzPts val="1250"/>
              <a:buFont typeface="Calibri"/>
              <a:buNone/>
            </a:pPr>
            <a:r>
              <a:rPr b="1" i="0" lang="en-US" sz="1250" u="none" cap="none" strike="noStrike">
                <a:solidFill>
                  <a:srgbClr val="7A5A00"/>
                </a:solidFill>
                <a:latin typeface="Calibri"/>
                <a:ea typeface="Calibri"/>
                <a:cs typeface="Calibri"/>
                <a:sym typeface="Calibri"/>
              </a:rPr>
              <a:t>Aclaración importante.  </a:t>
            </a:r>
            <a:r>
              <a:rPr b="0" i="0" lang="en-US" sz="1250" u="none" cap="none" strike="noStrike">
                <a:solidFill>
                  <a:srgbClr val="7A5A00"/>
                </a:solidFill>
                <a:latin typeface="Calibri"/>
                <a:ea typeface="Calibri"/>
                <a:cs typeface="Calibri"/>
                <a:sym typeface="Calibri"/>
              </a:rPr>
              <a:t>Estas cifras se construyeron sobre un horizonte de 4 meses con hitos de pago 40/20/20/20 y siguen siendo válidas como estudio de viabilidad comercial del producto. El cronograma que rige la ejecución de este Capstone es el de 18 semanas presentado en la lámina 10, no el de la evaluación económica.</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384" name="Shape 384"/>
        <p:cNvGrpSpPr/>
        <p:nvPr/>
      </p:nvGrpSpPr>
      <p:grpSpPr>
        <a:xfrm>
          <a:off x="0" y="0"/>
          <a:ext cx="0" cy="0"/>
          <a:chOff x="0" y="0"/>
          <a:chExt cx="0" cy="0"/>
        </a:xfrm>
      </p:grpSpPr>
      <p:sp>
        <p:nvSpPr>
          <p:cNvPr id="385" name="Google Shape;385;p14"/>
          <p:cNvSpPr/>
          <p:nvPr/>
        </p:nvSpPr>
        <p:spPr>
          <a:xfrm>
            <a:off x="-1645920" y="4023360"/>
            <a:ext cx="4754880" cy="4754880"/>
          </a:xfrm>
          <a:prstGeom prst="ellipse">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4"/>
          <p:cNvSpPr/>
          <p:nvPr/>
        </p:nvSpPr>
        <p:spPr>
          <a:xfrm>
            <a:off x="822960" y="1005840"/>
            <a:ext cx="105156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Cambria"/>
              <a:buNone/>
            </a:pPr>
            <a:r>
              <a:rPr b="1" i="0" lang="en-US" sz="3600" u="none" cap="none" strike="noStrike">
                <a:solidFill>
                  <a:srgbClr val="FFFFFF"/>
                </a:solidFill>
                <a:latin typeface="Cambria"/>
                <a:ea typeface="Cambria"/>
                <a:cs typeface="Cambria"/>
                <a:sym typeface="Cambria"/>
              </a:rPr>
              <a:t>Lo que traemos a la Semana 10</a:t>
            </a:r>
            <a:endParaRPr b="0" i="0" sz="3600" u="none" cap="none" strike="noStrike">
              <a:solidFill>
                <a:schemeClr val="dk1"/>
              </a:solidFill>
              <a:latin typeface="Calibri"/>
              <a:ea typeface="Calibri"/>
              <a:cs typeface="Calibri"/>
              <a:sym typeface="Calibri"/>
            </a:endParaRPr>
          </a:p>
        </p:txBody>
      </p:sp>
      <p:sp>
        <p:nvSpPr>
          <p:cNvPr id="387" name="Google Shape;387;p14"/>
          <p:cNvSpPr/>
          <p:nvPr/>
        </p:nvSpPr>
        <p:spPr>
          <a:xfrm>
            <a:off x="914400" y="2148840"/>
            <a:ext cx="457200" cy="457200"/>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4"/>
          <p:cNvSpPr/>
          <p:nvPr/>
        </p:nvSpPr>
        <p:spPr>
          <a:xfrm>
            <a:off x="914400" y="21488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389" name="Google Shape;389;p14"/>
          <p:cNvSpPr/>
          <p:nvPr/>
        </p:nvSpPr>
        <p:spPr>
          <a:xfrm>
            <a:off x="1600200" y="2176272"/>
            <a:ext cx="9692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Motor de detección  </a:t>
            </a:r>
            <a:r>
              <a:rPr b="0" i="0" lang="en-US" sz="1400" u="none" cap="none" strike="noStrike">
                <a:solidFill>
                  <a:srgbClr val="B9C6CF"/>
                </a:solidFill>
                <a:latin typeface="Calibri"/>
                <a:ea typeface="Calibri"/>
                <a:cs typeface="Calibri"/>
                <a:sym typeface="Calibri"/>
              </a:rPr>
              <a:t>entrenado y medido, con mAP por clase sobre el dataset etiquetado</a:t>
            </a:r>
            <a:endParaRPr b="0" i="0" sz="1600" u="none" cap="none" strike="noStrike">
              <a:solidFill>
                <a:schemeClr val="dk1"/>
              </a:solidFill>
              <a:latin typeface="Calibri"/>
              <a:ea typeface="Calibri"/>
              <a:cs typeface="Calibri"/>
              <a:sym typeface="Calibri"/>
            </a:endParaRPr>
          </a:p>
        </p:txBody>
      </p:sp>
      <p:sp>
        <p:nvSpPr>
          <p:cNvPr id="390" name="Google Shape;390;p14"/>
          <p:cNvSpPr/>
          <p:nvPr/>
        </p:nvSpPr>
        <p:spPr>
          <a:xfrm>
            <a:off x="914400" y="3063240"/>
            <a:ext cx="457200" cy="457200"/>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4"/>
          <p:cNvSpPr/>
          <p:nvPr/>
        </p:nvSpPr>
        <p:spPr>
          <a:xfrm>
            <a:off x="914400" y="30632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392" name="Google Shape;392;p14"/>
          <p:cNvSpPr/>
          <p:nvPr/>
        </p:nvSpPr>
        <p:spPr>
          <a:xfrm>
            <a:off x="1600200" y="3090672"/>
            <a:ext cx="9692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Modelo de datos  </a:t>
            </a:r>
            <a:r>
              <a:rPr b="0" i="0" lang="en-US" sz="1400" u="none" cap="none" strike="noStrike">
                <a:solidFill>
                  <a:srgbClr val="B9C6CF"/>
                </a:solidFill>
                <a:latin typeface="Calibri"/>
                <a:ea typeface="Calibri"/>
                <a:cs typeface="Calibri"/>
                <a:sym typeface="Calibri"/>
              </a:rPr>
              <a:t>implementado en PostgreSQL con migraciones e índices</a:t>
            </a:r>
            <a:endParaRPr b="0" i="0" sz="1600" u="none" cap="none" strike="noStrike">
              <a:solidFill>
                <a:schemeClr val="dk1"/>
              </a:solidFill>
              <a:latin typeface="Calibri"/>
              <a:ea typeface="Calibri"/>
              <a:cs typeface="Calibri"/>
              <a:sym typeface="Calibri"/>
            </a:endParaRPr>
          </a:p>
        </p:txBody>
      </p:sp>
      <p:sp>
        <p:nvSpPr>
          <p:cNvPr id="393" name="Google Shape;393;p14"/>
          <p:cNvSpPr/>
          <p:nvPr/>
        </p:nvSpPr>
        <p:spPr>
          <a:xfrm>
            <a:off x="914400" y="3977640"/>
            <a:ext cx="457200" cy="457200"/>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4"/>
          <p:cNvSpPr/>
          <p:nvPr/>
        </p:nvSpPr>
        <p:spPr>
          <a:xfrm>
            <a:off x="914400" y="39776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395" name="Google Shape;395;p14"/>
          <p:cNvSpPr/>
          <p:nvPr/>
        </p:nvSpPr>
        <p:spPr>
          <a:xfrm>
            <a:off x="1600200" y="4005072"/>
            <a:ext cx="9692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API REST  </a:t>
            </a:r>
            <a:r>
              <a:rPr b="0" i="0" lang="en-US" sz="1400" u="none" cap="none" strike="noStrike">
                <a:solidFill>
                  <a:srgbClr val="B9C6CF"/>
                </a:solidFill>
                <a:latin typeface="Calibri"/>
                <a:ea typeface="Calibri"/>
                <a:cs typeface="Calibri"/>
                <a:sym typeface="Calibri"/>
              </a:rPr>
              <a:t>operativa sobre el agente Edge conectado por RTSP</a:t>
            </a:r>
            <a:endParaRPr b="0" i="0" sz="1600" u="none" cap="none" strike="noStrike">
              <a:solidFill>
                <a:schemeClr val="dk1"/>
              </a:solidFill>
              <a:latin typeface="Calibri"/>
              <a:ea typeface="Calibri"/>
              <a:cs typeface="Calibri"/>
              <a:sym typeface="Calibri"/>
            </a:endParaRPr>
          </a:p>
        </p:txBody>
      </p:sp>
      <p:sp>
        <p:nvSpPr>
          <p:cNvPr id="396" name="Google Shape;396;p14"/>
          <p:cNvSpPr/>
          <p:nvPr/>
        </p:nvSpPr>
        <p:spPr>
          <a:xfrm>
            <a:off x="822960" y="5120640"/>
            <a:ext cx="10515600" cy="1051560"/>
          </a:xfrm>
          <a:prstGeom prst="roundRect">
            <a:avLst>
              <a:gd fmla="val 6957"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14"/>
          <p:cNvSpPr/>
          <p:nvPr/>
        </p:nvSpPr>
        <p:spPr>
          <a:xfrm>
            <a:off x="1188720" y="5120640"/>
            <a:ext cx="9784080" cy="1051560"/>
          </a:xfrm>
          <a:prstGeom prst="rect">
            <a:avLst/>
          </a:prstGeom>
          <a:noFill/>
          <a:ln>
            <a:noFill/>
          </a:ln>
        </p:spPr>
        <p:txBody>
          <a:bodyPr anchorCtr="0" anchor="ctr" bIns="0" lIns="0" spcFirstLastPara="1" rIns="0" wrap="square" tIns="0">
            <a:noAutofit/>
          </a:bodyPr>
          <a:lstStyle/>
          <a:p>
            <a:pPr indent="0" lvl="0" marL="0" marR="0" rtl="0" algn="l">
              <a:lnSpc>
                <a:spcPct val="160000"/>
              </a:lnSpc>
              <a:spcBef>
                <a:spcPts val="0"/>
              </a:spcBef>
              <a:spcAft>
                <a:spcPts val="0"/>
              </a:spcAft>
              <a:buClr>
                <a:srgbClr val="F2B705"/>
              </a:buClr>
              <a:buSzPts val="1250"/>
              <a:buFont typeface="Calibri"/>
              <a:buNone/>
            </a:pPr>
            <a:r>
              <a:rPr b="1" i="0" lang="en-US" sz="1250" u="none" cap="none" strike="noStrike">
                <a:solidFill>
                  <a:srgbClr val="F2B705"/>
                </a:solidFill>
                <a:latin typeface="Calibri"/>
                <a:ea typeface="Calibri"/>
                <a:cs typeface="Calibri"/>
                <a:sym typeface="Calibri"/>
              </a:rPr>
              <a:t>Dos puntos que queremos aclarar con usted:  </a:t>
            </a:r>
            <a:r>
              <a:rPr b="0" i="0" lang="en-US" sz="1250" u="none" cap="none" strike="noStrike">
                <a:solidFill>
                  <a:srgbClr val="B9C6CF"/>
                </a:solidFill>
                <a:latin typeface="Calibri"/>
                <a:ea typeface="Calibri"/>
                <a:cs typeface="Calibri"/>
                <a:sym typeface="Calibri"/>
              </a:rPr>
              <a:t>el equipo del Capstone no es el mismo que formuló el proyecto en Evaluación de Proyectos, por lo que actualizaremos los créditos de toda la documentación heredada; y el horizonte económico de 4 meses no reemplaza al cronograma de 18 semanas de la asignatura.</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2026-08-25T03:58:25Z</dcterms:created>
  <dc:creator>PptxGenJS</dc:creator>
</cp:coreProperties>
</file>