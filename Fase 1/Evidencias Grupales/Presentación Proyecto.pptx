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936" autoAdjust="0"/>
  </p:normalViewPr>
  <p:slideViewPr>
    <p:cSldViewPr snapToGrid="0" snapToObjects="1">
      <p:cViewPr>
        <p:scale>
          <a:sx n="66" d="100"/>
          <a:sy n="66" d="100"/>
        </p:scale>
        <p:origin x="-162" y="9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148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Iahn · ~40 s. Buenos días profesor, buenos días a todos. Somos el equipo detrás de CascoVision y hoy presentaremos el proyecto que construiremos durante las próximas 18 semanas: un sistema de detección automatizada de EPP con visión computacional y alerta física en tiempo real. Empecemos por el índice de lo que veremos hoy.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Iahn · ~30 s. La presentación tiene tres bloques: primero el problema y la solución, luego cómo lo vamos a construir —metodología, tecnología y competencias—, y por último por qué el proyecto es viable: riesgos, seguridad, modelo de negocio y un mockup del producto. Partamos por quiénes somos.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Iahn · ~50 s. Somos cuatro estudiantes con roles definidos por interés y por competencia. Es importante decirlo desde el inicio: CascoVision no nace en esta asignatura, nace en Evaluación de Proyectos, donde fue formulado y evaluado técnica, comercial y económicamente. Aquí pasa de evaluado a construido.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Joaquín · ~50 s. Antes de hablar del problema, el contexto: la construcción pesa cerca de un 7% del PIB chileno y emplea a más de 600 mil personas, con una de las tasas de accidentabilidad más altas del país. Todo esto ocurre bajo un marco legal exigente: Ley 16.744 y Decreto Supremo 594. Los actores son las constructoras, los prevencionistas de riesgos en terreno y las mutualidades.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Joaquín · ~60 s. El problema tiene tres capas. El hecho: buena parte de los accidentes es evitable, ocurre por no usar casco o chaleco. La causa raíz: la supervisión depende de una persona que no puede estar en todos los frentes a la vez, así que hoy se revisa el video después del accidente, no antes. Y el costo: multas de la Dirección del Trabajo de hasta 9 millones 750 mil pesos, más el costo humano. La pregunta que nos hicimos fue: ¿y si el aviso llegara antes del accidente, directo al trabajador?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Joaquín · ~60 s. Esta es la frase que resume todo el proyecto. Tres diferenciadores: cero hardware nuevo de cámaras, alerta directa al trabajador en menos de 5 segundos, y todo procesado localmente en la faena. Y algo que declaramos desde ahora: no hay reconocimiento facial ni biometría, aplicamos difuminado automático de rostros — detectamos el equipo, no identificamos personas.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Benjamín · ~50 s. Trabajamos con metodología iterativa incremental, en ciclos quincenales alineados a los hitos de la asignatura. No usamos cascada porque el motor de IA necesita entrenarse, medirse y reentrenarse — eso exige iteración. Cada ciclo cierra con un incremento demostrable. Usamos Git, repositorio compartido y un tablero de tareas para el seguimiento.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Benjamín · ~60 s. El plan cubre 18 semanas en tres fases: definición, desarrollo y presentación, con hitos evaluativos en las semanas 4, 10, 15 y 17-18. El trabajo se organiza en 8 paquetes de la EDT. Una decisión clave de gestión: el paquete de alerta física parte en la Semana 10 contra un receptor simulado, así un retraso de hardware no bloquea el resto del proyecto.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Benjamín · ~40 s. Los roles se asignaron por interés y por competencia: Iahn en IA y jefatura de proyecto, Joaquín en backend y datos, yo en frontend y reportería, y Fernando en IoT y pruebas. La documentación es compartida, consolidada por Iahn. Cada paquete tiene un responsable único, para que la carga académica paralela no diluya el avance.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Fernando · ~60 s. Este es el inventario del stack y por qué se eligió cada pieza. Lo marcado con el check ya está probado: hay un prototipo funcional de YOLOv8 corriendo en Python sobre video real. Lo marcado con el martillo es lo que se construye durante el semestre. El mensaje central: no investigamos tecnología nueva, integramos piezas ya probadas por separado.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Fernando · ~60 s. La arquitectura tiene cuatro capas: captura por cámaras IP, el agente Edge que corre YOLOv8 localmente, el subsistema de alerta física que resuelve la IP del dispositivo receptor, y la capa de gestión con el dashboard y las notificaciones. El ciclo completo, desde que se detecta la infracción hasta que el trabajador siente la alerta, tiene un objetivo de menos de 5 segundos. Y algo clave: nada de esto sale de la faena hacia la nube.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Iahn · ~60 s. CascoVision exige las cuatro competencias del perfil de egreso, y no por casualidad: las encadena. Pruebas de certificación con criterios medibles, gestión de proyecto con EDT y Gantt, un modelo de datos relacional escalable, y el desarrollo integrado de la solución completa. No se puede probar lo que no se construyó, ni construir sin un modelo de datos, ni sostener nada de eso sin gestión.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Joaquín · ~60 s. Estos son los cinco riesgos más relevantes de los siete identificados. El más crítico es que el hardware del dispositivo no llegue a tiempo, por eso desarrollamos el protocolo IP contra un receptor simulado desde la Semana 10. La matriz sigue la lógica de ISO 31000: identificar, analizar, evaluar y tratar, y se revisa en cada hito de fase.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Fernando · ~60 s. Hablamos de seguridad en tres frentes distintos. Seguridad laboral, que es el propósito mismo del producto. Seguridad de la información, que protege el sistema: todo on-premise, con roles, cifrado en tránsito y logs de auditoría. Y privacidad de las personas: difuminado facial automático, sin biometría ni reconocimiento facial. La idea central: el sistema vigila el equipo de protección, no al trabajador.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Fernando · ~70 s. El marco normativo se organiza en tres familias. Primero, seguridad y salud en el trabajo: ISO 45001 es la norma central del negocio, y CascoVision le aporta evidencia auditable — identificación de peligros, controles operacionales, seguimiento y registro de incidentes. Segundo, seguridad de la información y privacidad: tomamos como referencia el Anexo A de ISO 27001 para los controles del sistema, ISO 27701 y 29100 para el tratamiento de imágenes, y 27400 e IEC 62443 para el dispositivo IoT y la red en faena. Tercero, calidad e inteligencia artificial: 25010 y 29119 estructuran nuestro plan de pruebas, y 42001 y 23894 la gobernanza y los riesgos del modelo YOLOv8. Una aclaración importante: no estamos certificados en ninguna de estas normas, son normas de sistema de gestión que certifican organizaciones, no productos. Lo que hacemos es diseñar alineados a sus lineamientos y aportar evidencia para que el cliente las certifique.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Benjamín · ~45 s. El modelo es venta única, con licencia perpetua: el cliente lo compra una vez y lo incorpora como un activo propio, no como una suscripción mensual. La viabilidad no depende de explotarlo comercialmente de forma recurrente, sino de que evitar multas y accidentes ya justifica la inversión para una constructora. El precio exacto, el mercado y los indicadores financieros están en el estudio de viabilidad económica que hicimos en Evaluación de Proyectos — no es el foco de esta presentación.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Iahn · ~70 s. [Insertar aquí la captura real del prototipo antes de presentar, reemplazando el recuadro de marcador de posición — ver Paso 6 de la guía]. A la izquierda, la captura real del prototipo funcional detectando casco y chaleco, con el rostro difuminado. A la derecha, el diseño propuesto del dashboard de monitoreo y el detalle de un incidente. Es importante distinguir: la detección es prototipo funcional, el dashboard es diseño propuesto para la Fase 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Iahn · ~50 s. En resumen: cámaras existentes más IA que detecta EPP más un dispositivo que avisa al trabajador antes del accidente. El proyecto es factible porque el motor de detección ya tiene un prototipo validado, y las 18 semanas se dedican a integrar y endurecer piezas ya probadas, no a investigar desde cero. A la Semana 10 traemos el motor entrenado, la API funcionando y el esquema de datos implementado. Muchas gracias, quedamos atentos a sus preguntas.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10.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93408"/>
            <a:ext cx="12191695" cy="1645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6459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371600"/>
            <a:ext cx="7315200" cy="457200"/>
          </a:xfrm>
          <a:prstGeom prst="rect">
            <a:avLst/>
          </a:prstGeom>
          <a:noFill/>
        </p:spPr>
        <p:txBody>
          <a:bodyPr wrap="square" lIns="0" tIns="0" rIns="0" bIns="0" anchor="t">
            <a:spAutoFit/>
          </a:bodyPr>
          <a:lstStyle/>
          <a:p>
            <a:pPr algn="l">
              <a:lnSpc>
                <a:spcPct val="100000"/>
              </a:lnSpc>
            </a:pPr>
            <a:r>
              <a:rPr sz="1400" b="1" i="0">
                <a:solidFill>
                  <a:srgbClr val="F59E0B"/>
                </a:solidFill>
                <a:latin typeface="Calibri"/>
              </a:rPr>
              <a:t>PROYECTO APT · CAPSTONE PTY4614 · 2026.02</a:t>
            </a:r>
          </a:p>
        </p:txBody>
      </p:sp>
      <p:sp>
        <p:nvSpPr>
          <p:cNvPr id="6" name="TextBox 5"/>
          <p:cNvSpPr txBox="1"/>
          <p:nvPr/>
        </p:nvSpPr>
        <p:spPr>
          <a:xfrm>
            <a:off x="777240" y="1874519"/>
            <a:ext cx="10058400" cy="1463040"/>
          </a:xfrm>
          <a:prstGeom prst="rect">
            <a:avLst/>
          </a:prstGeom>
          <a:noFill/>
        </p:spPr>
        <p:txBody>
          <a:bodyPr wrap="square" lIns="0" tIns="0" rIns="0" bIns="0" anchor="t">
            <a:spAutoFit/>
          </a:bodyPr>
          <a:lstStyle/>
          <a:p>
            <a:pPr algn="l">
              <a:lnSpc>
                <a:spcPct val="100000"/>
              </a:lnSpc>
            </a:pPr>
            <a:r>
              <a:rPr sz="6400" b="1" i="0">
                <a:solidFill>
                  <a:srgbClr val="FFFFFF"/>
                </a:solidFill>
                <a:latin typeface="Calibri"/>
              </a:rPr>
              <a:t>CascoVision</a:t>
            </a:r>
          </a:p>
        </p:txBody>
      </p:sp>
      <p:sp>
        <p:nvSpPr>
          <p:cNvPr id="7" name="TextBox 6"/>
          <p:cNvSpPr txBox="1"/>
          <p:nvPr/>
        </p:nvSpPr>
        <p:spPr>
          <a:xfrm>
            <a:off x="822960" y="3063240"/>
            <a:ext cx="9601200" cy="822960"/>
          </a:xfrm>
          <a:prstGeom prst="rect">
            <a:avLst/>
          </a:prstGeom>
          <a:noFill/>
        </p:spPr>
        <p:txBody>
          <a:bodyPr wrap="square" lIns="0" tIns="0" rIns="0" bIns="0" anchor="t">
            <a:spAutoFit/>
          </a:bodyPr>
          <a:lstStyle/>
          <a:p>
            <a:pPr algn="l">
              <a:lnSpc>
                <a:spcPct val="115000"/>
              </a:lnSpc>
            </a:pPr>
            <a:r>
              <a:rPr sz="2000" b="0" i="0">
                <a:solidFill>
                  <a:srgbClr val="D1D5DB"/>
                </a:solidFill>
                <a:latin typeface="Calibri"/>
              </a:rPr>
              <a:t>Detección automatizada de EPP mediante visión computacional</a:t>
            </a:r>
          </a:p>
          <a:p>
            <a:pPr algn="l">
              <a:lnSpc>
                <a:spcPct val="115000"/>
              </a:lnSpc>
            </a:pPr>
            <a:r>
              <a:rPr sz="2000" b="0" i="0">
                <a:solidFill>
                  <a:srgbClr val="D1D5DB"/>
                </a:solidFill>
                <a:latin typeface="Calibri"/>
              </a:rPr>
              <a:t>y alerta física en tiempo real</a:t>
            </a:r>
          </a:p>
        </p:txBody>
      </p:sp>
      <p:sp>
        <p:nvSpPr>
          <p:cNvPr id="8" name="Rectangle 7"/>
          <p:cNvSpPr/>
          <p:nvPr/>
        </p:nvSpPr>
        <p:spPr>
          <a:xfrm>
            <a:off x="822960" y="4160520"/>
            <a:ext cx="2743200" cy="25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4343400"/>
            <a:ext cx="10058400" cy="365760"/>
          </a:xfrm>
          <a:prstGeom prst="rect">
            <a:avLst/>
          </a:prstGeom>
          <a:noFill/>
        </p:spPr>
        <p:txBody>
          <a:bodyPr wrap="square" lIns="0" tIns="0" rIns="0" bIns="0" anchor="t">
            <a:spAutoFit/>
          </a:bodyPr>
          <a:lstStyle/>
          <a:p>
            <a:pPr algn="l">
              <a:lnSpc>
                <a:spcPct val="100000"/>
              </a:lnSpc>
            </a:pPr>
            <a:r>
              <a:rPr sz="1700" b="1" i="0">
                <a:solidFill>
                  <a:srgbClr val="FFFFFF"/>
                </a:solidFill>
                <a:latin typeface="Calibri"/>
              </a:rPr>
              <a:t>Iahn Vera  ·  Joaquín Armijo  ·  Benjamín Cáceres  ·  Fernando Muñoz</a:t>
            </a:r>
          </a:p>
        </p:txBody>
      </p:sp>
      <p:sp>
        <p:nvSpPr>
          <p:cNvPr id="10" name="TextBox 9"/>
          <p:cNvSpPr txBox="1"/>
          <p:nvPr/>
        </p:nvSpPr>
        <p:spPr>
          <a:xfrm>
            <a:off x="822960" y="4709160"/>
            <a:ext cx="10058400" cy="365760"/>
          </a:xfrm>
          <a:prstGeom prst="rect">
            <a:avLst/>
          </a:prstGeom>
          <a:noFill/>
        </p:spPr>
        <p:txBody>
          <a:bodyPr wrap="square" lIns="0" tIns="0" rIns="0" bIns="0" anchor="t">
            <a:spAutoFit/>
          </a:bodyPr>
          <a:lstStyle/>
          <a:p>
            <a:pPr algn="l">
              <a:lnSpc>
                <a:spcPct val="120000"/>
              </a:lnSpc>
            </a:pPr>
            <a:r>
              <a:rPr sz="1300" b="0" i="1">
                <a:solidFill>
                  <a:srgbClr val="6B7280"/>
                </a:solidFill>
                <a:latin typeface="Calibri"/>
              </a:rPr>
              <a:t>Cámaras existentes + IA que ve si falta el casco o el chaleco + un dispositivo que vibra</a:t>
            </a:r>
          </a:p>
          <a:p>
            <a:pPr algn="l">
              <a:lnSpc>
                <a:spcPct val="120000"/>
              </a:lnSpc>
            </a:pPr>
            <a:r>
              <a:rPr sz="1300" b="0" i="1">
                <a:solidFill>
                  <a:srgbClr val="6B7280"/>
                </a:solidFill>
                <a:latin typeface="Calibri"/>
              </a:rPr>
              <a:t>y suena para avisarle al trabajador antes de que ocurra el accidente.</a:t>
            </a:r>
          </a:p>
        </p:txBody>
      </p:sp>
      <p:sp>
        <p:nvSpPr>
          <p:cNvPr id="11" name="TextBox 10"/>
          <p:cNvSpPr txBox="1"/>
          <p:nvPr/>
        </p:nvSpPr>
        <p:spPr>
          <a:xfrm>
            <a:off x="822960" y="6126480"/>
            <a:ext cx="5486400" cy="365760"/>
          </a:xfrm>
          <a:prstGeom prst="rect">
            <a:avLst/>
          </a:prstGeom>
          <a:noFill/>
        </p:spPr>
        <p:txBody>
          <a:bodyPr wrap="square" lIns="0" tIns="0" rIns="0" bIns="0" anchor="t">
            <a:spAutoFit/>
          </a:bodyPr>
          <a:lstStyle/>
          <a:p>
            <a:pPr algn="l">
              <a:lnSpc>
                <a:spcPct val="100000"/>
              </a:lnSpc>
            </a:pPr>
            <a:r>
              <a:rPr sz="1200" b="0" i="0">
                <a:solidFill>
                  <a:srgbClr val="F59E0B"/>
                </a:solidFill>
                <a:latin typeface="Calibri"/>
              </a:rPr>
              <a:t>Fase 1 · Definición del proyecto · Semana 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ÍNDICE</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Lo que veremos hoy</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691640"/>
            <a:ext cx="548640" cy="411480"/>
          </a:xfrm>
          <a:prstGeom prst="rect">
            <a:avLst/>
          </a:prstGeom>
          <a:noFill/>
        </p:spPr>
        <p:txBody>
          <a:bodyPr wrap="square" lIns="0" tIns="0" rIns="0" bIns="0" anchor="t">
            <a:spAutoFit/>
          </a:bodyPr>
          <a:lstStyle/>
          <a:p>
            <a:pPr algn="l">
              <a:lnSpc>
                <a:spcPct val="100000"/>
              </a:lnSpc>
            </a:pPr>
            <a:r>
              <a:rPr sz="2000" b="1" i="0">
                <a:solidFill>
                  <a:srgbClr val="F59E0B"/>
                </a:solidFill>
                <a:latin typeface="Calibri"/>
              </a:rPr>
              <a:t>01</a:t>
            </a:r>
          </a:p>
        </p:txBody>
      </p:sp>
      <p:sp>
        <p:nvSpPr>
          <p:cNvPr id="8" name="TextBox 7"/>
          <p:cNvSpPr txBox="1"/>
          <p:nvPr/>
        </p:nvSpPr>
        <p:spPr>
          <a:xfrm>
            <a:off x="1234440" y="1691640"/>
            <a:ext cx="4389120" cy="411480"/>
          </a:xfrm>
          <a:prstGeom prst="rect">
            <a:avLst/>
          </a:prstGeom>
          <a:noFill/>
        </p:spPr>
        <p:txBody>
          <a:bodyPr wrap="square" lIns="0" tIns="0" rIns="0" bIns="0" anchor="t">
            <a:spAutoFit/>
          </a:bodyPr>
          <a:lstStyle/>
          <a:p>
            <a:pPr algn="l">
              <a:lnSpc>
                <a:spcPct val="100000"/>
              </a:lnSpc>
            </a:pPr>
            <a:r>
              <a:rPr sz="1800" b="0" i="0">
                <a:solidFill>
                  <a:srgbClr val="1F2937"/>
                </a:solidFill>
                <a:latin typeface="Calibri"/>
              </a:rPr>
              <a:t>Introducción</a:t>
            </a:r>
          </a:p>
        </p:txBody>
      </p:sp>
      <p:sp>
        <p:nvSpPr>
          <p:cNvPr id="9" name="TextBox 8"/>
          <p:cNvSpPr txBox="1"/>
          <p:nvPr/>
        </p:nvSpPr>
        <p:spPr>
          <a:xfrm>
            <a:off x="640080" y="2350008"/>
            <a:ext cx="548640" cy="411480"/>
          </a:xfrm>
          <a:prstGeom prst="rect">
            <a:avLst/>
          </a:prstGeom>
          <a:noFill/>
        </p:spPr>
        <p:txBody>
          <a:bodyPr wrap="square" lIns="0" tIns="0" rIns="0" bIns="0" anchor="t">
            <a:spAutoFit/>
          </a:bodyPr>
          <a:lstStyle/>
          <a:p>
            <a:pPr algn="l">
              <a:lnSpc>
                <a:spcPct val="100000"/>
              </a:lnSpc>
            </a:pPr>
            <a:r>
              <a:rPr sz="2000" b="1" i="0">
                <a:solidFill>
                  <a:srgbClr val="F59E0B"/>
                </a:solidFill>
                <a:latin typeface="Calibri"/>
              </a:rPr>
              <a:t>02</a:t>
            </a:r>
          </a:p>
        </p:txBody>
      </p:sp>
      <p:sp>
        <p:nvSpPr>
          <p:cNvPr id="10" name="TextBox 9"/>
          <p:cNvSpPr txBox="1"/>
          <p:nvPr/>
        </p:nvSpPr>
        <p:spPr>
          <a:xfrm>
            <a:off x="1234440" y="2350008"/>
            <a:ext cx="4389120" cy="411480"/>
          </a:xfrm>
          <a:prstGeom prst="rect">
            <a:avLst/>
          </a:prstGeom>
          <a:noFill/>
        </p:spPr>
        <p:txBody>
          <a:bodyPr wrap="square" lIns="0" tIns="0" rIns="0" bIns="0" anchor="t">
            <a:spAutoFit/>
          </a:bodyPr>
          <a:lstStyle/>
          <a:p>
            <a:pPr algn="l">
              <a:lnSpc>
                <a:spcPct val="100000"/>
              </a:lnSpc>
            </a:pPr>
            <a:r>
              <a:rPr sz="1800" b="0" i="0">
                <a:solidFill>
                  <a:srgbClr val="1F2937"/>
                </a:solidFill>
                <a:latin typeface="Calibri"/>
              </a:rPr>
              <a:t>Contexto</a:t>
            </a:r>
          </a:p>
        </p:txBody>
      </p:sp>
      <p:sp>
        <p:nvSpPr>
          <p:cNvPr id="11" name="TextBox 10"/>
          <p:cNvSpPr txBox="1"/>
          <p:nvPr/>
        </p:nvSpPr>
        <p:spPr>
          <a:xfrm>
            <a:off x="640080" y="3008376"/>
            <a:ext cx="548640" cy="411480"/>
          </a:xfrm>
          <a:prstGeom prst="rect">
            <a:avLst/>
          </a:prstGeom>
          <a:noFill/>
        </p:spPr>
        <p:txBody>
          <a:bodyPr wrap="square" lIns="0" tIns="0" rIns="0" bIns="0" anchor="t">
            <a:spAutoFit/>
          </a:bodyPr>
          <a:lstStyle/>
          <a:p>
            <a:pPr algn="l">
              <a:lnSpc>
                <a:spcPct val="100000"/>
              </a:lnSpc>
            </a:pPr>
            <a:r>
              <a:rPr sz="2000" b="1" i="0">
                <a:solidFill>
                  <a:srgbClr val="F59E0B"/>
                </a:solidFill>
                <a:latin typeface="Calibri"/>
              </a:rPr>
              <a:t>03</a:t>
            </a:r>
          </a:p>
        </p:txBody>
      </p:sp>
      <p:sp>
        <p:nvSpPr>
          <p:cNvPr id="12" name="TextBox 11"/>
          <p:cNvSpPr txBox="1"/>
          <p:nvPr/>
        </p:nvSpPr>
        <p:spPr>
          <a:xfrm>
            <a:off x="1234440" y="3008376"/>
            <a:ext cx="4389120" cy="411480"/>
          </a:xfrm>
          <a:prstGeom prst="rect">
            <a:avLst/>
          </a:prstGeom>
          <a:noFill/>
        </p:spPr>
        <p:txBody>
          <a:bodyPr wrap="square" lIns="0" tIns="0" rIns="0" bIns="0" anchor="t">
            <a:spAutoFit/>
          </a:bodyPr>
          <a:lstStyle/>
          <a:p>
            <a:pPr algn="l">
              <a:lnSpc>
                <a:spcPct val="100000"/>
              </a:lnSpc>
            </a:pPr>
            <a:r>
              <a:rPr sz="1800" b="0" i="0">
                <a:solidFill>
                  <a:srgbClr val="1F2937"/>
                </a:solidFill>
                <a:latin typeface="Calibri"/>
              </a:rPr>
              <a:t>Problemática</a:t>
            </a:r>
          </a:p>
        </p:txBody>
      </p:sp>
      <p:sp>
        <p:nvSpPr>
          <p:cNvPr id="13" name="TextBox 12"/>
          <p:cNvSpPr txBox="1"/>
          <p:nvPr/>
        </p:nvSpPr>
        <p:spPr>
          <a:xfrm>
            <a:off x="640080" y="3666744"/>
            <a:ext cx="548640" cy="411480"/>
          </a:xfrm>
          <a:prstGeom prst="rect">
            <a:avLst/>
          </a:prstGeom>
          <a:noFill/>
        </p:spPr>
        <p:txBody>
          <a:bodyPr wrap="square" lIns="0" tIns="0" rIns="0" bIns="0" anchor="t">
            <a:spAutoFit/>
          </a:bodyPr>
          <a:lstStyle/>
          <a:p>
            <a:pPr algn="l">
              <a:lnSpc>
                <a:spcPct val="100000"/>
              </a:lnSpc>
            </a:pPr>
            <a:r>
              <a:rPr sz="2000" b="1" i="0">
                <a:solidFill>
                  <a:srgbClr val="F59E0B"/>
                </a:solidFill>
                <a:latin typeface="Calibri"/>
              </a:rPr>
              <a:t>04</a:t>
            </a:r>
          </a:p>
        </p:txBody>
      </p:sp>
      <p:sp>
        <p:nvSpPr>
          <p:cNvPr id="14" name="TextBox 13"/>
          <p:cNvSpPr txBox="1"/>
          <p:nvPr/>
        </p:nvSpPr>
        <p:spPr>
          <a:xfrm>
            <a:off x="1234440" y="3666744"/>
            <a:ext cx="4389120" cy="411480"/>
          </a:xfrm>
          <a:prstGeom prst="rect">
            <a:avLst/>
          </a:prstGeom>
          <a:noFill/>
        </p:spPr>
        <p:txBody>
          <a:bodyPr wrap="square" lIns="0" tIns="0" rIns="0" bIns="0" anchor="t">
            <a:spAutoFit/>
          </a:bodyPr>
          <a:lstStyle/>
          <a:p>
            <a:pPr algn="l">
              <a:lnSpc>
                <a:spcPct val="100000"/>
              </a:lnSpc>
            </a:pPr>
            <a:r>
              <a:rPr sz="1800" b="0" i="0">
                <a:solidFill>
                  <a:srgbClr val="1F2937"/>
                </a:solidFill>
                <a:latin typeface="Calibri"/>
              </a:rPr>
              <a:t>Solución</a:t>
            </a:r>
          </a:p>
        </p:txBody>
      </p:sp>
      <p:sp>
        <p:nvSpPr>
          <p:cNvPr id="15" name="TextBox 14"/>
          <p:cNvSpPr txBox="1"/>
          <p:nvPr/>
        </p:nvSpPr>
        <p:spPr>
          <a:xfrm>
            <a:off x="640080" y="4325112"/>
            <a:ext cx="548640" cy="411480"/>
          </a:xfrm>
          <a:prstGeom prst="rect">
            <a:avLst/>
          </a:prstGeom>
          <a:noFill/>
        </p:spPr>
        <p:txBody>
          <a:bodyPr wrap="square" lIns="0" tIns="0" rIns="0" bIns="0" anchor="t">
            <a:spAutoFit/>
          </a:bodyPr>
          <a:lstStyle/>
          <a:p>
            <a:pPr algn="l">
              <a:lnSpc>
                <a:spcPct val="100000"/>
              </a:lnSpc>
            </a:pPr>
            <a:r>
              <a:rPr sz="2000" b="1" i="0">
                <a:solidFill>
                  <a:srgbClr val="F59E0B"/>
                </a:solidFill>
                <a:latin typeface="Calibri"/>
              </a:rPr>
              <a:t>05</a:t>
            </a:r>
          </a:p>
        </p:txBody>
      </p:sp>
      <p:sp>
        <p:nvSpPr>
          <p:cNvPr id="16" name="TextBox 15"/>
          <p:cNvSpPr txBox="1"/>
          <p:nvPr/>
        </p:nvSpPr>
        <p:spPr>
          <a:xfrm>
            <a:off x="1234440" y="4325112"/>
            <a:ext cx="4389120" cy="411480"/>
          </a:xfrm>
          <a:prstGeom prst="rect">
            <a:avLst/>
          </a:prstGeom>
          <a:noFill/>
        </p:spPr>
        <p:txBody>
          <a:bodyPr wrap="square" lIns="0" tIns="0" rIns="0" bIns="0" anchor="t">
            <a:spAutoFit/>
          </a:bodyPr>
          <a:lstStyle/>
          <a:p>
            <a:pPr algn="l">
              <a:lnSpc>
                <a:spcPct val="100000"/>
              </a:lnSpc>
            </a:pPr>
            <a:r>
              <a:rPr sz="1800" b="0" i="0">
                <a:solidFill>
                  <a:srgbClr val="1F2937"/>
                </a:solidFill>
                <a:latin typeface="Calibri"/>
              </a:rPr>
              <a:t>Metodología / Plan / Roles</a:t>
            </a:r>
          </a:p>
        </p:txBody>
      </p:sp>
      <p:sp>
        <p:nvSpPr>
          <p:cNvPr id="17" name="TextBox 16"/>
          <p:cNvSpPr txBox="1"/>
          <p:nvPr/>
        </p:nvSpPr>
        <p:spPr>
          <a:xfrm>
            <a:off x="640080" y="4983480"/>
            <a:ext cx="548640" cy="411480"/>
          </a:xfrm>
          <a:prstGeom prst="rect">
            <a:avLst/>
          </a:prstGeom>
          <a:noFill/>
        </p:spPr>
        <p:txBody>
          <a:bodyPr wrap="square" lIns="0" tIns="0" rIns="0" bIns="0" anchor="t">
            <a:spAutoFit/>
          </a:bodyPr>
          <a:lstStyle/>
          <a:p>
            <a:pPr algn="l">
              <a:lnSpc>
                <a:spcPct val="100000"/>
              </a:lnSpc>
            </a:pPr>
            <a:r>
              <a:rPr sz="2000" b="1" i="0">
                <a:solidFill>
                  <a:srgbClr val="F59E0B"/>
                </a:solidFill>
                <a:latin typeface="Calibri"/>
              </a:rPr>
              <a:t>06</a:t>
            </a:r>
          </a:p>
        </p:txBody>
      </p:sp>
      <p:sp>
        <p:nvSpPr>
          <p:cNvPr id="18" name="TextBox 17"/>
          <p:cNvSpPr txBox="1"/>
          <p:nvPr/>
        </p:nvSpPr>
        <p:spPr>
          <a:xfrm>
            <a:off x="1234440" y="4983480"/>
            <a:ext cx="4389120" cy="411480"/>
          </a:xfrm>
          <a:prstGeom prst="rect">
            <a:avLst/>
          </a:prstGeom>
          <a:noFill/>
        </p:spPr>
        <p:txBody>
          <a:bodyPr wrap="square" lIns="0" tIns="0" rIns="0" bIns="0" anchor="t">
            <a:spAutoFit/>
          </a:bodyPr>
          <a:lstStyle/>
          <a:p>
            <a:pPr algn="l">
              <a:lnSpc>
                <a:spcPct val="100000"/>
              </a:lnSpc>
            </a:pPr>
            <a:r>
              <a:rPr sz="1800" b="0" i="0">
                <a:solidFill>
                  <a:srgbClr val="1F2937"/>
                </a:solidFill>
                <a:latin typeface="Calibri"/>
              </a:rPr>
              <a:t>Mapa tecnológico</a:t>
            </a:r>
          </a:p>
        </p:txBody>
      </p:sp>
      <p:sp>
        <p:nvSpPr>
          <p:cNvPr id="19" name="TextBox 18"/>
          <p:cNvSpPr txBox="1"/>
          <p:nvPr/>
        </p:nvSpPr>
        <p:spPr>
          <a:xfrm>
            <a:off x="6309360" y="1691640"/>
            <a:ext cx="548640" cy="411480"/>
          </a:xfrm>
          <a:prstGeom prst="rect">
            <a:avLst/>
          </a:prstGeom>
          <a:noFill/>
        </p:spPr>
        <p:txBody>
          <a:bodyPr wrap="square" lIns="0" tIns="0" rIns="0" bIns="0" anchor="t">
            <a:spAutoFit/>
          </a:bodyPr>
          <a:lstStyle/>
          <a:p>
            <a:pPr algn="l">
              <a:lnSpc>
                <a:spcPct val="100000"/>
              </a:lnSpc>
            </a:pPr>
            <a:r>
              <a:rPr sz="2000" b="1" i="0">
                <a:solidFill>
                  <a:srgbClr val="F59E0B"/>
                </a:solidFill>
                <a:latin typeface="Calibri"/>
              </a:rPr>
              <a:t>07</a:t>
            </a:r>
          </a:p>
        </p:txBody>
      </p:sp>
      <p:sp>
        <p:nvSpPr>
          <p:cNvPr id="20" name="TextBox 19"/>
          <p:cNvSpPr txBox="1"/>
          <p:nvPr/>
        </p:nvSpPr>
        <p:spPr>
          <a:xfrm>
            <a:off x="6903720" y="1691640"/>
            <a:ext cx="4389120" cy="411480"/>
          </a:xfrm>
          <a:prstGeom prst="rect">
            <a:avLst/>
          </a:prstGeom>
          <a:noFill/>
        </p:spPr>
        <p:txBody>
          <a:bodyPr wrap="square" lIns="0" tIns="0" rIns="0" bIns="0" anchor="t">
            <a:spAutoFit/>
          </a:bodyPr>
          <a:lstStyle/>
          <a:p>
            <a:pPr algn="l">
              <a:lnSpc>
                <a:spcPct val="100000"/>
              </a:lnSpc>
            </a:pPr>
            <a:r>
              <a:rPr sz="1800" b="0" i="0">
                <a:solidFill>
                  <a:srgbClr val="1F2937"/>
                </a:solidFill>
                <a:latin typeface="Calibri"/>
              </a:rPr>
              <a:t>Arquitectura</a:t>
            </a:r>
          </a:p>
        </p:txBody>
      </p:sp>
      <p:sp>
        <p:nvSpPr>
          <p:cNvPr id="21" name="TextBox 20"/>
          <p:cNvSpPr txBox="1"/>
          <p:nvPr/>
        </p:nvSpPr>
        <p:spPr>
          <a:xfrm>
            <a:off x="6309360" y="2350008"/>
            <a:ext cx="548640" cy="411480"/>
          </a:xfrm>
          <a:prstGeom prst="rect">
            <a:avLst/>
          </a:prstGeom>
          <a:noFill/>
        </p:spPr>
        <p:txBody>
          <a:bodyPr wrap="square" lIns="0" tIns="0" rIns="0" bIns="0" anchor="t">
            <a:spAutoFit/>
          </a:bodyPr>
          <a:lstStyle/>
          <a:p>
            <a:pPr algn="l">
              <a:lnSpc>
                <a:spcPct val="100000"/>
              </a:lnSpc>
            </a:pPr>
            <a:r>
              <a:rPr sz="2000" b="1" i="0">
                <a:solidFill>
                  <a:srgbClr val="F59E0B"/>
                </a:solidFill>
                <a:latin typeface="Calibri"/>
              </a:rPr>
              <a:t>08</a:t>
            </a:r>
          </a:p>
        </p:txBody>
      </p:sp>
      <p:sp>
        <p:nvSpPr>
          <p:cNvPr id="22" name="TextBox 21"/>
          <p:cNvSpPr txBox="1"/>
          <p:nvPr/>
        </p:nvSpPr>
        <p:spPr>
          <a:xfrm>
            <a:off x="6903720" y="2350008"/>
            <a:ext cx="4389120" cy="411480"/>
          </a:xfrm>
          <a:prstGeom prst="rect">
            <a:avLst/>
          </a:prstGeom>
          <a:noFill/>
        </p:spPr>
        <p:txBody>
          <a:bodyPr wrap="square" lIns="0" tIns="0" rIns="0" bIns="0" anchor="t">
            <a:spAutoFit/>
          </a:bodyPr>
          <a:lstStyle/>
          <a:p>
            <a:pPr algn="l">
              <a:lnSpc>
                <a:spcPct val="100000"/>
              </a:lnSpc>
            </a:pPr>
            <a:r>
              <a:rPr sz="1800" b="0" i="0">
                <a:solidFill>
                  <a:srgbClr val="1F2937"/>
                </a:solidFill>
                <a:latin typeface="Calibri"/>
              </a:rPr>
              <a:t>Competencias</a:t>
            </a:r>
          </a:p>
        </p:txBody>
      </p:sp>
      <p:sp>
        <p:nvSpPr>
          <p:cNvPr id="23" name="TextBox 22"/>
          <p:cNvSpPr txBox="1"/>
          <p:nvPr/>
        </p:nvSpPr>
        <p:spPr>
          <a:xfrm>
            <a:off x="6309360" y="3008376"/>
            <a:ext cx="548640" cy="411480"/>
          </a:xfrm>
          <a:prstGeom prst="rect">
            <a:avLst/>
          </a:prstGeom>
          <a:noFill/>
        </p:spPr>
        <p:txBody>
          <a:bodyPr wrap="square" lIns="0" tIns="0" rIns="0" bIns="0" anchor="t">
            <a:spAutoFit/>
          </a:bodyPr>
          <a:lstStyle/>
          <a:p>
            <a:pPr algn="l">
              <a:lnSpc>
                <a:spcPct val="100000"/>
              </a:lnSpc>
            </a:pPr>
            <a:r>
              <a:rPr sz="2000" b="1" i="0">
                <a:solidFill>
                  <a:srgbClr val="F59E0B"/>
                </a:solidFill>
                <a:latin typeface="Calibri"/>
              </a:rPr>
              <a:t>09</a:t>
            </a:r>
          </a:p>
        </p:txBody>
      </p:sp>
      <p:sp>
        <p:nvSpPr>
          <p:cNvPr id="24" name="TextBox 23"/>
          <p:cNvSpPr txBox="1"/>
          <p:nvPr/>
        </p:nvSpPr>
        <p:spPr>
          <a:xfrm>
            <a:off x="6903720" y="3008376"/>
            <a:ext cx="4389120" cy="411480"/>
          </a:xfrm>
          <a:prstGeom prst="rect">
            <a:avLst/>
          </a:prstGeom>
          <a:noFill/>
        </p:spPr>
        <p:txBody>
          <a:bodyPr wrap="square" lIns="0" tIns="0" rIns="0" bIns="0" anchor="t">
            <a:spAutoFit/>
          </a:bodyPr>
          <a:lstStyle/>
          <a:p>
            <a:pPr algn="l">
              <a:lnSpc>
                <a:spcPct val="100000"/>
              </a:lnSpc>
            </a:pPr>
            <a:r>
              <a:rPr sz="1800" b="0" i="0">
                <a:solidFill>
                  <a:srgbClr val="1F2937"/>
                </a:solidFill>
                <a:latin typeface="Calibri"/>
              </a:rPr>
              <a:t>Riesgos</a:t>
            </a:r>
          </a:p>
        </p:txBody>
      </p:sp>
      <p:sp>
        <p:nvSpPr>
          <p:cNvPr id="25" name="TextBox 24"/>
          <p:cNvSpPr txBox="1"/>
          <p:nvPr/>
        </p:nvSpPr>
        <p:spPr>
          <a:xfrm>
            <a:off x="6309360" y="3666744"/>
            <a:ext cx="548640" cy="411480"/>
          </a:xfrm>
          <a:prstGeom prst="rect">
            <a:avLst/>
          </a:prstGeom>
          <a:noFill/>
        </p:spPr>
        <p:txBody>
          <a:bodyPr wrap="square" lIns="0" tIns="0" rIns="0" bIns="0" anchor="t">
            <a:spAutoFit/>
          </a:bodyPr>
          <a:lstStyle/>
          <a:p>
            <a:pPr algn="l">
              <a:lnSpc>
                <a:spcPct val="100000"/>
              </a:lnSpc>
            </a:pPr>
            <a:r>
              <a:rPr sz="2000" b="1" i="0">
                <a:solidFill>
                  <a:srgbClr val="F59E0B"/>
                </a:solidFill>
                <a:latin typeface="Calibri"/>
              </a:rPr>
              <a:t>10</a:t>
            </a:r>
          </a:p>
        </p:txBody>
      </p:sp>
      <p:sp>
        <p:nvSpPr>
          <p:cNvPr id="26" name="TextBox 25"/>
          <p:cNvSpPr txBox="1"/>
          <p:nvPr/>
        </p:nvSpPr>
        <p:spPr>
          <a:xfrm>
            <a:off x="6903720" y="3666744"/>
            <a:ext cx="4389120" cy="411480"/>
          </a:xfrm>
          <a:prstGeom prst="rect">
            <a:avLst/>
          </a:prstGeom>
          <a:noFill/>
        </p:spPr>
        <p:txBody>
          <a:bodyPr wrap="square" lIns="0" tIns="0" rIns="0" bIns="0" anchor="t">
            <a:spAutoFit/>
          </a:bodyPr>
          <a:lstStyle/>
          <a:p>
            <a:pPr algn="l">
              <a:lnSpc>
                <a:spcPct val="100000"/>
              </a:lnSpc>
            </a:pPr>
            <a:r>
              <a:rPr sz="1800" b="0" i="0">
                <a:solidFill>
                  <a:srgbClr val="1F2937"/>
                </a:solidFill>
                <a:latin typeface="Calibri"/>
              </a:rPr>
              <a:t>Seguridad (+ normas ISO)</a:t>
            </a:r>
          </a:p>
        </p:txBody>
      </p:sp>
      <p:sp>
        <p:nvSpPr>
          <p:cNvPr id="27" name="TextBox 26"/>
          <p:cNvSpPr txBox="1"/>
          <p:nvPr/>
        </p:nvSpPr>
        <p:spPr>
          <a:xfrm>
            <a:off x="6309360" y="4325112"/>
            <a:ext cx="548640" cy="411480"/>
          </a:xfrm>
          <a:prstGeom prst="rect">
            <a:avLst/>
          </a:prstGeom>
          <a:noFill/>
        </p:spPr>
        <p:txBody>
          <a:bodyPr wrap="square" lIns="0" tIns="0" rIns="0" bIns="0" anchor="t">
            <a:spAutoFit/>
          </a:bodyPr>
          <a:lstStyle/>
          <a:p>
            <a:pPr algn="l">
              <a:lnSpc>
                <a:spcPct val="100000"/>
              </a:lnSpc>
            </a:pPr>
            <a:r>
              <a:rPr sz="2000" b="1" i="0">
                <a:solidFill>
                  <a:srgbClr val="F59E0B"/>
                </a:solidFill>
                <a:latin typeface="Calibri"/>
              </a:rPr>
              <a:t>11</a:t>
            </a:r>
          </a:p>
        </p:txBody>
      </p:sp>
      <p:sp>
        <p:nvSpPr>
          <p:cNvPr id="28" name="TextBox 27"/>
          <p:cNvSpPr txBox="1"/>
          <p:nvPr/>
        </p:nvSpPr>
        <p:spPr>
          <a:xfrm>
            <a:off x="6903720" y="4325112"/>
            <a:ext cx="4389120" cy="411480"/>
          </a:xfrm>
          <a:prstGeom prst="rect">
            <a:avLst/>
          </a:prstGeom>
          <a:noFill/>
        </p:spPr>
        <p:txBody>
          <a:bodyPr wrap="square" lIns="0" tIns="0" rIns="0" bIns="0" anchor="t">
            <a:spAutoFit/>
          </a:bodyPr>
          <a:lstStyle/>
          <a:p>
            <a:pPr algn="l">
              <a:lnSpc>
                <a:spcPct val="100000"/>
              </a:lnSpc>
            </a:pPr>
            <a:r>
              <a:rPr sz="1800" b="0" i="0">
                <a:solidFill>
                  <a:srgbClr val="1F2937"/>
                </a:solidFill>
                <a:latin typeface="Calibri"/>
              </a:rPr>
              <a:t>Modelo de negocio</a:t>
            </a:r>
          </a:p>
        </p:txBody>
      </p:sp>
      <p:sp>
        <p:nvSpPr>
          <p:cNvPr id="29" name="TextBox 28"/>
          <p:cNvSpPr txBox="1"/>
          <p:nvPr/>
        </p:nvSpPr>
        <p:spPr>
          <a:xfrm>
            <a:off x="6309360" y="4983480"/>
            <a:ext cx="548640" cy="411480"/>
          </a:xfrm>
          <a:prstGeom prst="rect">
            <a:avLst/>
          </a:prstGeom>
          <a:noFill/>
        </p:spPr>
        <p:txBody>
          <a:bodyPr wrap="square" lIns="0" tIns="0" rIns="0" bIns="0" anchor="t">
            <a:spAutoFit/>
          </a:bodyPr>
          <a:lstStyle/>
          <a:p>
            <a:pPr algn="l">
              <a:lnSpc>
                <a:spcPct val="100000"/>
              </a:lnSpc>
            </a:pPr>
            <a:r>
              <a:rPr sz="2000" b="1" i="0">
                <a:solidFill>
                  <a:srgbClr val="F59E0B"/>
                </a:solidFill>
                <a:latin typeface="Calibri"/>
              </a:rPr>
              <a:t>12</a:t>
            </a:r>
          </a:p>
        </p:txBody>
      </p:sp>
      <p:sp>
        <p:nvSpPr>
          <p:cNvPr id="30" name="TextBox 29"/>
          <p:cNvSpPr txBox="1"/>
          <p:nvPr/>
        </p:nvSpPr>
        <p:spPr>
          <a:xfrm>
            <a:off x="6903720" y="4983480"/>
            <a:ext cx="4389120" cy="411480"/>
          </a:xfrm>
          <a:prstGeom prst="rect">
            <a:avLst/>
          </a:prstGeom>
          <a:noFill/>
        </p:spPr>
        <p:txBody>
          <a:bodyPr wrap="square" lIns="0" tIns="0" rIns="0" bIns="0" anchor="t">
            <a:spAutoFit/>
          </a:bodyPr>
          <a:lstStyle/>
          <a:p>
            <a:pPr algn="l">
              <a:lnSpc>
                <a:spcPct val="100000"/>
              </a:lnSpc>
            </a:pPr>
            <a:r>
              <a:rPr sz="1800" b="0" i="0">
                <a:solidFill>
                  <a:srgbClr val="1F2937"/>
                </a:solidFill>
                <a:latin typeface="Calibri"/>
              </a:rPr>
              <a:t>Mockup y conclusión</a:t>
            </a:r>
          </a:p>
        </p:txBody>
      </p:sp>
      <p:sp>
        <p:nvSpPr>
          <p:cNvPr id="31" name="Rectangle 30"/>
          <p:cNvSpPr/>
          <p:nvPr/>
        </p:nvSpPr>
        <p:spPr>
          <a:xfrm>
            <a:off x="5989320" y="1691640"/>
            <a:ext cx="19050" cy="402336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5852160"/>
            <a:ext cx="10515600" cy="548640"/>
          </a:xfrm>
          <a:prstGeom prst="rect">
            <a:avLst/>
          </a:prstGeom>
          <a:noFill/>
        </p:spPr>
        <p:txBody>
          <a:bodyPr wrap="square" lIns="0" tIns="0" rIns="0" bIns="0" anchor="t">
            <a:spAutoFit/>
          </a:bodyPr>
          <a:lstStyle/>
          <a:p>
            <a:pPr algn="l">
              <a:lnSpc>
                <a:spcPct val="100000"/>
              </a:lnSpc>
            </a:pPr>
            <a:r>
              <a:rPr sz="1300" b="0" i="1">
                <a:solidFill>
                  <a:srgbClr val="6B7280"/>
                </a:solidFill>
                <a:latin typeface="Calibri"/>
              </a:rPr>
              <a:t>Tres bloques narrativos:  el problema y la solución  →  cómo lo construimos  →  por qué es viable</a:t>
            </a:r>
          </a:p>
        </p:txBody>
      </p:sp>
      <p:sp>
        <p:nvSpPr>
          <p:cNvPr id="33" name="Rectangle 32"/>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35" name="TextBox 34"/>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02 / 18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INTRODUCCIÓN</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Quiénes somos y qué traemos</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554480"/>
            <a:ext cx="5120640" cy="365760"/>
          </a:xfrm>
          <a:prstGeom prst="rect">
            <a:avLst/>
          </a:prstGeom>
          <a:noFill/>
        </p:spPr>
        <p:txBody>
          <a:bodyPr wrap="square" lIns="0" tIns="0" rIns="0" bIns="0" anchor="t">
            <a:spAutoFit/>
          </a:bodyPr>
          <a:lstStyle/>
          <a:p>
            <a:pPr algn="l">
              <a:lnSpc>
                <a:spcPct val="100000"/>
              </a:lnSpc>
            </a:pPr>
            <a:r>
              <a:rPr sz="1500" b="1" i="0">
                <a:solidFill>
                  <a:srgbClr val="B45309"/>
                </a:solidFill>
                <a:latin typeface="Calibri"/>
              </a:rPr>
              <a:t>El equipo</a:t>
            </a:r>
          </a:p>
        </p:txBody>
      </p:sp>
      <p:sp>
        <p:nvSpPr>
          <p:cNvPr id="8" name="TextBox 7"/>
          <p:cNvSpPr txBox="1"/>
          <p:nvPr/>
        </p:nvSpPr>
        <p:spPr>
          <a:xfrm>
            <a:off x="548640" y="1965960"/>
            <a:ext cx="5212080" cy="3200400"/>
          </a:xfrm>
          <a:prstGeom prst="rect">
            <a:avLst/>
          </a:prstGeom>
          <a:noFill/>
        </p:spPr>
        <p:txBody>
          <a:bodyPr wrap="square" lIns="0" tIns="0" rIns="0" bIns="0">
            <a:spAutoFit/>
          </a:bodyPr>
          <a:lstStyle/>
          <a:p>
            <a:pPr>
              <a:lnSpc>
                <a:spcPct val="105000"/>
              </a:lnSpc>
              <a:spcAft>
                <a:spcPts val="1000"/>
              </a:spcAft>
            </a:pPr>
            <a:r>
              <a:rPr sz="1700" b="1">
                <a:solidFill>
                  <a:srgbClr val="B45309"/>
                </a:solidFill>
                <a:latin typeface="Calibri"/>
              </a:rPr>
              <a:t>›  </a:t>
            </a:r>
            <a:r>
              <a:rPr sz="1700" b="1">
                <a:solidFill>
                  <a:srgbClr val="1F2937"/>
                </a:solidFill>
                <a:latin typeface="Calibri"/>
              </a:rPr>
              <a:t>Iahn Vera — </a:t>
            </a:r>
            <a:r>
              <a:rPr sz="1700" b="0">
                <a:solidFill>
                  <a:srgbClr val="1F2937"/>
                </a:solidFill>
                <a:latin typeface="Calibri"/>
              </a:rPr>
              <a:t>jefe de proyecto / IA</a:t>
            </a:r>
          </a:p>
          <a:p>
            <a:pPr>
              <a:lnSpc>
                <a:spcPct val="105000"/>
              </a:lnSpc>
              <a:spcAft>
                <a:spcPts val="1000"/>
              </a:spcAft>
            </a:pPr>
            <a:r>
              <a:rPr sz="1700" b="1">
                <a:solidFill>
                  <a:srgbClr val="B45309"/>
                </a:solidFill>
                <a:latin typeface="Calibri"/>
              </a:rPr>
              <a:t>›  </a:t>
            </a:r>
            <a:r>
              <a:rPr sz="1700" b="1">
                <a:solidFill>
                  <a:srgbClr val="1F2937"/>
                </a:solidFill>
                <a:latin typeface="Calibri"/>
              </a:rPr>
              <a:t>Joaquín Armijo — </a:t>
            </a:r>
            <a:r>
              <a:rPr sz="1700" b="0">
                <a:solidFill>
                  <a:srgbClr val="1F2937"/>
                </a:solidFill>
                <a:latin typeface="Calibri"/>
              </a:rPr>
              <a:t>backend y datos</a:t>
            </a:r>
          </a:p>
          <a:p>
            <a:pPr>
              <a:lnSpc>
                <a:spcPct val="105000"/>
              </a:lnSpc>
              <a:spcAft>
                <a:spcPts val="1000"/>
              </a:spcAft>
            </a:pPr>
            <a:r>
              <a:rPr sz="1700" b="1">
                <a:solidFill>
                  <a:srgbClr val="B45309"/>
                </a:solidFill>
                <a:latin typeface="Calibri"/>
              </a:rPr>
              <a:t>›  </a:t>
            </a:r>
            <a:r>
              <a:rPr sz="1700" b="1">
                <a:solidFill>
                  <a:srgbClr val="1F2937"/>
                </a:solidFill>
                <a:latin typeface="Calibri"/>
              </a:rPr>
              <a:t>Benjamín Cáceres — </a:t>
            </a:r>
            <a:r>
              <a:rPr sz="1700" b="0">
                <a:solidFill>
                  <a:srgbClr val="1F2937"/>
                </a:solidFill>
                <a:latin typeface="Calibri"/>
              </a:rPr>
              <a:t>frontend y reportería</a:t>
            </a:r>
          </a:p>
          <a:p>
            <a:pPr>
              <a:lnSpc>
                <a:spcPct val="105000"/>
              </a:lnSpc>
              <a:spcAft>
                <a:spcPts val="1000"/>
              </a:spcAft>
            </a:pPr>
            <a:r>
              <a:rPr sz="1700" b="1">
                <a:solidFill>
                  <a:srgbClr val="B45309"/>
                </a:solidFill>
                <a:latin typeface="Calibri"/>
              </a:rPr>
              <a:t>›  </a:t>
            </a:r>
            <a:r>
              <a:rPr sz="1700" b="1">
                <a:solidFill>
                  <a:srgbClr val="1F2937"/>
                </a:solidFill>
                <a:latin typeface="Calibri"/>
              </a:rPr>
              <a:t>Fernando Muñoz — </a:t>
            </a:r>
            <a:r>
              <a:rPr sz="1700" b="0">
                <a:solidFill>
                  <a:srgbClr val="1F2937"/>
                </a:solidFill>
                <a:latin typeface="Calibri"/>
              </a:rPr>
              <a:t>IoT y pruebas</a:t>
            </a:r>
          </a:p>
        </p:txBody>
      </p:sp>
      <p:sp>
        <p:nvSpPr>
          <p:cNvPr id="9" name="TextBox 8"/>
          <p:cNvSpPr txBox="1"/>
          <p:nvPr/>
        </p:nvSpPr>
        <p:spPr>
          <a:xfrm>
            <a:off x="548640" y="3749039"/>
            <a:ext cx="5212080" cy="548640"/>
          </a:xfrm>
          <a:prstGeom prst="rect">
            <a:avLst/>
          </a:prstGeom>
          <a:noFill/>
        </p:spPr>
        <p:txBody>
          <a:bodyPr wrap="square" lIns="0" tIns="0" rIns="0" bIns="0" anchor="t">
            <a:spAutoFit/>
          </a:bodyPr>
          <a:lstStyle/>
          <a:p>
            <a:pPr algn="l">
              <a:lnSpc>
                <a:spcPct val="120000"/>
              </a:lnSpc>
            </a:pPr>
            <a:r>
              <a:rPr sz="1300" b="0" i="0">
                <a:solidFill>
                  <a:srgbClr val="6B7280"/>
                </a:solidFill>
                <a:latin typeface="Calibri"/>
              </a:rPr>
              <a:t>Estudiantes de la asignatura Capstone (PTY4614 / APT122),</a:t>
            </a:r>
          </a:p>
          <a:p>
            <a:pPr algn="l">
              <a:lnSpc>
                <a:spcPct val="120000"/>
              </a:lnSpc>
            </a:pPr>
            <a:r>
              <a:rPr sz="1300" b="0" i="0">
                <a:solidFill>
                  <a:srgbClr val="6B7280"/>
                </a:solidFill>
                <a:latin typeface="Calibri"/>
              </a:rPr>
              <a:t>período 2026.02.</a:t>
            </a:r>
          </a:p>
        </p:txBody>
      </p:sp>
      <p:sp>
        <p:nvSpPr>
          <p:cNvPr id="10" name="Rectangle 9"/>
          <p:cNvSpPr/>
          <p:nvPr/>
        </p:nvSpPr>
        <p:spPr>
          <a:xfrm>
            <a:off x="6126480" y="1554480"/>
            <a:ext cx="19050" cy="448056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554480"/>
            <a:ext cx="5212080" cy="365760"/>
          </a:xfrm>
          <a:prstGeom prst="rect">
            <a:avLst/>
          </a:prstGeom>
          <a:noFill/>
        </p:spPr>
        <p:txBody>
          <a:bodyPr wrap="square" lIns="0" tIns="0" rIns="0" bIns="0" anchor="t">
            <a:spAutoFit/>
          </a:bodyPr>
          <a:lstStyle/>
          <a:p>
            <a:pPr algn="l">
              <a:lnSpc>
                <a:spcPct val="100000"/>
              </a:lnSpc>
            </a:pPr>
            <a:r>
              <a:rPr sz="1500" b="1" i="0">
                <a:solidFill>
                  <a:srgbClr val="B45309"/>
                </a:solidFill>
                <a:latin typeface="Calibri"/>
              </a:rPr>
              <a:t>Qué traemos</a:t>
            </a:r>
          </a:p>
        </p:txBody>
      </p:sp>
      <p:sp>
        <p:nvSpPr>
          <p:cNvPr id="12" name="TextBox 11"/>
          <p:cNvSpPr txBox="1"/>
          <p:nvPr/>
        </p:nvSpPr>
        <p:spPr>
          <a:xfrm>
            <a:off x="6400800" y="1965960"/>
            <a:ext cx="5212080" cy="2011680"/>
          </a:xfrm>
          <a:prstGeom prst="rect">
            <a:avLst/>
          </a:prstGeom>
          <a:noFill/>
        </p:spPr>
        <p:txBody>
          <a:bodyPr wrap="square" lIns="0" tIns="0" rIns="0" bIns="0">
            <a:spAutoFit/>
          </a:bodyPr>
          <a:lstStyle/>
          <a:p>
            <a:pPr>
              <a:lnSpc>
                <a:spcPct val="105000"/>
              </a:lnSpc>
              <a:spcAft>
                <a:spcPts val="1000"/>
              </a:spcAft>
            </a:pPr>
            <a:r>
              <a:rPr sz="1500" b="1">
                <a:solidFill>
                  <a:srgbClr val="B45309"/>
                </a:solidFill>
                <a:latin typeface="Calibri"/>
              </a:rPr>
              <a:t>›  </a:t>
            </a:r>
            <a:r>
              <a:rPr sz="1500">
                <a:solidFill>
                  <a:srgbClr val="1F2937"/>
                </a:solidFill>
                <a:latin typeface="Calibri"/>
              </a:rPr>
              <a:t>El proyecto que construiremos durante las próximas 18 semanas del semestre.</a:t>
            </a:r>
          </a:p>
          <a:p>
            <a:pPr>
              <a:lnSpc>
                <a:spcPct val="105000"/>
              </a:lnSpc>
              <a:spcAft>
                <a:spcPts val="1000"/>
              </a:spcAft>
            </a:pPr>
            <a:r>
              <a:rPr sz="1500" b="1">
                <a:solidFill>
                  <a:srgbClr val="B45309"/>
                </a:solidFill>
                <a:latin typeface="Calibri"/>
              </a:rPr>
              <a:t>›  </a:t>
            </a:r>
            <a:r>
              <a:rPr sz="1500">
                <a:solidFill>
                  <a:srgbClr val="1F2937"/>
                </a:solidFill>
                <a:latin typeface="Calibri"/>
              </a:rPr>
              <a:t>Nace de intereses profesionales compartidos: IA aplicada, IoT, modelos de datos y desarrollo full-stack.</a:t>
            </a:r>
          </a:p>
        </p:txBody>
      </p:sp>
      <p:sp>
        <p:nvSpPr>
          <p:cNvPr id="13" name="Rounded Rectangle 12"/>
          <p:cNvSpPr/>
          <p:nvPr/>
        </p:nvSpPr>
        <p:spPr>
          <a:xfrm>
            <a:off x="6400800" y="4160520"/>
            <a:ext cx="5212080" cy="16916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29400" y="4315968"/>
            <a:ext cx="4754880" cy="1371600"/>
          </a:xfrm>
          <a:prstGeom prst="rect">
            <a:avLst/>
          </a:prstGeom>
          <a:noFill/>
        </p:spPr>
        <p:txBody>
          <a:bodyPr wrap="square" lIns="0" tIns="0" rIns="0" bIns="0" anchor="t">
            <a:spAutoFit/>
          </a:bodyPr>
          <a:lstStyle/>
          <a:p>
            <a:pPr algn="l">
              <a:lnSpc>
                <a:spcPct val="125000"/>
              </a:lnSpc>
            </a:pPr>
            <a:r>
              <a:rPr sz="1350" b="0" i="1">
                <a:solidFill>
                  <a:srgbClr val="1F2937"/>
                </a:solidFill>
                <a:latin typeface="Calibri"/>
              </a:rPr>
              <a:t>CascoVision fue formulado y evaluado en la asignatura Evaluación de Proyectos. En el Capstone, el proyecto pasa de evaluado a construido.</a:t>
            </a:r>
          </a:p>
        </p:txBody>
      </p:sp>
      <p:sp>
        <p:nvSpPr>
          <p:cNvPr id="15" name="Rectangle 14"/>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17" name="TextBox 16"/>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03 / 18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CONTEXTO</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Dónde ocurre esto: la construcción en Chile</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548640" y="1600200"/>
          <a:ext cx="11064240" cy="3017520"/>
        </p:xfrm>
        <a:graphic>
          <a:graphicData uri="http://schemas.openxmlformats.org/drawingml/2006/table">
            <a:tbl>
              <a:tblPr firstRow="1" bandRow="1">
                <a:tableStyleId>{5C22544A-7EE6-4342-B048-85BDC9FD1C3A}</a:tableStyleId>
              </a:tblPr>
              <a:tblGrid>
                <a:gridCol w="4610100">
                  <a:extLst>
                    <a:ext uri="{9D8B030D-6E8A-4147-A177-3AD203B41FA5}">
                      <a16:colId xmlns:a16="http://schemas.microsoft.com/office/drawing/2014/main" val="20000"/>
                    </a:ext>
                  </a:extLst>
                </a:gridCol>
                <a:gridCol w="6454140">
                  <a:extLst>
                    <a:ext uri="{9D8B030D-6E8A-4147-A177-3AD203B41FA5}">
                      <a16:colId xmlns:a16="http://schemas.microsoft.com/office/drawing/2014/main" val="20001"/>
                    </a:ext>
                  </a:extLst>
                </a:gridCol>
              </a:tblGrid>
              <a:tr h="502920">
                <a:tc>
                  <a:txBody>
                    <a:bodyPr/>
                    <a:lstStyle/>
                    <a:p>
                      <a:pPr algn="l"/>
                      <a:r>
                        <a:rPr sz="1500" b="1">
                          <a:solidFill>
                            <a:srgbClr val="FFFFFF"/>
                          </a:solidFill>
                          <a:latin typeface="Calibri"/>
                        </a:rPr>
                        <a:t>Dato</a:t>
                      </a:r>
                    </a:p>
                  </a:txBody>
                  <a:tcPr marL="76200" marR="76200" marT="50800" marB="50800" anchor="ctr">
                    <a:solidFill>
                      <a:srgbClr val="1F2937"/>
                    </a:solidFill>
                  </a:tcPr>
                </a:tc>
                <a:tc>
                  <a:txBody>
                    <a:bodyPr/>
                    <a:lstStyle/>
                    <a:p>
                      <a:pPr algn="l"/>
                      <a:r>
                        <a:rPr sz="1500" b="1">
                          <a:solidFill>
                            <a:srgbClr val="FFFFFF"/>
                          </a:solidFill>
                          <a:latin typeface="Calibri"/>
                        </a:rPr>
                        <a:t>Valor</a:t>
                      </a:r>
                    </a:p>
                  </a:txBody>
                  <a:tcPr marL="76200" marR="76200" marT="50800" marB="50800" anchor="ctr">
                    <a:solidFill>
                      <a:srgbClr val="1F2937"/>
                    </a:solidFill>
                  </a:tcPr>
                </a:tc>
                <a:extLst>
                  <a:ext uri="{0D108BD9-81ED-4DB2-BD59-A6C34878D82A}">
                    <a16:rowId xmlns:a16="http://schemas.microsoft.com/office/drawing/2014/main" val="10000"/>
                  </a:ext>
                </a:extLst>
              </a:tr>
              <a:tr h="502920">
                <a:tc>
                  <a:txBody>
                    <a:bodyPr/>
                    <a:lstStyle/>
                    <a:p>
                      <a:pPr algn="l"/>
                      <a:r>
                        <a:rPr sz="1500" b="1">
                          <a:solidFill>
                            <a:srgbClr val="1F2937"/>
                          </a:solidFill>
                          <a:latin typeface="Calibri"/>
                        </a:rPr>
                        <a:t>Peso de la construcción en el PIB chileno</a:t>
                      </a:r>
                    </a:p>
                  </a:txBody>
                  <a:tcPr marL="76200" marR="76200" marT="50800" marB="50800" anchor="ctr">
                    <a:solidFill>
                      <a:srgbClr val="FFFFFF"/>
                    </a:solidFill>
                  </a:tcPr>
                </a:tc>
                <a:tc>
                  <a:txBody>
                    <a:bodyPr/>
                    <a:lstStyle/>
                    <a:p>
                      <a:pPr algn="l"/>
                      <a:r>
                        <a:rPr sz="1500">
                          <a:solidFill>
                            <a:srgbClr val="1F2937"/>
                          </a:solidFill>
                          <a:latin typeface="Calibri"/>
                        </a:rPr>
                        <a:t>~7%</a:t>
                      </a:r>
                    </a:p>
                  </a:txBody>
                  <a:tcPr marL="76200" marR="76200" marT="50800" marB="50800" anchor="ctr">
                    <a:solidFill>
                      <a:srgbClr val="FFFFFF"/>
                    </a:solidFill>
                  </a:tcPr>
                </a:tc>
                <a:extLst>
                  <a:ext uri="{0D108BD9-81ED-4DB2-BD59-A6C34878D82A}">
                    <a16:rowId xmlns:a16="http://schemas.microsoft.com/office/drawing/2014/main" val="10001"/>
                  </a:ext>
                </a:extLst>
              </a:tr>
              <a:tr h="502920">
                <a:tc>
                  <a:txBody>
                    <a:bodyPr/>
                    <a:lstStyle/>
                    <a:p>
                      <a:pPr algn="l"/>
                      <a:r>
                        <a:rPr sz="1500" b="1">
                          <a:solidFill>
                            <a:srgbClr val="1F2937"/>
                          </a:solidFill>
                          <a:latin typeface="Calibri"/>
                        </a:rPr>
                        <a:t>Trabajadores del rubro</a:t>
                      </a:r>
                    </a:p>
                  </a:txBody>
                  <a:tcPr marL="76200" marR="76200" marT="50800" marB="50800" anchor="ctr">
                    <a:solidFill>
                      <a:srgbClr val="F3F4F6"/>
                    </a:solidFill>
                  </a:tcPr>
                </a:tc>
                <a:tc>
                  <a:txBody>
                    <a:bodyPr/>
                    <a:lstStyle/>
                    <a:p>
                      <a:pPr algn="l"/>
                      <a:r>
                        <a:rPr sz="1500">
                          <a:solidFill>
                            <a:srgbClr val="1F2937"/>
                          </a:solidFill>
                          <a:latin typeface="Calibri"/>
                        </a:rPr>
                        <a:t>&gt; 600.000 personas</a:t>
                      </a:r>
                    </a:p>
                  </a:txBody>
                  <a:tcPr marL="76200" marR="76200" marT="50800" marB="50800" anchor="ctr">
                    <a:solidFill>
                      <a:srgbClr val="F3F4F6"/>
                    </a:solidFill>
                  </a:tcPr>
                </a:tc>
                <a:extLst>
                  <a:ext uri="{0D108BD9-81ED-4DB2-BD59-A6C34878D82A}">
                    <a16:rowId xmlns:a16="http://schemas.microsoft.com/office/drawing/2014/main" val="10002"/>
                  </a:ext>
                </a:extLst>
              </a:tr>
              <a:tr h="502920">
                <a:tc>
                  <a:txBody>
                    <a:bodyPr/>
                    <a:lstStyle/>
                    <a:p>
                      <a:pPr algn="l"/>
                      <a:r>
                        <a:rPr sz="1500" b="1">
                          <a:solidFill>
                            <a:srgbClr val="1F2937"/>
                          </a:solidFill>
                          <a:latin typeface="Calibri"/>
                        </a:rPr>
                        <a:t>Accidentabilidad del sector</a:t>
                      </a:r>
                    </a:p>
                  </a:txBody>
                  <a:tcPr marL="76200" marR="76200" marT="50800" marB="50800" anchor="ctr">
                    <a:solidFill>
                      <a:srgbClr val="FFFFFF"/>
                    </a:solidFill>
                  </a:tcPr>
                </a:tc>
                <a:tc>
                  <a:txBody>
                    <a:bodyPr/>
                    <a:lstStyle/>
                    <a:p>
                      <a:pPr algn="l"/>
                      <a:r>
                        <a:rPr sz="1500">
                          <a:solidFill>
                            <a:srgbClr val="1F2937"/>
                          </a:solidFill>
                          <a:latin typeface="Calibri"/>
                        </a:rPr>
                        <a:t>Uno de los rubros más altos del país (SUSESO)</a:t>
                      </a:r>
                    </a:p>
                  </a:txBody>
                  <a:tcPr marL="76200" marR="76200" marT="50800" marB="50800" anchor="ctr">
                    <a:solidFill>
                      <a:srgbClr val="FFFFFF"/>
                    </a:solidFill>
                  </a:tcPr>
                </a:tc>
                <a:extLst>
                  <a:ext uri="{0D108BD9-81ED-4DB2-BD59-A6C34878D82A}">
                    <a16:rowId xmlns:a16="http://schemas.microsoft.com/office/drawing/2014/main" val="10003"/>
                  </a:ext>
                </a:extLst>
              </a:tr>
              <a:tr h="502920">
                <a:tc>
                  <a:txBody>
                    <a:bodyPr/>
                    <a:lstStyle/>
                    <a:p>
                      <a:pPr algn="l"/>
                      <a:r>
                        <a:rPr sz="1500" b="1">
                          <a:solidFill>
                            <a:srgbClr val="1F2937"/>
                          </a:solidFill>
                          <a:latin typeface="Calibri"/>
                        </a:rPr>
                        <a:t>Marco legal vigente</a:t>
                      </a:r>
                    </a:p>
                  </a:txBody>
                  <a:tcPr marL="76200" marR="76200" marT="50800" marB="50800" anchor="ctr">
                    <a:solidFill>
                      <a:srgbClr val="F3F4F6"/>
                    </a:solidFill>
                  </a:tcPr>
                </a:tc>
                <a:tc>
                  <a:txBody>
                    <a:bodyPr/>
                    <a:lstStyle/>
                    <a:p>
                      <a:pPr algn="l"/>
                      <a:r>
                        <a:rPr sz="1500">
                          <a:solidFill>
                            <a:srgbClr val="1F2937"/>
                          </a:solidFill>
                          <a:latin typeface="Calibri"/>
                        </a:rPr>
                        <a:t>Ley N° 16.744  ·  DS N° 594</a:t>
                      </a:r>
                    </a:p>
                  </a:txBody>
                  <a:tcPr marL="76200" marR="76200" marT="50800" marB="50800" anchor="ctr">
                    <a:solidFill>
                      <a:srgbClr val="F3F4F6"/>
                    </a:solidFill>
                  </a:tcPr>
                </a:tc>
                <a:extLst>
                  <a:ext uri="{0D108BD9-81ED-4DB2-BD59-A6C34878D82A}">
                    <a16:rowId xmlns:a16="http://schemas.microsoft.com/office/drawing/2014/main" val="10004"/>
                  </a:ext>
                </a:extLst>
              </a:tr>
              <a:tr h="502920">
                <a:tc>
                  <a:txBody>
                    <a:bodyPr/>
                    <a:lstStyle/>
                    <a:p>
                      <a:pPr algn="l"/>
                      <a:r>
                        <a:rPr sz="1500" b="1">
                          <a:solidFill>
                            <a:srgbClr val="1F2937"/>
                          </a:solidFill>
                          <a:latin typeface="Calibri"/>
                        </a:rPr>
                        <a:t>Actores del ecosistema</a:t>
                      </a:r>
                    </a:p>
                  </a:txBody>
                  <a:tcPr marL="76200" marR="76200" marT="50800" marB="50800" anchor="ctr">
                    <a:solidFill>
                      <a:srgbClr val="FFFFFF"/>
                    </a:solidFill>
                  </a:tcPr>
                </a:tc>
                <a:tc>
                  <a:txBody>
                    <a:bodyPr/>
                    <a:lstStyle/>
                    <a:p>
                      <a:pPr algn="l"/>
                      <a:r>
                        <a:rPr sz="1500">
                          <a:solidFill>
                            <a:srgbClr val="1F2937"/>
                          </a:solidFill>
                          <a:latin typeface="Calibri"/>
                        </a:rPr>
                        <a:t>Constructoras · prevencionistas de riesgos · mutualidades (ACHS, IST, Mutual)</a:t>
                      </a:r>
                    </a:p>
                  </a:txBody>
                  <a:tcPr marL="76200" marR="76200" marT="50800" marB="50800"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548640" y="4892040"/>
            <a:ext cx="11064240" cy="457200"/>
          </a:xfrm>
          <a:prstGeom prst="rect">
            <a:avLst/>
          </a:prstGeom>
          <a:noFill/>
        </p:spPr>
        <p:txBody>
          <a:bodyPr wrap="square" lIns="0" tIns="0" rIns="0" bIns="0" anchor="t">
            <a:spAutoFit/>
          </a:bodyPr>
          <a:lstStyle/>
          <a:p>
            <a:pPr algn="l">
              <a:lnSpc>
                <a:spcPct val="100000"/>
              </a:lnSpc>
            </a:pPr>
            <a:r>
              <a:rPr sz="1100" b="0" i="1">
                <a:solidFill>
                  <a:srgbClr val="6B7280"/>
                </a:solidFill>
                <a:latin typeface="Calibri"/>
              </a:rPr>
              <a:t>Fuente: SUSESO / mutualidades — verificar año de la cifra antes de presentar.</a:t>
            </a:r>
          </a:p>
        </p:txBody>
      </p:sp>
      <p:sp>
        <p:nvSpPr>
          <p:cNvPr id="9" name="Rectangle 8"/>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11" name="TextBox 10"/>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04 / 18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PROBLEMÁTICA</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El problema que resolvemos</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645920"/>
            <a:ext cx="3611880" cy="29260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645920"/>
            <a:ext cx="361188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920240"/>
            <a:ext cx="3063240" cy="365760"/>
          </a:xfrm>
          <a:prstGeom prst="rect">
            <a:avLst/>
          </a:prstGeom>
          <a:noFill/>
        </p:spPr>
        <p:txBody>
          <a:bodyPr wrap="square" lIns="0" tIns="0" rIns="0" bIns="0" anchor="t">
            <a:spAutoFit/>
          </a:bodyPr>
          <a:lstStyle/>
          <a:p>
            <a:pPr algn="l">
              <a:lnSpc>
                <a:spcPct val="100000"/>
              </a:lnSpc>
            </a:pPr>
            <a:r>
              <a:rPr sz="1700" b="1" i="0">
                <a:solidFill>
                  <a:srgbClr val="1F2937"/>
                </a:solidFill>
                <a:latin typeface="Calibri"/>
              </a:rPr>
              <a:t>El hecho</a:t>
            </a:r>
          </a:p>
        </p:txBody>
      </p:sp>
      <p:sp>
        <p:nvSpPr>
          <p:cNvPr id="10" name="TextBox 9"/>
          <p:cNvSpPr txBox="1"/>
          <p:nvPr/>
        </p:nvSpPr>
        <p:spPr>
          <a:xfrm>
            <a:off x="822960" y="2423160"/>
            <a:ext cx="3063240" cy="1920240"/>
          </a:xfrm>
          <a:prstGeom prst="rect">
            <a:avLst/>
          </a:prstGeom>
          <a:noFill/>
        </p:spPr>
        <p:txBody>
          <a:bodyPr wrap="square" lIns="0" tIns="0" rIns="0" bIns="0" anchor="t">
            <a:spAutoFit/>
          </a:bodyPr>
          <a:lstStyle/>
          <a:p>
            <a:pPr algn="l">
              <a:lnSpc>
                <a:spcPct val="125000"/>
              </a:lnSpc>
            </a:pPr>
            <a:r>
              <a:rPr sz="1350" b="0" i="0">
                <a:solidFill>
                  <a:srgbClr val="1F2937"/>
                </a:solidFill>
                <a:latin typeface="Calibri"/>
              </a:rPr>
              <a:t>Buena parte de los accidentes se origina en algo evitable:</a:t>
            </a:r>
          </a:p>
          <a:p>
            <a:pPr algn="l">
              <a:lnSpc>
                <a:spcPct val="125000"/>
              </a:lnSpc>
            </a:pPr>
            <a:r>
              <a:rPr sz="1350" b="0" i="0">
                <a:solidFill>
                  <a:srgbClr val="1F2937"/>
                </a:solidFill>
                <a:latin typeface="Calibri"/>
              </a:rPr>
              <a:t>no usar casco o chaleco reflectante.</a:t>
            </a:r>
          </a:p>
        </p:txBody>
      </p:sp>
      <p:sp>
        <p:nvSpPr>
          <p:cNvPr id="11" name="Rounded Rectangle 10"/>
          <p:cNvSpPr/>
          <p:nvPr/>
        </p:nvSpPr>
        <p:spPr>
          <a:xfrm>
            <a:off x="4343400" y="1645920"/>
            <a:ext cx="3611880" cy="29260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645920"/>
            <a:ext cx="361188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1920240"/>
            <a:ext cx="3063240" cy="365760"/>
          </a:xfrm>
          <a:prstGeom prst="rect">
            <a:avLst/>
          </a:prstGeom>
          <a:noFill/>
        </p:spPr>
        <p:txBody>
          <a:bodyPr wrap="square" lIns="0" tIns="0" rIns="0" bIns="0" anchor="t">
            <a:spAutoFit/>
          </a:bodyPr>
          <a:lstStyle/>
          <a:p>
            <a:pPr algn="l">
              <a:lnSpc>
                <a:spcPct val="100000"/>
              </a:lnSpc>
            </a:pPr>
            <a:r>
              <a:rPr sz="1700" b="1" i="0">
                <a:solidFill>
                  <a:srgbClr val="1F2937"/>
                </a:solidFill>
                <a:latin typeface="Calibri"/>
              </a:rPr>
              <a:t>La causa raíz</a:t>
            </a:r>
          </a:p>
        </p:txBody>
      </p:sp>
      <p:sp>
        <p:nvSpPr>
          <p:cNvPr id="14" name="TextBox 13"/>
          <p:cNvSpPr txBox="1"/>
          <p:nvPr/>
        </p:nvSpPr>
        <p:spPr>
          <a:xfrm>
            <a:off x="4617720" y="2423160"/>
            <a:ext cx="3063240" cy="1920240"/>
          </a:xfrm>
          <a:prstGeom prst="rect">
            <a:avLst/>
          </a:prstGeom>
          <a:noFill/>
        </p:spPr>
        <p:txBody>
          <a:bodyPr wrap="square" lIns="0" tIns="0" rIns="0" bIns="0" anchor="t">
            <a:spAutoFit/>
          </a:bodyPr>
          <a:lstStyle/>
          <a:p>
            <a:pPr algn="l">
              <a:lnSpc>
                <a:spcPct val="125000"/>
              </a:lnSpc>
            </a:pPr>
            <a:r>
              <a:rPr sz="1350" b="0" i="0">
                <a:solidFill>
                  <a:srgbClr val="1F2937"/>
                </a:solidFill>
                <a:latin typeface="Calibri"/>
              </a:rPr>
              <a:t>La supervisión depende del prevencionista, que no puede cubrir</a:t>
            </a:r>
          </a:p>
          <a:p>
            <a:pPr algn="l">
              <a:lnSpc>
                <a:spcPct val="125000"/>
              </a:lnSpc>
            </a:pPr>
            <a:r>
              <a:rPr sz="1350" b="0" i="0">
                <a:solidFill>
                  <a:srgbClr val="1F2937"/>
                </a:solidFill>
                <a:latin typeface="Calibri"/>
              </a:rPr>
              <a:t>todos los frentes a la vez → ventanas sin control → supervisión reactiva.</a:t>
            </a:r>
          </a:p>
        </p:txBody>
      </p:sp>
      <p:sp>
        <p:nvSpPr>
          <p:cNvPr id="15" name="Rounded Rectangle 14"/>
          <p:cNvSpPr/>
          <p:nvPr/>
        </p:nvSpPr>
        <p:spPr>
          <a:xfrm>
            <a:off x="8138160" y="1645920"/>
            <a:ext cx="3611880" cy="2926080"/>
          </a:xfrm>
          <a:prstGeom prst="roundRect">
            <a:avLst>
              <a:gd name="adj" fmla="val 6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645920"/>
            <a:ext cx="3611880"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1920240"/>
            <a:ext cx="3063240" cy="365760"/>
          </a:xfrm>
          <a:prstGeom prst="rect">
            <a:avLst/>
          </a:prstGeom>
          <a:noFill/>
        </p:spPr>
        <p:txBody>
          <a:bodyPr wrap="square" lIns="0" tIns="0" rIns="0" bIns="0" anchor="t">
            <a:spAutoFit/>
          </a:bodyPr>
          <a:lstStyle/>
          <a:p>
            <a:pPr algn="l">
              <a:lnSpc>
                <a:spcPct val="100000"/>
              </a:lnSpc>
            </a:pPr>
            <a:r>
              <a:rPr sz="1700" b="1" i="0">
                <a:solidFill>
                  <a:srgbClr val="DC2626"/>
                </a:solidFill>
                <a:latin typeface="Calibri"/>
              </a:rPr>
              <a:t>El costo</a:t>
            </a:r>
          </a:p>
        </p:txBody>
      </p:sp>
      <p:sp>
        <p:nvSpPr>
          <p:cNvPr id="18" name="TextBox 17"/>
          <p:cNvSpPr txBox="1"/>
          <p:nvPr/>
        </p:nvSpPr>
        <p:spPr>
          <a:xfrm>
            <a:off x="8412480" y="2423160"/>
            <a:ext cx="3063240" cy="1920240"/>
          </a:xfrm>
          <a:prstGeom prst="rect">
            <a:avLst/>
          </a:prstGeom>
          <a:noFill/>
        </p:spPr>
        <p:txBody>
          <a:bodyPr wrap="square" lIns="0" tIns="0" rIns="0" bIns="0" anchor="t">
            <a:spAutoFit/>
          </a:bodyPr>
          <a:lstStyle/>
          <a:p>
            <a:pPr algn="l">
              <a:lnSpc>
                <a:spcPct val="125000"/>
              </a:lnSpc>
            </a:pPr>
            <a:r>
              <a:rPr sz="1350" b="0" i="0">
                <a:solidFill>
                  <a:srgbClr val="1F2937"/>
                </a:solidFill>
                <a:latin typeface="Calibri"/>
              </a:rPr>
              <a:t>Multas de 1 a 150 UTM ($65.000 – $9.750.000 CLP), demandas</a:t>
            </a:r>
          </a:p>
          <a:p>
            <a:pPr algn="l">
              <a:lnSpc>
                <a:spcPct val="125000"/>
              </a:lnSpc>
            </a:pPr>
            <a:r>
              <a:rPr sz="1350" b="0" i="0">
                <a:solidFill>
                  <a:srgbClr val="1F2937"/>
                </a:solidFill>
                <a:latin typeface="Calibri"/>
              </a:rPr>
              <a:t>civiles y penales, y el costo humano de un accidente grave.</a:t>
            </a:r>
          </a:p>
        </p:txBody>
      </p:sp>
      <p:sp>
        <p:nvSpPr>
          <p:cNvPr id="19" name="TextBox 18"/>
          <p:cNvSpPr txBox="1"/>
          <p:nvPr/>
        </p:nvSpPr>
        <p:spPr>
          <a:xfrm>
            <a:off x="548640" y="4892040"/>
            <a:ext cx="11064240" cy="548640"/>
          </a:xfrm>
          <a:prstGeom prst="rect">
            <a:avLst/>
          </a:prstGeom>
          <a:noFill/>
        </p:spPr>
        <p:txBody>
          <a:bodyPr wrap="square" lIns="0" tIns="0" rIns="0" bIns="0" anchor="t">
            <a:spAutoFit/>
          </a:bodyPr>
          <a:lstStyle/>
          <a:p>
            <a:pPr algn="ctr">
              <a:lnSpc>
                <a:spcPct val="100000"/>
              </a:lnSpc>
            </a:pPr>
            <a:r>
              <a:rPr sz="1700" b="1" i="1">
                <a:solidFill>
                  <a:srgbClr val="B45309"/>
                </a:solidFill>
                <a:latin typeface="Calibri"/>
              </a:rPr>
              <a:t>¿Y si el aviso llegara antes del accidente, y directo al trabajador?</a:t>
            </a:r>
          </a:p>
        </p:txBody>
      </p:sp>
      <p:sp>
        <p:nvSpPr>
          <p:cNvPr id="20" name="Rectangle 19"/>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22" name="TextBox 21"/>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05 / 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SOLUCIÓN</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CascoVision en una frase</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600200"/>
            <a:ext cx="11064240" cy="1051560"/>
          </a:xfrm>
          <a:prstGeom prst="roundRect">
            <a:avLst>
              <a:gd name="adj" fmla="val 12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783080"/>
            <a:ext cx="10332720" cy="731520"/>
          </a:xfrm>
          <a:prstGeom prst="rect">
            <a:avLst/>
          </a:prstGeom>
          <a:noFill/>
        </p:spPr>
        <p:txBody>
          <a:bodyPr wrap="square" lIns="0" tIns="0" rIns="0" bIns="0" anchor="t">
            <a:spAutoFit/>
          </a:bodyPr>
          <a:lstStyle/>
          <a:p>
            <a:pPr algn="l">
              <a:lnSpc>
                <a:spcPct val="120000"/>
              </a:lnSpc>
            </a:pPr>
            <a:r>
              <a:rPr sz="1700" b="1" i="0">
                <a:solidFill>
                  <a:srgbClr val="FFFFFF"/>
                </a:solidFill>
                <a:latin typeface="Calibri"/>
              </a:rPr>
              <a:t>Cámaras existentes + IA que ve si falta el casco o el chaleco + un dispositivo que</a:t>
            </a:r>
          </a:p>
          <a:p>
            <a:pPr algn="l">
              <a:lnSpc>
                <a:spcPct val="120000"/>
              </a:lnSpc>
            </a:pPr>
            <a:r>
              <a:rPr sz="1700" b="1" i="0">
                <a:solidFill>
                  <a:srgbClr val="FFFFFF"/>
                </a:solidFill>
                <a:latin typeface="Calibri"/>
              </a:rPr>
              <a:t>vibra y suena para avisarle al trabajador antes de que ocurra el accidente.</a:t>
            </a:r>
          </a:p>
        </p:txBody>
      </p:sp>
      <p:sp>
        <p:nvSpPr>
          <p:cNvPr id="9" name="Rounded Rectangle 8"/>
          <p:cNvSpPr/>
          <p:nvPr/>
        </p:nvSpPr>
        <p:spPr>
          <a:xfrm>
            <a:off x="548640" y="2880360"/>
            <a:ext cx="3611880" cy="15087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3063240"/>
            <a:ext cx="3063240" cy="365760"/>
          </a:xfrm>
          <a:prstGeom prst="rect">
            <a:avLst/>
          </a:prstGeom>
          <a:noFill/>
        </p:spPr>
        <p:txBody>
          <a:bodyPr wrap="square" lIns="0" tIns="0" rIns="0" bIns="0" anchor="t">
            <a:spAutoFit/>
          </a:bodyPr>
          <a:lstStyle/>
          <a:p>
            <a:pPr algn="l">
              <a:lnSpc>
                <a:spcPct val="100000"/>
              </a:lnSpc>
            </a:pPr>
            <a:r>
              <a:rPr sz="1550" b="1" i="0">
                <a:solidFill>
                  <a:srgbClr val="B45309"/>
                </a:solidFill>
                <a:latin typeface="Calibri"/>
              </a:rPr>
              <a:t>Cero hardware nuevo</a:t>
            </a:r>
          </a:p>
        </p:txBody>
      </p:sp>
      <p:sp>
        <p:nvSpPr>
          <p:cNvPr id="11" name="TextBox 10"/>
          <p:cNvSpPr txBox="1"/>
          <p:nvPr/>
        </p:nvSpPr>
        <p:spPr>
          <a:xfrm>
            <a:off x="822960" y="3456432"/>
            <a:ext cx="3063240" cy="822960"/>
          </a:xfrm>
          <a:prstGeom prst="rect">
            <a:avLst/>
          </a:prstGeom>
          <a:noFill/>
        </p:spPr>
        <p:txBody>
          <a:bodyPr wrap="square" lIns="0" tIns="0" rIns="0" bIns="0" anchor="t">
            <a:spAutoFit/>
          </a:bodyPr>
          <a:lstStyle/>
          <a:p>
            <a:pPr algn="l">
              <a:lnSpc>
                <a:spcPct val="120000"/>
              </a:lnSpc>
            </a:pPr>
            <a:r>
              <a:rPr sz="1250" b="0" i="0">
                <a:solidFill>
                  <a:srgbClr val="1F2937"/>
                </a:solidFill>
                <a:latin typeface="Calibri"/>
              </a:rPr>
              <a:t>Usa las cámaras IP ya instaladas (ONVIF / RTSP).</a:t>
            </a:r>
          </a:p>
        </p:txBody>
      </p:sp>
      <p:sp>
        <p:nvSpPr>
          <p:cNvPr id="12" name="Rounded Rectangle 11"/>
          <p:cNvSpPr/>
          <p:nvPr/>
        </p:nvSpPr>
        <p:spPr>
          <a:xfrm>
            <a:off x="4343400" y="2880360"/>
            <a:ext cx="3611880" cy="15087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3063240"/>
            <a:ext cx="3063240" cy="365760"/>
          </a:xfrm>
          <a:prstGeom prst="rect">
            <a:avLst/>
          </a:prstGeom>
          <a:noFill/>
        </p:spPr>
        <p:txBody>
          <a:bodyPr wrap="square" lIns="0" tIns="0" rIns="0" bIns="0" anchor="t">
            <a:spAutoFit/>
          </a:bodyPr>
          <a:lstStyle/>
          <a:p>
            <a:pPr algn="l">
              <a:lnSpc>
                <a:spcPct val="100000"/>
              </a:lnSpc>
            </a:pPr>
            <a:r>
              <a:rPr sz="1550" b="1" i="0">
                <a:solidFill>
                  <a:srgbClr val="B45309"/>
                </a:solidFill>
                <a:latin typeface="Calibri"/>
              </a:rPr>
              <a:t>Alerta al trabajador</a:t>
            </a:r>
          </a:p>
        </p:txBody>
      </p:sp>
      <p:sp>
        <p:nvSpPr>
          <p:cNvPr id="14" name="TextBox 13"/>
          <p:cNvSpPr txBox="1"/>
          <p:nvPr/>
        </p:nvSpPr>
        <p:spPr>
          <a:xfrm>
            <a:off x="4617720" y="3456432"/>
            <a:ext cx="3063240" cy="822960"/>
          </a:xfrm>
          <a:prstGeom prst="rect">
            <a:avLst/>
          </a:prstGeom>
          <a:noFill/>
        </p:spPr>
        <p:txBody>
          <a:bodyPr wrap="square" lIns="0" tIns="0" rIns="0" bIns="0" anchor="t">
            <a:spAutoFit/>
          </a:bodyPr>
          <a:lstStyle/>
          <a:p>
            <a:pPr algn="l">
              <a:lnSpc>
                <a:spcPct val="120000"/>
              </a:lnSpc>
            </a:pPr>
            <a:r>
              <a:rPr sz="1250" b="0" i="0">
                <a:solidFill>
                  <a:srgbClr val="1F2937"/>
                </a:solidFill>
                <a:latin typeface="Calibri"/>
              </a:rPr>
              <a:t>Sonora + vibratoria, en menos de 5 segundos, no solo al supervisor.</a:t>
            </a:r>
          </a:p>
        </p:txBody>
      </p:sp>
      <p:sp>
        <p:nvSpPr>
          <p:cNvPr id="15" name="Rounded Rectangle 14"/>
          <p:cNvSpPr/>
          <p:nvPr/>
        </p:nvSpPr>
        <p:spPr>
          <a:xfrm>
            <a:off x="8138160" y="2880360"/>
            <a:ext cx="3611880" cy="15087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0" y="3063240"/>
            <a:ext cx="3063240" cy="365760"/>
          </a:xfrm>
          <a:prstGeom prst="rect">
            <a:avLst/>
          </a:prstGeom>
          <a:noFill/>
        </p:spPr>
        <p:txBody>
          <a:bodyPr wrap="square" lIns="0" tIns="0" rIns="0" bIns="0" anchor="t">
            <a:spAutoFit/>
          </a:bodyPr>
          <a:lstStyle/>
          <a:p>
            <a:pPr algn="l">
              <a:lnSpc>
                <a:spcPct val="100000"/>
              </a:lnSpc>
            </a:pPr>
            <a:r>
              <a:rPr sz="1550" b="1" i="0">
                <a:solidFill>
                  <a:srgbClr val="B45309"/>
                </a:solidFill>
                <a:latin typeface="Calibri"/>
              </a:rPr>
              <a:t>Todo local (Edge)</a:t>
            </a:r>
          </a:p>
        </p:txBody>
      </p:sp>
      <p:sp>
        <p:nvSpPr>
          <p:cNvPr id="17" name="TextBox 16"/>
          <p:cNvSpPr txBox="1"/>
          <p:nvPr/>
        </p:nvSpPr>
        <p:spPr>
          <a:xfrm>
            <a:off x="8412480" y="3456432"/>
            <a:ext cx="3063240" cy="822960"/>
          </a:xfrm>
          <a:prstGeom prst="rect">
            <a:avLst/>
          </a:prstGeom>
          <a:noFill/>
        </p:spPr>
        <p:txBody>
          <a:bodyPr wrap="square" lIns="0" tIns="0" rIns="0" bIns="0" anchor="t">
            <a:spAutoFit/>
          </a:bodyPr>
          <a:lstStyle/>
          <a:p>
            <a:pPr algn="l">
              <a:lnSpc>
                <a:spcPct val="120000"/>
              </a:lnSpc>
            </a:pPr>
            <a:r>
              <a:rPr sz="1250" b="0" i="0">
                <a:solidFill>
                  <a:srgbClr val="1F2937"/>
                </a:solidFill>
                <a:latin typeface="Calibri"/>
              </a:rPr>
              <a:t>El video no sale de la faena: procesamiento on-premise.</a:t>
            </a:r>
          </a:p>
        </p:txBody>
      </p:sp>
      <p:sp>
        <p:nvSpPr>
          <p:cNvPr id="18" name="TextBox 17"/>
          <p:cNvSpPr txBox="1"/>
          <p:nvPr/>
        </p:nvSpPr>
        <p:spPr>
          <a:xfrm>
            <a:off x="548640" y="4617720"/>
            <a:ext cx="11064240" cy="36576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Objetivo general</a:t>
            </a:r>
          </a:p>
        </p:txBody>
      </p:sp>
      <p:sp>
        <p:nvSpPr>
          <p:cNvPr id="19" name="TextBox 18"/>
          <p:cNvSpPr txBox="1"/>
          <p:nvPr/>
        </p:nvSpPr>
        <p:spPr>
          <a:xfrm>
            <a:off x="548640" y="4956048"/>
            <a:ext cx="11064240" cy="640080"/>
          </a:xfrm>
          <a:prstGeom prst="rect">
            <a:avLst/>
          </a:prstGeom>
          <a:noFill/>
        </p:spPr>
        <p:txBody>
          <a:bodyPr wrap="square" lIns="0" tIns="0" rIns="0" bIns="0" anchor="t">
            <a:spAutoFit/>
          </a:bodyPr>
          <a:lstStyle/>
          <a:p>
            <a:pPr algn="l">
              <a:lnSpc>
                <a:spcPct val="120000"/>
              </a:lnSpc>
            </a:pPr>
            <a:r>
              <a:rPr sz="1250" b="0" i="0">
                <a:solidFill>
                  <a:srgbClr val="1F2937"/>
                </a:solidFill>
                <a:latin typeface="Calibri"/>
              </a:rPr>
              <a:t>Desarrollar e implementar un sistema de detección automatizada del uso de EPP que permita prevenir accidentes, reducir la exposición a multas y respaldar el cumplimiento de la norma ISO 45001 del cliente.</a:t>
            </a:r>
          </a:p>
        </p:txBody>
      </p:sp>
      <p:sp>
        <p:nvSpPr>
          <p:cNvPr id="20" name="TextBox 19"/>
          <p:cNvSpPr txBox="1"/>
          <p:nvPr/>
        </p:nvSpPr>
        <p:spPr>
          <a:xfrm>
            <a:off x="548640" y="5715000"/>
            <a:ext cx="11064240" cy="502920"/>
          </a:xfrm>
          <a:prstGeom prst="rect">
            <a:avLst/>
          </a:prstGeom>
          <a:noFill/>
        </p:spPr>
        <p:txBody>
          <a:bodyPr wrap="square" lIns="0" tIns="0" rIns="0" bIns="0" anchor="t">
            <a:spAutoFit/>
          </a:bodyPr>
          <a:lstStyle/>
          <a:p>
            <a:pPr algn="l">
              <a:lnSpc>
                <a:spcPct val="100000"/>
              </a:lnSpc>
            </a:pPr>
            <a:r>
              <a:rPr sz="1200" b="0" i="1">
                <a:solidFill>
                  <a:srgbClr val="6B7280"/>
                </a:solidFill>
                <a:latin typeface="Calibri"/>
              </a:rPr>
              <a:t>Lo que NO hace: sin reconocimiento facial ni biometría. Difuminado facial automático — detecta el equipo de protección, no identifica personas.</a:t>
            </a:r>
          </a:p>
        </p:txBody>
      </p:sp>
      <p:sp>
        <p:nvSpPr>
          <p:cNvPr id="21" name="Rectangle 20"/>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23" name="TextBox 22"/>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06 / 18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METODOLOGÍA</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Cómo trabajamos: iterativo incremental</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645920"/>
            <a:ext cx="5394960" cy="4206240"/>
          </a:xfrm>
          <a:prstGeom prst="rect">
            <a:avLst/>
          </a:prstGeom>
          <a:noFill/>
        </p:spPr>
        <p:txBody>
          <a:bodyPr wrap="square" lIns="0" tIns="0" rIns="0" bIns="0">
            <a:spAutoFit/>
          </a:bodyPr>
          <a:lstStyle/>
          <a:p>
            <a:pPr>
              <a:lnSpc>
                <a:spcPct val="115000"/>
              </a:lnSpc>
              <a:spcAft>
                <a:spcPts val="1600"/>
              </a:spcAft>
            </a:pPr>
            <a:r>
              <a:rPr sz="1550" b="1">
                <a:solidFill>
                  <a:srgbClr val="B45309"/>
                </a:solidFill>
                <a:latin typeface="Calibri"/>
              </a:rPr>
              <a:t>›  </a:t>
            </a:r>
            <a:r>
              <a:rPr sz="1550" b="1">
                <a:solidFill>
                  <a:srgbClr val="1F2937"/>
                </a:solidFill>
                <a:latin typeface="Calibri"/>
              </a:rPr>
              <a:t>Iterativo incremental, </a:t>
            </a:r>
            <a:r>
              <a:rPr sz="1550" b="0">
                <a:solidFill>
                  <a:srgbClr val="1F2937"/>
                </a:solidFill>
                <a:latin typeface="Calibri"/>
              </a:rPr>
              <a:t>con ciclos quincenales alineados a los hitos de la asignatura.</a:t>
            </a:r>
          </a:p>
          <a:p>
            <a:pPr>
              <a:lnSpc>
                <a:spcPct val="115000"/>
              </a:lnSpc>
              <a:spcAft>
                <a:spcPts val="1600"/>
              </a:spcAft>
            </a:pPr>
            <a:r>
              <a:rPr sz="1550" b="1">
                <a:solidFill>
                  <a:srgbClr val="B45309"/>
                </a:solidFill>
                <a:latin typeface="Calibri"/>
              </a:rPr>
              <a:t>›  </a:t>
            </a:r>
            <a:r>
              <a:rPr sz="1550" b="1">
                <a:solidFill>
                  <a:srgbClr val="1F2937"/>
                </a:solidFill>
                <a:latin typeface="Calibri"/>
              </a:rPr>
              <a:t>Por qué no cascada: </a:t>
            </a:r>
            <a:r>
              <a:rPr sz="1550" b="0">
                <a:solidFill>
                  <a:srgbClr val="1F2937"/>
                </a:solidFill>
                <a:latin typeface="Calibri"/>
              </a:rPr>
              <a:t>el motor de IA requiere entrenar → medir → reentrenar; un modelo de fase única no admite ese ciclo.</a:t>
            </a:r>
          </a:p>
          <a:p>
            <a:pPr>
              <a:lnSpc>
                <a:spcPct val="115000"/>
              </a:lnSpc>
              <a:spcAft>
                <a:spcPts val="1600"/>
              </a:spcAft>
            </a:pPr>
            <a:r>
              <a:rPr sz="1550" b="1">
                <a:solidFill>
                  <a:srgbClr val="B45309"/>
                </a:solidFill>
                <a:latin typeface="Calibri"/>
              </a:rPr>
              <a:t>›  </a:t>
            </a:r>
            <a:r>
              <a:rPr sz="1550" b="1">
                <a:solidFill>
                  <a:srgbClr val="1F2937"/>
                </a:solidFill>
                <a:latin typeface="Calibri"/>
              </a:rPr>
              <a:t>Cada ciclo cierra </a:t>
            </a:r>
            <a:r>
              <a:rPr sz="1550" b="0">
                <a:solidFill>
                  <a:srgbClr val="1F2937"/>
                </a:solidFill>
                <a:latin typeface="Calibri"/>
              </a:rPr>
              <a:t>con un incremento demostrable y una revisión de equipo.</a:t>
            </a:r>
          </a:p>
          <a:p>
            <a:pPr>
              <a:lnSpc>
                <a:spcPct val="115000"/>
              </a:lnSpc>
              <a:spcAft>
                <a:spcPts val="1600"/>
              </a:spcAft>
            </a:pPr>
            <a:r>
              <a:rPr sz="1550" b="1">
                <a:solidFill>
                  <a:srgbClr val="B45309"/>
                </a:solidFill>
                <a:latin typeface="Calibri"/>
              </a:rPr>
              <a:t>›  </a:t>
            </a:r>
            <a:r>
              <a:rPr sz="1550" b="1">
                <a:solidFill>
                  <a:srgbClr val="1F2937"/>
                </a:solidFill>
                <a:latin typeface="Calibri"/>
              </a:rPr>
              <a:t>Herramientas: </a:t>
            </a:r>
            <a:r>
              <a:rPr sz="1550" b="0">
                <a:solidFill>
                  <a:srgbClr val="1F2937"/>
                </a:solidFill>
                <a:latin typeface="Calibri"/>
              </a:rPr>
              <a:t>Git + repositorio compartido + tablero de tareas.</a:t>
            </a:r>
          </a:p>
        </p:txBody>
      </p:sp>
      <p:sp>
        <p:nvSpPr>
          <p:cNvPr id="8" name="Rounded Rectangle 7"/>
          <p:cNvSpPr/>
          <p:nvPr/>
        </p:nvSpPr>
        <p:spPr>
          <a:xfrm>
            <a:off x="8001000" y="1828800"/>
            <a:ext cx="1554480" cy="640080"/>
          </a:xfrm>
          <a:prstGeom prst="roundRect">
            <a:avLst>
              <a:gd name="adj" fmla="val 3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01000" y="1828800"/>
            <a:ext cx="1554480" cy="640080"/>
          </a:xfrm>
          <a:prstGeom prst="rect">
            <a:avLst/>
          </a:prstGeom>
          <a:noFill/>
        </p:spPr>
        <p:txBody>
          <a:bodyPr wrap="square" lIns="0" tIns="0" rIns="0" bIns="0" anchor="ctr">
            <a:spAutoFit/>
          </a:bodyPr>
          <a:lstStyle/>
          <a:p>
            <a:pPr algn="ctr">
              <a:lnSpc>
                <a:spcPct val="100000"/>
              </a:lnSpc>
            </a:pPr>
            <a:r>
              <a:rPr sz="1300" b="1" i="0">
                <a:solidFill>
                  <a:srgbClr val="111827"/>
                </a:solidFill>
                <a:latin typeface="Calibri"/>
              </a:rPr>
              <a:t>Planificar</a:t>
            </a:r>
          </a:p>
        </p:txBody>
      </p:sp>
      <p:sp>
        <p:nvSpPr>
          <p:cNvPr id="10" name="Rounded Rectangle 9"/>
          <p:cNvSpPr/>
          <p:nvPr/>
        </p:nvSpPr>
        <p:spPr>
          <a:xfrm>
            <a:off x="9418320" y="3246120"/>
            <a:ext cx="1554480" cy="640080"/>
          </a:xfrm>
          <a:prstGeom prst="roundRect">
            <a:avLst>
              <a:gd name="adj" fmla="val 3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18320" y="3246120"/>
            <a:ext cx="1554480" cy="640080"/>
          </a:xfrm>
          <a:prstGeom prst="rect">
            <a:avLst/>
          </a:prstGeom>
          <a:noFill/>
        </p:spPr>
        <p:txBody>
          <a:bodyPr wrap="square" lIns="0" tIns="0" rIns="0" bIns="0" anchor="ctr">
            <a:spAutoFit/>
          </a:bodyPr>
          <a:lstStyle/>
          <a:p>
            <a:pPr algn="ctr">
              <a:lnSpc>
                <a:spcPct val="100000"/>
              </a:lnSpc>
            </a:pPr>
            <a:r>
              <a:rPr sz="1300" b="1" i="0">
                <a:solidFill>
                  <a:srgbClr val="FFFFFF"/>
                </a:solidFill>
                <a:latin typeface="Calibri"/>
              </a:rPr>
              <a:t>Construir</a:t>
            </a:r>
          </a:p>
        </p:txBody>
      </p:sp>
      <p:sp>
        <p:nvSpPr>
          <p:cNvPr id="12" name="Rounded Rectangle 11"/>
          <p:cNvSpPr/>
          <p:nvPr/>
        </p:nvSpPr>
        <p:spPr>
          <a:xfrm>
            <a:off x="8001000" y="4663440"/>
            <a:ext cx="1554480" cy="640080"/>
          </a:xfrm>
          <a:prstGeom prst="roundRect">
            <a:avLst>
              <a:gd name="adj" fmla="val 3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01000" y="4663440"/>
            <a:ext cx="1554480" cy="640080"/>
          </a:xfrm>
          <a:prstGeom prst="rect">
            <a:avLst/>
          </a:prstGeom>
          <a:noFill/>
        </p:spPr>
        <p:txBody>
          <a:bodyPr wrap="square" lIns="0" tIns="0" rIns="0" bIns="0" anchor="ctr">
            <a:spAutoFit/>
          </a:bodyPr>
          <a:lstStyle/>
          <a:p>
            <a:pPr algn="ctr">
              <a:lnSpc>
                <a:spcPct val="100000"/>
              </a:lnSpc>
            </a:pPr>
            <a:r>
              <a:rPr sz="1300" b="1" i="0">
                <a:solidFill>
                  <a:srgbClr val="111827"/>
                </a:solidFill>
                <a:latin typeface="Calibri"/>
              </a:rPr>
              <a:t>Medir</a:t>
            </a:r>
          </a:p>
        </p:txBody>
      </p:sp>
      <p:sp>
        <p:nvSpPr>
          <p:cNvPr id="14" name="Rounded Rectangle 13"/>
          <p:cNvSpPr/>
          <p:nvPr/>
        </p:nvSpPr>
        <p:spPr>
          <a:xfrm>
            <a:off x="6583680" y="3246120"/>
            <a:ext cx="1554480" cy="640080"/>
          </a:xfrm>
          <a:prstGeom prst="roundRect">
            <a:avLst>
              <a:gd name="adj" fmla="val 3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0" y="3246120"/>
            <a:ext cx="1554480" cy="640080"/>
          </a:xfrm>
          <a:prstGeom prst="rect">
            <a:avLst/>
          </a:prstGeom>
          <a:noFill/>
        </p:spPr>
        <p:txBody>
          <a:bodyPr wrap="square" lIns="0" tIns="0" rIns="0" bIns="0" anchor="ctr">
            <a:spAutoFit/>
          </a:bodyPr>
          <a:lstStyle/>
          <a:p>
            <a:pPr algn="ctr">
              <a:lnSpc>
                <a:spcPct val="100000"/>
              </a:lnSpc>
            </a:pPr>
            <a:r>
              <a:rPr sz="1300" b="1" i="0">
                <a:solidFill>
                  <a:srgbClr val="FFFFFF"/>
                </a:solidFill>
                <a:latin typeface="Calibri"/>
              </a:rPr>
              <a:t>Ajustar</a:t>
            </a:r>
          </a:p>
        </p:txBody>
      </p:sp>
      <p:sp>
        <p:nvSpPr>
          <p:cNvPr id="16" name="TextBox 15"/>
          <p:cNvSpPr txBox="1"/>
          <p:nvPr/>
        </p:nvSpPr>
        <p:spPr>
          <a:xfrm>
            <a:off x="7589520" y="3337560"/>
            <a:ext cx="2377440" cy="457200"/>
          </a:xfrm>
          <a:prstGeom prst="rect">
            <a:avLst/>
          </a:prstGeom>
          <a:noFill/>
        </p:spPr>
        <p:txBody>
          <a:bodyPr wrap="square" lIns="0" tIns="0" rIns="0" bIns="0" anchor="t">
            <a:spAutoFit/>
          </a:bodyPr>
          <a:lstStyle/>
          <a:p>
            <a:pPr algn="ctr">
              <a:lnSpc>
                <a:spcPct val="100000"/>
              </a:lnSpc>
            </a:pPr>
            <a:r>
              <a:rPr sz="1100" b="0" i="1">
                <a:solidFill>
                  <a:srgbClr val="6B7280"/>
                </a:solidFill>
                <a:latin typeface="Calibri"/>
              </a:rPr>
              <a:t>Ciclo</a:t>
            </a:r>
          </a:p>
          <a:p>
            <a:pPr algn="ctr">
              <a:lnSpc>
                <a:spcPct val="100000"/>
              </a:lnSpc>
            </a:pPr>
            <a:r>
              <a:rPr sz="1100" b="0" i="1">
                <a:solidFill>
                  <a:srgbClr val="6B7280"/>
                </a:solidFill>
                <a:latin typeface="Calibri"/>
              </a:rPr>
              <a:t>quincenal</a:t>
            </a:r>
          </a:p>
        </p:txBody>
      </p:sp>
      <p:sp>
        <p:nvSpPr>
          <p:cNvPr id="17" name="TextBox 16"/>
          <p:cNvSpPr txBox="1"/>
          <p:nvPr/>
        </p:nvSpPr>
        <p:spPr>
          <a:xfrm>
            <a:off x="7223760" y="5394960"/>
            <a:ext cx="4023360" cy="822960"/>
          </a:xfrm>
          <a:prstGeom prst="rect">
            <a:avLst/>
          </a:prstGeom>
          <a:noFill/>
        </p:spPr>
        <p:txBody>
          <a:bodyPr wrap="square" lIns="0" tIns="0" rIns="0" bIns="0" anchor="t">
            <a:spAutoFit/>
          </a:bodyPr>
          <a:lstStyle/>
          <a:p>
            <a:pPr algn="ctr">
              <a:lnSpc>
                <a:spcPct val="120000"/>
              </a:lnSpc>
            </a:pPr>
            <a:r>
              <a:rPr sz="1200" b="0" i="1">
                <a:solidFill>
                  <a:srgbClr val="6B7280"/>
                </a:solidFill>
                <a:latin typeface="Calibri"/>
              </a:rPr>
              <a:t>Hitos: Semana 4 (definición) · Semana 10 (avance)</a:t>
            </a:r>
          </a:p>
          <a:p>
            <a:pPr algn="ctr">
              <a:lnSpc>
                <a:spcPct val="120000"/>
              </a:lnSpc>
            </a:pPr>
            <a:r>
              <a:rPr sz="1200" b="0" i="1">
                <a:solidFill>
                  <a:srgbClr val="6B7280"/>
                </a:solidFill>
                <a:latin typeface="Calibri"/>
              </a:rPr>
              <a:t>Semana 15 (final) · Semanas 17-18 (defensa)</a:t>
            </a:r>
          </a:p>
        </p:txBody>
      </p:sp>
      <p:sp>
        <p:nvSpPr>
          <p:cNvPr id="18" name="Rectangle 17"/>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20" name="TextBox 19"/>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07 / 18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PLAN</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Plan de 18 semanas y carta Gantt</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548640" y="1600200"/>
          <a:ext cx="11064239" cy="1737360"/>
        </p:xfrm>
        <a:graphic>
          <a:graphicData uri="http://schemas.openxmlformats.org/drawingml/2006/table">
            <a:tbl>
              <a:tblPr firstRow="1" bandRow="1">
                <a:tableStyleId>{5C22544A-7EE6-4342-B048-85BDC9FD1C3A}</a:tableStyleId>
              </a:tblPr>
              <a:tblGrid>
                <a:gridCol w="2440641">
                  <a:extLst>
                    <a:ext uri="{9D8B030D-6E8A-4147-A177-3AD203B41FA5}">
                      <a16:colId xmlns:a16="http://schemas.microsoft.com/office/drawing/2014/main" val="20000"/>
                    </a:ext>
                  </a:extLst>
                </a:gridCol>
                <a:gridCol w="1301675">
                  <a:extLst>
                    <a:ext uri="{9D8B030D-6E8A-4147-A177-3AD203B41FA5}">
                      <a16:colId xmlns:a16="http://schemas.microsoft.com/office/drawing/2014/main" val="20001"/>
                    </a:ext>
                  </a:extLst>
                </a:gridCol>
                <a:gridCol w="4393154">
                  <a:extLst>
                    <a:ext uri="{9D8B030D-6E8A-4147-A177-3AD203B41FA5}">
                      <a16:colId xmlns:a16="http://schemas.microsoft.com/office/drawing/2014/main" val="20002"/>
                    </a:ext>
                  </a:extLst>
                </a:gridCol>
                <a:gridCol w="2928769">
                  <a:extLst>
                    <a:ext uri="{9D8B030D-6E8A-4147-A177-3AD203B41FA5}">
                      <a16:colId xmlns:a16="http://schemas.microsoft.com/office/drawing/2014/main" val="20003"/>
                    </a:ext>
                  </a:extLst>
                </a:gridCol>
              </a:tblGrid>
              <a:tr h="434340">
                <a:tc>
                  <a:txBody>
                    <a:bodyPr/>
                    <a:lstStyle/>
                    <a:p>
                      <a:pPr algn="l"/>
                      <a:r>
                        <a:rPr sz="1350" b="1">
                          <a:solidFill>
                            <a:srgbClr val="FFFFFF"/>
                          </a:solidFill>
                          <a:latin typeface="Calibri"/>
                        </a:rPr>
                        <a:t>Fase</a:t>
                      </a:r>
                    </a:p>
                  </a:txBody>
                  <a:tcPr marL="76200" marR="76200" marT="50800" marB="50800" anchor="ctr">
                    <a:solidFill>
                      <a:srgbClr val="1F2937"/>
                    </a:solidFill>
                  </a:tcPr>
                </a:tc>
                <a:tc>
                  <a:txBody>
                    <a:bodyPr/>
                    <a:lstStyle/>
                    <a:p>
                      <a:pPr algn="ctr"/>
                      <a:r>
                        <a:rPr sz="1350" b="1">
                          <a:solidFill>
                            <a:srgbClr val="FFFFFF"/>
                          </a:solidFill>
                          <a:latin typeface="Calibri"/>
                        </a:rPr>
                        <a:t>Semanas</a:t>
                      </a:r>
                    </a:p>
                  </a:txBody>
                  <a:tcPr marL="76200" marR="76200" marT="50800" marB="50800" anchor="ctr">
                    <a:solidFill>
                      <a:srgbClr val="1F2937"/>
                    </a:solidFill>
                  </a:tcPr>
                </a:tc>
                <a:tc>
                  <a:txBody>
                    <a:bodyPr/>
                    <a:lstStyle/>
                    <a:p>
                      <a:pPr algn="l"/>
                      <a:r>
                        <a:rPr sz="1350" b="1">
                          <a:solidFill>
                            <a:srgbClr val="FFFFFF"/>
                          </a:solidFill>
                          <a:latin typeface="Calibri"/>
                        </a:rPr>
                        <a:t>Foco</a:t>
                      </a:r>
                    </a:p>
                  </a:txBody>
                  <a:tcPr marL="76200" marR="76200" marT="50800" marB="50800" anchor="ctr">
                    <a:solidFill>
                      <a:srgbClr val="1F2937"/>
                    </a:solidFill>
                  </a:tcPr>
                </a:tc>
                <a:tc>
                  <a:txBody>
                    <a:bodyPr/>
                    <a:lstStyle/>
                    <a:p>
                      <a:pPr algn="l"/>
                      <a:r>
                        <a:rPr sz="1350" b="1">
                          <a:solidFill>
                            <a:srgbClr val="FFFFFF"/>
                          </a:solidFill>
                          <a:latin typeface="Calibri"/>
                        </a:rPr>
                        <a:t>Evaluación</a:t>
                      </a:r>
                    </a:p>
                  </a:txBody>
                  <a:tcPr marL="76200" marR="76200" marT="50800" marB="50800" anchor="ctr">
                    <a:solidFill>
                      <a:srgbClr val="1F2937"/>
                    </a:solidFill>
                  </a:tcPr>
                </a:tc>
                <a:extLst>
                  <a:ext uri="{0D108BD9-81ED-4DB2-BD59-A6C34878D82A}">
                    <a16:rowId xmlns:a16="http://schemas.microsoft.com/office/drawing/2014/main" val="10000"/>
                  </a:ext>
                </a:extLst>
              </a:tr>
              <a:tr h="434340">
                <a:tc>
                  <a:txBody>
                    <a:bodyPr/>
                    <a:lstStyle/>
                    <a:p>
                      <a:pPr algn="l"/>
                      <a:r>
                        <a:rPr sz="1350" b="1">
                          <a:solidFill>
                            <a:srgbClr val="1F2937"/>
                          </a:solidFill>
                          <a:latin typeface="Calibri"/>
                        </a:rPr>
                        <a:t>1 · Definición</a:t>
                      </a:r>
                    </a:p>
                  </a:txBody>
                  <a:tcPr marL="76200" marR="76200" marT="50800" marB="50800" anchor="ctr">
                    <a:solidFill>
                      <a:srgbClr val="FFFFFF"/>
                    </a:solidFill>
                  </a:tcPr>
                </a:tc>
                <a:tc>
                  <a:txBody>
                    <a:bodyPr/>
                    <a:lstStyle/>
                    <a:p>
                      <a:pPr algn="ctr"/>
                      <a:r>
                        <a:rPr sz="1350">
                          <a:solidFill>
                            <a:srgbClr val="1F2937"/>
                          </a:solidFill>
                          <a:latin typeface="Calibri"/>
                        </a:rPr>
                        <a:t>1 – 4</a:t>
                      </a:r>
                    </a:p>
                  </a:txBody>
                  <a:tcPr marL="76200" marR="76200" marT="50800" marB="50800" anchor="ctr">
                    <a:solidFill>
                      <a:srgbClr val="FFFFFF"/>
                    </a:solidFill>
                  </a:tcPr>
                </a:tc>
                <a:tc>
                  <a:txBody>
                    <a:bodyPr/>
                    <a:lstStyle/>
                    <a:p>
                      <a:pPr algn="l"/>
                      <a:r>
                        <a:rPr sz="1350">
                          <a:solidFill>
                            <a:srgbClr val="1F2937"/>
                          </a:solidFill>
                          <a:latin typeface="Calibri"/>
                        </a:rPr>
                        <a:t>Definición, cronograma y stack tecnológico</a:t>
                      </a:r>
                    </a:p>
                  </a:txBody>
                  <a:tcPr marL="76200" marR="76200" marT="50800" marB="50800" anchor="ctr">
                    <a:solidFill>
                      <a:srgbClr val="FFFFFF"/>
                    </a:solidFill>
                  </a:tcPr>
                </a:tc>
                <a:tc>
                  <a:txBody>
                    <a:bodyPr/>
                    <a:lstStyle/>
                    <a:p>
                      <a:pPr algn="l"/>
                      <a:r>
                        <a:rPr sz="1350">
                          <a:solidFill>
                            <a:srgbClr val="1F2937"/>
                          </a:solidFill>
                          <a:latin typeface="Calibri"/>
                        </a:rPr>
                        <a:t>Sumativa Semana 4</a:t>
                      </a:r>
                    </a:p>
                  </a:txBody>
                  <a:tcPr marL="76200" marR="76200" marT="50800" marB="50800" anchor="ctr">
                    <a:solidFill>
                      <a:srgbClr val="FFFFFF"/>
                    </a:solidFill>
                  </a:tcPr>
                </a:tc>
                <a:extLst>
                  <a:ext uri="{0D108BD9-81ED-4DB2-BD59-A6C34878D82A}">
                    <a16:rowId xmlns:a16="http://schemas.microsoft.com/office/drawing/2014/main" val="10001"/>
                  </a:ext>
                </a:extLst>
              </a:tr>
              <a:tr h="434340">
                <a:tc>
                  <a:txBody>
                    <a:bodyPr/>
                    <a:lstStyle/>
                    <a:p>
                      <a:pPr algn="l"/>
                      <a:r>
                        <a:rPr sz="1350" b="1">
                          <a:solidFill>
                            <a:srgbClr val="1F2937"/>
                          </a:solidFill>
                          <a:latin typeface="Calibri"/>
                        </a:rPr>
                        <a:t>2 · Desarrollo</a:t>
                      </a:r>
                    </a:p>
                  </a:txBody>
                  <a:tcPr marL="76200" marR="76200" marT="50800" marB="50800" anchor="ctr">
                    <a:solidFill>
                      <a:srgbClr val="F3F4F6"/>
                    </a:solidFill>
                  </a:tcPr>
                </a:tc>
                <a:tc>
                  <a:txBody>
                    <a:bodyPr/>
                    <a:lstStyle/>
                    <a:p>
                      <a:pPr algn="ctr"/>
                      <a:r>
                        <a:rPr sz="1350">
                          <a:solidFill>
                            <a:srgbClr val="1F2937"/>
                          </a:solidFill>
                          <a:latin typeface="Calibri"/>
                        </a:rPr>
                        <a:t>5 – 15</a:t>
                      </a:r>
                    </a:p>
                  </a:txBody>
                  <a:tcPr marL="76200" marR="76200" marT="50800" marB="50800" anchor="ctr">
                    <a:solidFill>
                      <a:srgbClr val="F3F4F6"/>
                    </a:solidFill>
                  </a:tcPr>
                </a:tc>
                <a:tc>
                  <a:txBody>
                    <a:bodyPr/>
                    <a:lstStyle/>
                    <a:p>
                      <a:pPr algn="l"/>
                      <a:r>
                        <a:rPr sz="1350">
                          <a:solidFill>
                            <a:srgbClr val="1F2937"/>
                          </a:solidFill>
                          <a:latin typeface="Calibri"/>
                        </a:rPr>
                        <a:t>IA, datos, software, alerta física y pruebas</a:t>
                      </a:r>
                    </a:p>
                  </a:txBody>
                  <a:tcPr marL="76200" marR="76200" marT="50800" marB="50800" anchor="ctr">
                    <a:solidFill>
                      <a:srgbClr val="F3F4F6"/>
                    </a:solidFill>
                  </a:tcPr>
                </a:tc>
                <a:tc>
                  <a:txBody>
                    <a:bodyPr/>
                    <a:lstStyle/>
                    <a:p>
                      <a:pPr algn="l"/>
                      <a:r>
                        <a:rPr sz="1350">
                          <a:solidFill>
                            <a:srgbClr val="1F2937"/>
                          </a:solidFill>
                          <a:latin typeface="Calibri"/>
                        </a:rPr>
                        <a:t>Avance Sem. 10 · Final Sem. 15</a:t>
                      </a:r>
                    </a:p>
                  </a:txBody>
                  <a:tcPr marL="76200" marR="76200" marT="50800" marB="50800" anchor="ctr">
                    <a:solidFill>
                      <a:srgbClr val="F3F4F6"/>
                    </a:solidFill>
                  </a:tcPr>
                </a:tc>
                <a:extLst>
                  <a:ext uri="{0D108BD9-81ED-4DB2-BD59-A6C34878D82A}">
                    <a16:rowId xmlns:a16="http://schemas.microsoft.com/office/drawing/2014/main" val="10002"/>
                  </a:ext>
                </a:extLst>
              </a:tr>
              <a:tr h="434340">
                <a:tc>
                  <a:txBody>
                    <a:bodyPr/>
                    <a:lstStyle/>
                    <a:p>
                      <a:pPr algn="l"/>
                      <a:r>
                        <a:rPr sz="1350" b="1">
                          <a:solidFill>
                            <a:srgbClr val="1F2937"/>
                          </a:solidFill>
                          <a:latin typeface="Calibri"/>
                        </a:rPr>
                        <a:t>3 · Presentación</a:t>
                      </a:r>
                    </a:p>
                  </a:txBody>
                  <a:tcPr marL="76200" marR="76200" marT="50800" marB="50800" anchor="ctr">
                    <a:solidFill>
                      <a:srgbClr val="FFFFFF"/>
                    </a:solidFill>
                  </a:tcPr>
                </a:tc>
                <a:tc>
                  <a:txBody>
                    <a:bodyPr/>
                    <a:lstStyle/>
                    <a:p>
                      <a:pPr algn="ctr"/>
                      <a:r>
                        <a:rPr sz="1350">
                          <a:solidFill>
                            <a:srgbClr val="1F2937"/>
                          </a:solidFill>
                          <a:latin typeface="Calibri"/>
                        </a:rPr>
                        <a:t>16 – 18</a:t>
                      </a:r>
                    </a:p>
                  </a:txBody>
                  <a:tcPr marL="76200" marR="76200" marT="50800" marB="50800" anchor="ctr">
                    <a:solidFill>
                      <a:srgbClr val="FFFFFF"/>
                    </a:solidFill>
                  </a:tcPr>
                </a:tc>
                <a:tc>
                  <a:txBody>
                    <a:bodyPr/>
                    <a:lstStyle/>
                    <a:p>
                      <a:pPr algn="l"/>
                      <a:r>
                        <a:rPr sz="1350">
                          <a:solidFill>
                            <a:srgbClr val="1F2937"/>
                          </a:solidFill>
                          <a:latin typeface="Calibri"/>
                        </a:rPr>
                        <a:t>Reflexión y defensa del proyecto</a:t>
                      </a:r>
                    </a:p>
                  </a:txBody>
                  <a:tcPr marL="76200" marR="76200" marT="50800" marB="50800" anchor="ctr">
                    <a:solidFill>
                      <a:srgbClr val="FFFFFF"/>
                    </a:solidFill>
                  </a:tcPr>
                </a:tc>
                <a:tc>
                  <a:txBody>
                    <a:bodyPr/>
                    <a:lstStyle/>
                    <a:p>
                      <a:pPr algn="l"/>
                      <a:r>
                        <a:rPr sz="1350">
                          <a:solidFill>
                            <a:srgbClr val="1F2937"/>
                          </a:solidFill>
                          <a:latin typeface="Calibri"/>
                        </a:rPr>
                        <a:t>Sumativa Semanas 17-18</a:t>
                      </a:r>
                    </a:p>
                  </a:txBody>
                  <a:tcPr marL="76200" marR="76200" marT="50800" marB="50800"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548640" y="3611880"/>
            <a:ext cx="5486400" cy="365760"/>
          </a:xfrm>
          <a:prstGeom prst="rect">
            <a:avLst/>
          </a:prstGeom>
          <a:noFill/>
        </p:spPr>
        <p:txBody>
          <a:bodyPr wrap="square" lIns="0" tIns="0" rIns="0" bIns="0" anchor="t">
            <a:spAutoFit/>
          </a:bodyPr>
          <a:lstStyle/>
          <a:p>
            <a:pPr algn="l">
              <a:lnSpc>
                <a:spcPct val="100000"/>
              </a:lnSpc>
            </a:pPr>
            <a:r>
              <a:rPr sz="1400" b="1" i="0">
                <a:solidFill>
                  <a:srgbClr val="B45309"/>
                </a:solidFill>
                <a:latin typeface="Calibri"/>
              </a:rPr>
              <a:t>EDT · 8 paquetes de trabajo</a:t>
            </a:r>
          </a:p>
        </p:txBody>
      </p:sp>
      <p:sp>
        <p:nvSpPr>
          <p:cNvPr id="9" name="Rounded Rectangle 8"/>
          <p:cNvSpPr/>
          <p:nvPr/>
        </p:nvSpPr>
        <p:spPr>
          <a:xfrm>
            <a:off x="548640" y="4023360"/>
            <a:ext cx="1353312" cy="68580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4023360"/>
            <a:ext cx="1261872" cy="685800"/>
          </a:xfrm>
          <a:prstGeom prst="rect">
            <a:avLst/>
          </a:prstGeom>
          <a:noFill/>
        </p:spPr>
        <p:txBody>
          <a:bodyPr wrap="square" lIns="0" tIns="0" rIns="0" bIns="0" anchor="ctr">
            <a:spAutoFit/>
          </a:bodyPr>
          <a:lstStyle/>
          <a:p>
            <a:pPr algn="ctr">
              <a:lnSpc>
                <a:spcPct val="100000"/>
              </a:lnSpc>
            </a:pPr>
            <a:r>
              <a:rPr sz="1000" b="1" i="0">
                <a:solidFill>
                  <a:srgbClr val="1F2937"/>
                </a:solidFill>
                <a:latin typeface="Calibri"/>
              </a:rPr>
              <a:t>1 Gestión</a:t>
            </a:r>
          </a:p>
        </p:txBody>
      </p:sp>
      <p:sp>
        <p:nvSpPr>
          <p:cNvPr id="11" name="Rounded Rectangle 10"/>
          <p:cNvSpPr/>
          <p:nvPr/>
        </p:nvSpPr>
        <p:spPr>
          <a:xfrm>
            <a:off x="1947672" y="4023360"/>
            <a:ext cx="1353312" cy="68580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93392" y="4023360"/>
            <a:ext cx="1261872" cy="685800"/>
          </a:xfrm>
          <a:prstGeom prst="rect">
            <a:avLst/>
          </a:prstGeom>
          <a:noFill/>
        </p:spPr>
        <p:txBody>
          <a:bodyPr wrap="square" lIns="0" tIns="0" rIns="0" bIns="0" anchor="ctr">
            <a:spAutoFit/>
          </a:bodyPr>
          <a:lstStyle/>
          <a:p>
            <a:pPr algn="ctr">
              <a:lnSpc>
                <a:spcPct val="100000"/>
              </a:lnSpc>
            </a:pPr>
            <a:r>
              <a:rPr sz="1000" b="1" i="0">
                <a:solidFill>
                  <a:srgbClr val="1F2937"/>
                </a:solidFill>
                <a:latin typeface="Calibri"/>
              </a:rPr>
              <a:t>2 Motor IA</a:t>
            </a:r>
          </a:p>
        </p:txBody>
      </p:sp>
      <p:sp>
        <p:nvSpPr>
          <p:cNvPr id="13" name="Rounded Rectangle 12"/>
          <p:cNvSpPr/>
          <p:nvPr/>
        </p:nvSpPr>
        <p:spPr>
          <a:xfrm>
            <a:off x="3346704" y="4023360"/>
            <a:ext cx="1353312" cy="68580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92424" y="4023360"/>
            <a:ext cx="1261872" cy="685800"/>
          </a:xfrm>
          <a:prstGeom prst="rect">
            <a:avLst/>
          </a:prstGeom>
          <a:noFill/>
        </p:spPr>
        <p:txBody>
          <a:bodyPr wrap="square" lIns="0" tIns="0" rIns="0" bIns="0" anchor="ctr">
            <a:spAutoFit/>
          </a:bodyPr>
          <a:lstStyle/>
          <a:p>
            <a:pPr algn="ctr">
              <a:lnSpc>
                <a:spcPct val="100000"/>
              </a:lnSpc>
            </a:pPr>
            <a:r>
              <a:rPr sz="1000" b="1" i="0">
                <a:solidFill>
                  <a:srgbClr val="1F2937"/>
                </a:solidFill>
                <a:latin typeface="Calibri"/>
              </a:rPr>
              <a:t>3 Modelo datos</a:t>
            </a:r>
          </a:p>
        </p:txBody>
      </p:sp>
      <p:sp>
        <p:nvSpPr>
          <p:cNvPr id="15" name="Rounded Rectangle 14"/>
          <p:cNvSpPr/>
          <p:nvPr/>
        </p:nvSpPr>
        <p:spPr>
          <a:xfrm>
            <a:off x="4745736" y="4023360"/>
            <a:ext cx="1353312" cy="68580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91456" y="4023360"/>
            <a:ext cx="1261872" cy="685800"/>
          </a:xfrm>
          <a:prstGeom prst="rect">
            <a:avLst/>
          </a:prstGeom>
          <a:noFill/>
        </p:spPr>
        <p:txBody>
          <a:bodyPr wrap="square" lIns="0" tIns="0" rIns="0" bIns="0" anchor="ctr">
            <a:spAutoFit/>
          </a:bodyPr>
          <a:lstStyle/>
          <a:p>
            <a:pPr algn="ctr">
              <a:lnSpc>
                <a:spcPct val="100000"/>
              </a:lnSpc>
            </a:pPr>
            <a:r>
              <a:rPr sz="1000" b="1" i="0">
                <a:solidFill>
                  <a:srgbClr val="1F2937"/>
                </a:solidFill>
                <a:latin typeface="Calibri"/>
              </a:rPr>
              <a:t>4 Software</a:t>
            </a:r>
          </a:p>
        </p:txBody>
      </p:sp>
      <p:sp>
        <p:nvSpPr>
          <p:cNvPr id="17" name="Rounded Rectangle 16"/>
          <p:cNvSpPr/>
          <p:nvPr/>
        </p:nvSpPr>
        <p:spPr>
          <a:xfrm>
            <a:off x="6144768" y="4023360"/>
            <a:ext cx="1353312" cy="68580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90488" y="4023360"/>
            <a:ext cx="1261872" cy="685800"/>
          </a:xfrm>
          <a:prstGeom prst="rect">
            <a:avLst/>
          </a:prstGeom>
          <a:noFill/>
        </p:spPr>
        <p:txBody>
          <a:bodyPr wrap="square" lIns="0" tIns="0" rIns="0" bIns="0" anchor="ctr">
            <a:spAutoFit/>
          </a:bodyPr>
          <a:lstStyle/>
          <a:p>
            <a:pPr algn="ctr">
              <a:lnSpc>
                <a:spcPct val="100000"/>
              </a:lnSpc>
            </a:pPr>
            <a:r>
              <a:rPr sz="1000" b="1" i="0">
                <a:solidFill>
                  <a:srgbClr val="1F2937"/>
                </a:solidFill>
                <a:latin typeface="Calibri"/>
              </a:rPr>
              <a:t>5 Alerta física</a:t>
            </a:r>
          </a:p>
        </p:txBody>
      </p:sp>
      <p:sp>
        <p:nvSpPr>
          <p:cNvPr id="19" name="Rounded Rectangle 18"/>
          <p:cNvSpPr/>
          <p:nvPr/>
        </p:nvSpPr>
        <p:spPr>
          <a:xfrm>
            <a:off x="7543800" y="4023360"/>
            <a:ext cx="1353312" cy="68580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89520" y="4023360"/>
            <a:ext cx="1261872" cy="685800"/>
          </a:xfrm>
          <a:prstGeom prst="rect">
            <a:avLst/>
          </a:prstGeom>
          <a:noFill/>
        </p:spPr>
        <p:txBody>
          <a:bodyPr wrap="square" lIns="0" tIns="0" rIns="0" bIns="0" anchor="ctr">
            <a:spAutoFit/>
          </a:bodyPr>
          <a:lstStyle/>
          <a:p>
            <a:pPr algn="ctr">
              <a:lnSpc>
                <a:spcPct val="100000"/>
              </a:lnSpc>
            </a:pPr>
            <a:r>
              <a:rPr sz="1000" b="1" i="0">
                <a:solidFill>
                  <a:srgbClr val="1F2937"/>
                </a:solidFill>
                <a:latin typeface="Calibri"/>
              </a:rPr>
              <a:t>6 Alertas remotas</a:t>
            </a:r>
          </a:p>
        </p:txBody>
      </p:sp>
      <p:sp>
        <p:nvSpPr>
          <p:cNvPr id="21" name="Rounded Rectangle 20"/>
          <p:cNvSpPr/>
          <p:nvPr/>
        </p:nvSpPr>
        <p:spPr>
          <a:xfrm>
            <a:off x="8942832" y="4023360"/>
            <a:ext cx="1353312" cy="68580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88552" y="4023360"/>
            <a:ext cx="1261872" cy="685800"/>
          </a:xfrm>
          <a:prstGeom prst="rect">
            <a:avLst/>
          </a:prstGeom>
          <a:noFill/>
        </p:spPr>
        <p:txBody>
          <a:bodyPr wrap="square" lIns="0" tIns="0" rIns="0" bIns="0" anchor="ctr">
            <a:spAutoFit/>
          </a:bodyPr>
          <a:lstStyle/>
          <a:p>
            <a:pPr algn="ctr">
              <a:lnSpc>
                <a:spcPct val="100000"/>
              </a:lnSpc>
            </a:pPr>
            <a:r>
              <a:rPr sz="1000" b="1" i="0">
                <a:solidFill>
                  <a:srgbClr val="1F2937"/>
                </a:solidFill>
                <a:latin typeface="Calibri"/>
              </a:rPr>
              <a:t>7 Pruebas</a:t>
            </a:r>
          </a:p>
        </p:txBody>
      </p:sp>
      <p:sp>
        <p:nvSpPr>
          <p:cNvPr id="23" name="Rounded Rectangle 22"/>
          <p:cNvSpPr/>
          <p:nvPr/>
        </p:nvSpPr>
        <p:spPr>
          <a:xfrm>
            <a:off x="10341864" y="4023360"/>
            <a:ext cx="1353312" cy="68580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387584" y="4023360"/>
            <a:ext cx="1261872" cy="685800"/>
          </a:xfrm>
          <a:prstGeom prst="rect">
            <a:avLst/>
          </a:prstGeom>
          <a:noFill/>
        </p:spPr>
        <p:txBody>
          <a:bodyPr wrap="square" lIns="0" tIns="0" rIns="0" bIns="0" anchor="ctr">
            <a:spAutoFit/>
          </a:bodyPr>
          <a:lstStyle/>
          <a:p>
            <a:pPr algn="ctr">
              <a:lnSpc>
                <a:spcPct val="100000"/>
              </a:lnSpc>
            </a:pPr>
            <a:r>
              <a:rPr sz="1000" b="1" i="0">
                <a:solidFill>
                  <a:srgbClr val="1F2937"/>
                </a:solidFill>
                <a:latin typeface="Calibri"/>
              </a:rPr>
              <a:t>8 Documentación</a:t>
            </a:r>
          </a:p>
        </p:txBody>
      </p:sp>
      <p:sp>
        <p:nvSpPr>
          <p:cNvPr id="25" name="Rounded Rectangle 24"/>
          <p:cNvSpPr/>
          <p:nvPr/>
        </p:nvSpPr>
        <p:spPr>
          <a:xfrm>
            <a:off x="548640" y="5029200"/>
            <a:ext cx="11064240" cy="105156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5193792"/>
            <a:ext cx="10515600" cy="777240"/>
          </a:xfrm>
          <a:prstGeom prst="rect">
            <a:avLst/>
          </a:prstGeom>
          <a:noFill/>
        </p:spPr>
        <p:txBody>
          <a:bodyPr wrap="square" lIns="0" tIns="0" rIns="0" bIns="0" anchor="t">
            <a:spAutoFit/>
          </a:bodyPr>
          <a:lstStyle/>
          <a:p>
            <a:pPr algn="l">
              <a:lnSpc>
                <a:spcPct val="120000"/>
              </a:lnSpc>
            </a:pPr>
            <a:r>
              <a:rPr sz="1350" b="0" i="1">
                <a:solidFill>
                  <a:srgbClr val="111827"/>
                </a:solidFill>
                <a:latin typeface="Calibri"/>
              </a:rPr>
              <a:t>Decisión de gestión: el paquete 5 (alerta física) arranca en la Semana 10 contra un receptor simulado, para que un retraso de hardware no bloquee el resto del desarrollo.</a:t>
            </a:r>
          </a:p>
        </p:txBody>
      </p:sp>
      <p:sp>
        <p:nvSpPr>
          <p:cNvPr id="27" name="Rectangle 26"/>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29" name="TextBox 28"/>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08 / 18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ROLES</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Quién hace qué</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548640" y="1691640"/>
          <a:ext cx="11064239" cy="233172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749039">
                  <a:extLst>
                    <a:ext uri="{9D8B030D-6E8A-4147-A177-3AD203B41FA5}">
                      <a16:colId xmlns:a16="http://schemas.microsoft.com/office/drawing/2014/main" val="20002"/>
                    </a:ext>
                  </a:extLst>
                </a:gridCol>
              </a:tblGrid>
              <a:tr h="466344">
                <a:tc>
                  <a:txBody>
                    <a:bodyPr/>
                    <a:lstStyle/>
                    <a:p>
                      <a:pPr algn="l"/>
                      <a:r>
                        <a:rPr sz="1500" b="1">
                          <a:solidFill>
                            <a:srgbClr val="FFFFFF"/>
                          </a:solidFill>
                          <a:latin typeface="Calibri"/>
                        </a:rPr>
                        <a:t>Integrante</a:t>
                      </a:r>
                    </a:p>
                  </a:txBody>
                  <a:tcPr marL="76200" marR="76200" marT="50800" marB="50800" anchor="ctr">
                    <a:solidFill>
                      <a:srgbClr val="1F2937"/>
                    </a:solidFill>
                  </a:tcPr>
                </a:tc>
                <a:tc>
                  <a:txBody>
                    <a:bodyPr/>
                    <a:lstStyle/>
                    <a:p>
                      <a:pPr algn="l"/>
                      <a:r>
                        <a:rPr sz="1500" b="1">
                          <a:solidFill>
                            <a:srgbClr val="FFFFFF"/>
                          </a:solidFill>
                          <a:latin typeface="Calibri"/>
                        </a:rPr>
                        <a:t>Rol</a:t>
                      </a:r>
                    </a:p>
                  </a:txBody>
                  <a:tcPr marL="76200" marR="76200" marT="50800" marB="50800" anchor="ctr">
                    <a:solidFill>
                      <a:srgbClr val="1F2937"/>
                    </a:solidFill>
                  </a:tcPr>
                </a:tc>
                <a:tc>
                  <a:txBody>
                    <a:bodyPr/>
                    <a:lstStyle/>
                    <a:p>
                      <a:pPr algn="ctr"/>
                      <a:r>
                        <a:rPr sz="1500" b="1">
                          <a:solidFill>
                            <a:srgbClr val="FFFFFF"/>
                          </a:solidFill>
                          <a:latin typeface="Calibri"/>
                        </a:rPr>
                        <a:t>Paquetes EDT a cargo</a:t>
                      </a:r>
                    </a:p>
                  </a:txBody>
                  <a:tcPr marL="76200" marR="76200" marT="50800" marB="50800" anchor="ctr">
                    <a:solidFill>
                      <a:srgbClr val="1F2937"/>
                    </a:solidFill>
                  </a:tcPr>
                </a:tc>
                <a:extLst>
                  <a:ext uri="{0D108BD9-81ED-4DB2-BD59-A6C34878D82A}">
                    <a16:rowId xmlns:a16="http://schemas.microsoft.com/office/drawing/2014/main" val="10000"/>
                  </a:ext>
                </a:extLst>
              </a:tr>
              <a:tr h="466344">
                <a:tc>
                  <a:txBody>
                    <a:bodyPr/>
                    <a:lstStyle/>
                    <a:p>
                      <a:pPr algn="l"/>
                      <a:r>
                        <a:rPr sz="1500" b="1">
                          <a:solidFill>
                            <a:srgbClr val="1F2937"/>
                          </a:solidFill>
                          <a:latin typeface="Calibri"/>
                        </a:rPr>
                        <a:t>Iahn Vera</a:t>
                      </a:r>
                    </a:p>
                  </a:txBody>
                  <a:tcPr marL="76200" marR="76200" marT="50800" marB="50800" anchor="ctr">
                    <a:solidFill>
                      <a:srgbClr val="FFFFFF"/>
                    </a:solidFill>
                  </a:tcPr>
                </a:tc>
                <a:tc>
                  <a:txBody>
                    <a:bodyPr/>
                    <a:lstStyle/>
                    <a:p>
                      <a:pPr algn="l"/>
                      <a:r>
                        <a:rPr sz="1500">
                          <a:solidFill>
                            <a:srgbClr val="1F2937"/>
                          </a:solidFill>
                          <a:latin typeface="Calibri"/>
                        </a:rPr>
                        <a:t>Jefe de proyecto / IA</a:t>
                      </a:r>
                    </a:p>
                  </a:txBody>
                  <a:tcPr marL="76200" marR="76200" marT="50800" marB="50800" anchor="ctr">
                    <a:solidFill>
                      <a:srgbClr val="FFFFFF"/>
                    </a:solidFill>
                  </a:tcPr>
                </a:tc>
                <a:tc>
                  <a:txBody>
                    <a:bodyPr/>
                    <a:lstStyle/>
                    <a:p>
                      <a:pPr algn="ctr"/>
                      <a:r>
                        <a:rPr sz="1500">
                          <a:solidFill>
                            <a:srgbClr val="1F2937"/>
                          </a:solidFill>
                          <a:latin typeface="Calibri"/>
                        </a:rPr>
                        <a:t>1 · 2</a:t>
                      </a:r>
                    </a:p>
                  </a:txBody>
                  <a:tcPr marL="76200" marR="76200" marT="50800" marB="50800" anchor="ctr">
                    <a:solidFill>
                      <a:srgbClr val="FFFFFF"/>
                    </a:solidFill>
                  </a:tcPr>
                </a:tc>
                <a:extLst>
                  <a:ext uri="{0D108BD9-81ED-4DB2-BD59-A6C34878D82A}">
                    <a16:rowId xmlns:a16="http://schemas.microsoft.com/office/drawing/2014/main" val="10001"/>
                  </a:ext>
                </a:extLst>
              </a:tr>
              <a:tr h="466344">
                <a:tc>
                  <a:txBody>
                    <a:bodyPr/>
                    <a:lstStyle/>
                    <a:p>
                      <a:pPr algn="l"/>
                      <a:r>
                        <a:rPr sz="1500" b="1">
                          <a:solidFill>
                            <a:srgbClr val="1F2937"/>
                          </a:solidFill>
                          <a:latin typeface="Calibri"/>
                        </a:rPr>
                        <a:t>Joaquín Armijo</a:t>
                      </a:r>
                    </a:p>
                  </a:txBody>
                  <a:tcPr marL="76200" marR="76200" marT="50800" marB="50800" anchor="ctr">
                    <a:solidFill>
                      <a:srgbClr val="F3F4F6"/>
                    </a:solidFill>
                  </a:tcPr>
                </a:tc>
                <a:tc>
                  <a:txBody>
                    <a:bodyPr/>
                    <a:lstStyle/>
                    <a:p>
                      <a:pPr algn="l"/>
                      <a:r>
                        <a:rPr sz="1500">
                          <a:solidFill>
                            <a:srgbClr val="1F2937"/>
                          </a:solidFill>
                          <a:latin typeface="Calibri"/>
                        </a:rPr>
                        <a:t>Backend y datos</a:t>
                      </a:r>
                    </a:p>
                  </a:txBody>
                  <a:tcPr marL="76200" marR="76200" marT="50800" marB="50800" anchor="ctr">
                    <a:solidFill>
                      <a:srgbClr val="F3F4F6"/>
                    </a:solidFill>
                  </a:tcPr>
                </a:tc>
                <a:tc>
                  <a:txBody>
                    <a:bodyPr/>
                    <a:lstStyle/>
                    <a:p>
                      <a:pPr algn="ctr"/>
                      <a:r>
                        <a:rPr sz="1500">
                          <a:solidFill>
                            <a:srgbClr val="1F2937"/>
                          </a:solidFill>
                          <a:latin typeface="Calibri"/>
                        </a:rPr>
                        <a:t>3 · 4</a:t>
                      </a:r>
                    </a:p>
                  </a:txBody>
                  <a:tcPr marL="76200" marR="76200" marT="50800" marB="50800" anchor="ctr">
                    <a:solidFill>
                      <a:srgbClr val="F3F4F6"/>
                    </a:solidFill>
                  </a:tcPr>
                </a:tc>
                <a:extLst>
                  <a:ext uri="{0D108BD9-81ED-4DB2-BD59-A6C34878D82A}">
                    <a16:rowId xmlns:a16="http://schemas.microsoft.com/office/drawing/2014/main" val="10002"/>
                  </a:ext>
                </a:extLst>
              </a:tr>
              <a:tr h="466344">
                <a:tc>
                  <a:txBody>
                    <a:bodyPr/>
                    <a:lstStyle/>
                    <a:p>
                      <a:pPr algn="l"/>
                      <a:r>
                        <a:rPr sz="1500" b="1">
                          <a:solidFill>
                            <a:srgbClr val="1F2937"/>
                          </a:solidFill>
                          <a:latin typeface="Calibri"/>
                        </a:rPr>
                        <a:t>Benjamín Cáceres</a:t>
                      </a:r>
                    </a:p>
                  </a:txBody>
                  <a:tcPr marL="76200" marR="76200" marT="50800" marB="50800" anchor="ctr">
                    <a:solidFill>
                      <a:srgbClr val="FFFFFF"/>
                    </a:solidFill>
                  </a:tcPr>
                </a:tc>
                <a:tc>
                  <a:txBody>
                    <a:bodyPr/>
                    <a:lstStyle/>
                    <a:p>
                      <a:pPr algn="l"/>
                      <a:r>
                        <a:rPr sz="1500">
                          <a:solidFill>
                            <a:srgbClr val="1F2937"/>
                          </a:solidFill>
                          <a:latin typeface="Calibri"/>
                        </a:rPr>
                        <a:t>Frontend y reportería</a:t>
                      </a:r>
                    </a:p>
                  </a:txBody>
                  <a:tcPr marL="76200" marR="76200" marT="50800" marB="50800" anchor="ctr">
                    <a:solidFill>
                      <a:srgbClr val="FFFFFF"/>
                    </a:solidFill>
                  </a:tcPr>
                </a:tc>
                <a:tc>
                  <a:txBody>
                    <a:bodyPr/>
                    <a:lstStyle/>
                    <a:p>
                      <a:pPr algn="ctr"/>
                      <a:r>
                        <a:rPr sz="1500">
                          <a:solidFill>
                            <a:srgbClr val="1F2937"/>
                          </a:solidFill>
                          <a:latin typeface="Calibri"/>
                        </a:rPr>
                        <a:t>4 · 6</a:t>
                      </a:r>
                    </a:p>
                  </a:txBody>
                  <a:tcPr marL="76200" marR="76200" marT="50800" marB="50800" anchor="ctr">
                    <a:solidFill>
                      <a:srgbClr val="FFFFFF"/>
                    </a:solidFill>
                  </a:tcPr>
                </a:tc>
                <a:extLst>
                  <a:ext uri="{0D108BD9-81ED-4DB2-BD59-A6C34878D82A}">
                    <a16:rowId xmlns:a16="http://schemas.microsoft.com/office/drawing/2014/main" val="10003"/>
                  </a:ext>
                </a:extLst>
              </a:tr>
              <a:tr h="466344">
                <a:tc>
                  <a:txBody>
                    <a:bodyPr/>
                    <a:lstStyle/>
                    <a:p>
                      <a:pPr algn="l"/>
                      <a:r>
                        <a:rPr sz="1500" b="1">
                          <a:solidFill>
                            <a:srgbClr val="1F2937"/>
                          </a:solidFill>
                          <a:latin typeface="Calibri"/>
                        </a:rPr>
                        <a:t>Fernando Muñoz</a:t>
                      </a:r>
                    </a:p>
                  </a:txBody>
                  <a:tcPr marL="76200" marR="76200" marT="50800" marB="50800" anchor="ctr">
                    <a:solidFill>
                      <a:srgbClr val="F3F4F6"/>
                    </a:solidFill>
                  </a:tcPr>
                </a:tc>
                <a:tc>
                  <a:txBody>
                    <a:bodyPr/>
                    <a:lstStyle/>
                    <a:p>
                      <a:pPr algn="l"/>
                      <a:r>
                        <a:rPr sz="1500">
                          <a:solidFill>
                            <a:srgbClr val="1F2937"/>
                          </a:solidFill>
                          <a:latin typeface="Calibri"/>
                        </a:rPr>
                        <a:t>IoT y pruebas</a:t>
                      </a:r>
                    </a:p>
                  </a:txBody>
                  <a:tcPr marL="76200" marR="76200" marT="50800" marB="50800" anchor="ctr">
                    <a:solidFill>
                      <a:srgbClr val="F3F4F6"/>
                    </a:solidFill>
                  </a:tcPr>
                </a:tc>
                <a:tc>
                  <a:txBody>
                    <a:bodyPr/>
                    <a:lstStyle/>
                    <a:p>
                      <a:pPr algn="ctr"/>
                      <a:r>
                        <a:rPr sz="1500">
                          <a:solidFill>
                            <a:srgbClr val="1F2937"/>
                          </a:solidFill>
                          <a:latin typeface="Calibri"/>
                        </a:rPr>
                        <a:t>5 · 7</a:t>
                      </a:r>
                    </a:p>
                  </a:txBody>
                  <a:tcPr marL="76200" marR="76200" marT="50800" marB="50800" anchor="ctr">
                    <a:solidFill>
                      <a:srgbClr val="F3F4F6"/>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548640" y="4343400"/>
            <a:ext cx="11064240" cy="1371600"/>
          </a:xfrm>
          <a:prstGeom prst="rect">
            <a:avLst/>
          </a:prstGeom>
          <a:noFill/>
        </p:spPr>
        <p:txBody>
          <a:bodyPr wrap="square" lIns="0" tIns="0" rIns="0" bIns="0">
            <a:spAutoFit/>
          </a:bodyPr>
          <a:lstStyle/>
          <a:p>
            <a:pPr>
              <a:lnSpc>
                <a:spcPct val="105000"/>
              </a:lnSpc>
              <a:spcAft>
                <a:spcPts val="1000"/>
              </a:spcAft>
            </a:pPr>
            <a:r>
              <a:rPr sz="1450" b="1">
                <a:solidFill>
                  <a:srgbClr val="B45309"/>
                </a:solidFill>
                <a:latin typeface="Calibri"/>
              </a:rPr>
              <a:t>›  </a:t>
            </a:r>
            <a:r>
              <a:rPr sz="1450" b="1">
                <a:solidFill>
                  <a:srgbClr val="1F2937"/>
                </a:solidFill>
                <a:latin typeface="Calibri"/>
              </a:rPr>
              <a:t>Documentación (paquete 8): </a:t>
            </a:r>
            <a:r>
              <a:rPr sz="1450" b="0">
                <a:solidFill>
                  <a:srgbClr val="1F2937"/>
                </a:solidFill>
                <a:latin typeface="Calibri"/>
              </a:rPr>
              <a:t>responsabilidad compartida, consolida Iahn Vera.</a:t>
            </a:r>
          </a:p>
          <a:p>
            <a:pPr>
              <a:lnSpc>
                <a:spcPct val="105000"/>
              </a:lnSpc>
              <a:spcAft>
                <a:spcPts val="1000"/>
              </a:spcAft>
            </a:pPr>
            <a:r>
              <a:rPr sz="1450" b="1">
                <a:solidFill>
                  <a:srgbClr val="B45309"/>
                </a:solidFill>
                <a:latin typeface="Calibri"/>
              </a:rPr>
              <a:t>›  </a:t>
            </a:r>
            <a:r>
              <a:rPr sz="1450" b="1">
                <a:solidFill>
                  <a:srgbClr val="1F2937"/>
                </a:solidFill>
                <a:latin typeface="Calibri"/>
              </a:rPr>
              <a:t>Cada paquete tiene un responsable único </a:t>
            </a:r>
            <a:r>
              <a:rPr sz="1450" b="0">
                <a:solidFill>
                  <a:srgbClr val="1F2937"/>
                </a:solidFill>
                <a:latin typeface="Calibri"/>
              </a:rPr>
              <a:t>— mitiga el riesgo de carga académica paralela (R4) y evidencia la competencia de gestión de proyectos.</a:t>
            </a:r>
          </a:p>
        </p:txBody>
      </p:sp>
      <p:sp>
        <p:nvSpPr>
          <p:cNvPr id="9" name="Rectangle 8"/>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11" name="TextBox 10"/>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09 / 18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MAPA TECNOLÓGICO</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El stack, capa por capa</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11" name="TextBox 10"/>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10 / 18</a:t>
            </a:r>
          </a:p>
        </p:txBody>
      </p:sp>
      <p:pic>
        <p:nvPicPr>
          <p:cNvPr id="15" name="Gráfico 14">
            <a:extLst>
              <a:ext uri="{FF2B5EF4-FFF2-40B4-BE49-F238E27FC236}">
                <a16:creationId xmlns:a16="http://schemas.microsoft.com/office/drawing/2014/main" id="{6AAADCF1-9882-409D-9DE4-26BDBF3D95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56479" y="1915147"/>
            <a:ext cx="1404000" cy="1419149"/>
          </a:xfrm>
          <a:prstGeom prst="rect">
            <a:avLst/>
          </a:prstGeom>
        </p:spPr>
      </p:pic>
      <p:pic>
        <p:nvPicPr>
          <p:cNvPr id="17" name="Gráfico 16">
            <a:extLst>
              <a:ext uri="{FF2B5EF4-FFF2-40B4-BE49-F238E27FC236}">
                <a16:creationId xmlns:a16="http://schemas.microsoft.com/office/drawing/2014/main" id="{83B26D4C-F9C5-449A-8BBC-0E5F170C23B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48052" y="1849305"/>
            <a:ext cx="1404000" cy="1404000"/>
          </a:xfrm>
          <a:prstGeom prst="rect">
            <a:avLst/>
          </a:prstGeom>
        </p:spPr>
      </p:pic>
      <p:pic>
        <p:nvPicPr>
          <p:cNvPr id="19" name="Gráfico 18">
            <a:extLst>
              <a:ext uri="{FF2B5EF4-FFF2-40B4-BE49-F238E27FC236}">
                <a16:creationId xmlns:a16="http://schemas.microsoft.com/office/drawing/2014/main" id="{CDEB32DA-BBCF-4AAD-8374-C34D13B056C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57153" y="3628857"/>
            <a:ext cx="1404000" cy="1404000"/>
          </a:xfrm>
          <a:prstGeom prst="rect">
            <a:avLst/>
          </a:prstGeom>
        </p:spPr>
      </p:pic>
      <p:pic>
        <p:nvPicPr>
          <p:cNvPr id="21" name="Gráfico 20">
            <a:extLst>
              <a:ext uri="{FF2B5EF4-FFF2-40B4-BE49-F238E27FC236}">
                <a16:creationId xmlns:a16="http://schemas.microsoft.com/office/drawing/2014/main" id="{1B8E9ADD-0EED-43BF-8F35-12185B966B8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348052" y="3607962"/>
            <a:ext cx="1404000" cy="1404000"/>
          </a:xfrm>
          <a:prstGeom prst="rect">
            <a:avLst/>
          </a:prstGeom>
        </p:spPr>
      </p:pic>
      <p:pic>
        <p:nvPicPr>
          <p:cNvPr id="23" name="Gráfico 22">
            <a:extLst>
              <a:ext uri="{FF2B5EF4-FFF2-40B4-BE49-F238E27FC236}">
                <a16:creationId xmlns:a16="http://schemas.microsoft.com/office/drawing/2014/main" id="{70EF4573-A30F-47D6-A2ED-FBC41844DBA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938951" y="3668961"/>
            <a:ext cx="1404000" cy="1404000"/>
          </a:xfrm>
          <a:prstGeom prst="rect">
            <a:avLst/>
          </a:prstGeom>
        </p:spPr>
      </p:pic>
      <p:pic>
        <p:nvPicPr>
          <p:cNvPr id="25" name="Gráfico 24">
            <a:extLst>
              <a:ext uri="{FF2B5EF4-FFF2-40B4-BE49-F238E27FC236}">
                <a16:creationId xmlns:a16="http://schemas.microsoft.com/office/drawing/2014/main" id="{EEA546F8-1CF2-4839-AFC5-DE611E9D3D2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358880" y="3664191"/>
            <a:ext cx="1404000" cy="1404000"/>
          </a:xfrm>
          <a:prstGeom prst="rect">
            <a:avLst/>
          </a:prstGeom>
        </p:spPr>
      </p:pic>
      <p:pic>
        <p:nvPicPr>
          <p:cNvPr id="27" name="Gráfico 26">
            <a:extLst>
              <a:ext uri="{FF2B5EF4-FFF2-40B4-BE49-F238E27FC236}">
                <a16:creationId xmlns:a16="http://schemas.microsoft.com/office/drawing/2014/main" id="{0C02128D-E4E5-4518-994B-84A1EDE1969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166254" y="3678501"/>
            <a:ext cx="1404000" cy="1404000"/>
          </a:xfrm>
          <a:prstGeom prst="rect">
            <a:avLst/>
          </a:prstGeom>
        </p:spPr>
      </p:pic>
      <p:pic>
        <p:nvPicPr>
          <p:cNvPr id="29" name="Gráfico 28">
            <a:extLst>
              <a:ext uri="{FF2B5EF4-FFF2-40B4-BE49-F238E27FC236}">
                <a16:creationId xmlns:a16="http://schemas.microsoft.com/office/drawing/2014/main" id="{7090D70E-11CC-4387-9569-0BB5FD8E354C}"/>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802265" y="1895391"/>
            <a:ext cx="1404000" cy="1404000"/>
          </a:xfrm>
          <a:prstGeom prst="rect">
            <a:avLst/>
          </a:prstGeom>
        </p:spPr>
      </p:pic>
      <p:pic>
        <p:nvPicPr>
          <p:cNvPr id="31" name="Gráfico 30">
            <a:extLst>
              <a:ext uri="{FF2B5EF4-FFF2-40B4-BE49-F238E27FC236}">
                <a16:creationId xmlns:a16="http://schemas.microsoft.com/office/drawing/2014/main" id="{BC3406DD-1FC2-4CA9-A923-BC226B425094}"/>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043256" y="1922721"/>
            <a:ext cx="1195389" cy="1404000"/>
          </a:xfrm>
          <a:prstGeom prst="rect">
            <a:avLst/>
          </a:prstGeom>
        </p:spPr>
      </p:pic>
      <p:pic>
        <p:nvPicPr>
          <p:cNvPr id="33" name="Gráfico 32">
            <a:extLst>
              <a:ext uri="{FF2B5EF4-FFF2-40B4-BE49-F238E27FC236}">
                <a16:creationId xmlns:a16="http://schemas.microsoft.com/office/drawing/2014/main" id="{F14FCA51-39BD-4432-91CF-0634B88121D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358881" y="1954461"/>
            <a:ext cx="1403999" cy="14039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ARQUITECTURA</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De la cámara al trabajador en &lt; 5 s</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691640"/>
            <a:ext cx="2514600" cy="1371600"/>
          </a:xfrm>
          <a:prstGeom prst="roundRect">
            <a:avLst>
              <a:gd name="adj" fmla="val 8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828800"/>
            <a:ext cx="2240280" cy="365760"/>
          </a:xfrm>
          <a:prstGeom prst="rect">
            <a:avLst/>
          </a:prstGeom>
          <a:noFill/>
        </p:spPr>
        <p:txBody>
          <a:bodyPr wrap="square" lIns="0" tIns="0" rIns="0" bIns="0" anchor="t">
            <a:spAutoFit/>
          </a:bodyPr>
          <a:lstStyle/>
          <a:p>
            <a:pPr algn="l">
              <a:lnSpc>
                <a:spcPct val="100000"/>
              </a:lnSpc>
            </a:pPr>
            <a:r>
              <a:rPr sz="1400" b="1" i="0">
                <a:solidFill>
                  <a:srgbClr val="F59E0B"/>
                </a:solidFill>
                <a:latin typeface="Calibri"/>
              </a:rPr>
              <a:t>1. Captura</a:t>
            </a:r>
          </a:p>
        </p:txBody>
      </p:sp>
      <p:sp>
        <p:nvSpPr>
          <p:cNvPr id="9" name="TextBox 8"/>
          <p:cNvSpPr txBox="1"/>
          <p:nvPr/>
        </p:nvSpPr>
        <p:spPr>
          <a:xfrm>
            <a:off x="685800" y="2240280"/>
            <a:ext cx="2240280" cy="731520"/>
          </a:xfrm>
          <a:prstGeom prst="rect">
            <a:avLst/>
          </a:prstGeom>
          <a:noFill/>
        </p:spPr>
        <p:txBody>
          <a:bodyPr wrap="square" lIns="0" tIns="0" rIns="0" bIns="0" anchor="t">
            <a:spAutoFit/>
          </a:bodyPr>
          <a:lstStyle/>
          <a:p>
            <a:pPr algn="l">
              <a:lnSpc>
                <a:spcPct val="115000"/>
              </a:lnSpc>
            </a:pPr>
            <a:r>
              <a:rPr sz="1150" b="0" i="0">
                <a:solidFill>
                  <a:srgbClr val="FFFFFF"/>
                </a:solidFill>
                <a:latin typeface="Calibri"/>
              </a:rPr>
              <a:t>Cámaras IP</a:t>
            </a:r>
          </a:p>
          <a:p>
            <a:pPr algn="l">
              <a:lnSpc>
                <a:spcPct val="115000"/>
              </a:lnSpc>
            </a:pPr>
            <a:r>
              <a:rPr sz="1150" b="0" i="0">
                <a:solidFill>
                  <a:srgbClr val="FFFFFF"/>
                </a:solidFill>
                <a:latin typeface="Calibri"/>
              </a:rPr>
              <a:t>ONVIF / RTSP</a:t>
            </a:r>
          </a:p>
        </p:txBody>
      </p:sp>
      <p:sp>
        <p:nvSpPr>
          <p:cNvPr id="10" name="Right Arrow 9"/>
          <p:cNvSpPr/>
          <p:nvPr/>
        </p:nvSpPr>
        <p:spPr>
          <a:xfrm>
            <a:off x="3063240" y="2194560"/>
            <a:ext cx="274320" cy="365760"/>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337560" y="1691640"/>
            <a:ext cx="2514600" cy="1371600"/>
          </a:xfrm>
          <a:prstGeom prst="roundRect">
            <a:avLst>
              <a:gd name="adj" fmla="val 8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0" y="1828800"/>
            <a:ext cx="2240280" cy="365760"/>
          </a:xfrm>
          <a:prstGeom prst="rect">
            <a:avLst/>
          </a:prstGeom>
          <a:noFill/>
        </p:spPr>
        <p:txBody>
          <a:bodyPr wrap="square" lIns="0" tIns="0" rIns="0" bIns="0" anchor="t">
            <a:spAutoFit/>
          </a:bodyPr>
          <a:lstStyle/>
          <a:p>
            <a:pPr algn="l">
              <a:lnSpc>
                <a:spcPct val="100000"/>
              </a:lnSpc>
            </a:pPr>
            <a:r>
              <a:rPr sz="1400" b="1" i="0">
                <a:solidFill>
                  <a:srgbClr val="F59E0B"/>
                </a:solidFill>
                <a:latin typeface="Calibri"/>
              </a:rPr>
              <a:t>2. Agente Edge</a:t>
            </a:r>
          </a:p>
        </p:txBody>
      </p:sp>
      <p:sp>
        <p:nvSpPr>
          <p:cNvPr id="13" name="TextBox 12"/>
          <p:cNvSpPr txBox="1"/>
          <p:nvPr/>
        </p:nvSpPr>
        <p:spPr>
          <a:xfrm>
            <a:off x="3474720" y="2240280"/>
            <a:ext cx="2240280" cy="731520"/>
          </a:xfrm>
          <a:prstGeom prst="rect">
            <a:avLst/>
          </a:prstGeom>
          <a:noFill/>
        </p:spPr>
        <p:txBody>
          <a:bodyPr wrap="square" lIns="0" tIns="0" rIns="0" bIns="0" anchor="t">
            <a:spAutoFit/>
          </a:bodyPr>
          <a:lstStyle/>
          <a:p>
            <a:pPr algn="l">
              <a:lnSpc>
                <a:spcPct val="115000"/>
              </a:lnSpc>
            </a:pPr>
            <a:r>
              <a:rPr sz="1150" b="0" i="0">
                <a:solidFill>
                  <a:srgbClr val="FFFFFF"/>
                </a:solidFill>
                <a:latin typeface="Calibri"/>
              </a:rPr>
              <a:t>Python · YOLOv8</a:t>
            </a:r>
          </a:p>
          <a:p>
            <a:pPr algn="l">
              <a:lnSpc>
                <a:spcPct val="115000"/>
              </a:lnSpc>
            </a:pPr>
            <a:r>
              <a:rPr sz="1150" b="0" i="0">
                <a:solidFill>
                  <a:srgbClr val="FFFFFF"/>
                </a:solidFill>
                <a:latin typeface="Calibri"/>
              </a:rPr>
              <a:t>Detección local</a:t>
            </a:r>
          </a:p>
        </p:txBody>
      </p:sp>
      <p:sp>
        <p:nvSpPr>
          <p:cNvPr id="14" name="Right Arrow 13"/>
          <p:cNvSpPr/>
          <p:nvPr/>
        </p:nvSpPr>
        <p:spPr>
          <a:xfrm>
            <a:off x="5852160" y="2194560"/>
            <a:ext cx="274320" cy="365760"/>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126480" y="1691640"/>
            <a:ext cx="2514600" cy="1371600"/>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63640" y="1828800"/>
            <a:ext cx="2240280" cy="365760"/>
          </a:xfrm>
          <a:prstGeom prst="rect">
            <a:avLst/>
          </a:prstGeom>
          <a:noFill/>
        </p:spPr>
        <p:txBody>
          <a:bodyPr wrap="square" lIns="0" tIns="0" rIns="0" bIns="0" anchor="t">
            <a:spAutoFit/>
          </a:bodyPr>
          <a:lstStyle/>
          <a:p>
            <a:pPr algn="l">
              <a:lnSpc>
                <a:spcPct val="100000"/>
              </a:lnSpc>
            </a:pPr>
            <a:r>
              <a:rPr sz="1400" b="1" i="0">
                <a:solidFill>
                  <a:srgbClr val="FFFFFF"/>
                </a:solidFill>
                <a:latin typeface="Calibri"/>
              </a:rPr>
              <a:t>3. Alerta física</a:t>
            </a:r>
          </a:p>
        </p:txBody>
      </p:sp>
      <p:sp>
        <p:nvSpPr>
          <p:cNvPr id="17" name="TextBox 16"/>
          <p:cNvSpPr txBox="1"/>
          <p:nvPr/>
        </p:nvSpPr>
        <p:spPr>
          <a:xfrm>
            <a:off x="6263640" y="2240280"/>
            <a:ext cx="2240280" cy="731520"/>
          </a:xfrm>
          <a:prstGeom prst="rect">
            <a:avLst/>
          </a:prstGeom>
          <a:noFill/>
        </p:spPr>
        <p:txBody>
          <a:bodyPr wrap="square" lIns="0" tIns="0" rIns="0" bIns="0" anchor="t">
            <a:spAutoFit/>
          </a:bodyPr>
          <a:lstStyle/>
          <a:p>
            <a:pPr algn="l">
              <a:lnSpc>
                <a:spcPct val="115000"/>
              </a:lnSpc>
            </a:pPr>
            <a:r>
              <a:rPr sz="1150" b="0" i="0">
                <a:solidFill>
                  <a:srgbClr val="FFFFFF"/>
                </a:solidFill>
                <a:latin typeface="Calibri"/>
              </a:rPr>
              <a:t>IP → dispositivo</a:t>
            </a:r>
          </a:p>
          <a:p>
            <a:pPr algn="l">
              <a:lnSpc>
                <a:spcPct val="115000"/>
              </a:lnSpc>
            </a:pPr>
            <a:r>
              <a:rPr sz="1150" b="0" i="0">
                <a:solidFill>
                  <a:srgbClr val="FFFFFF"/>
                </a:solidFill>
                <a:latin typeface="Calibri"/>
              </a:rPr>
              <a:t>Buzzer + háptico</a:t>
            </a:r>
          </a:p>
        </p:txBody>
      </p:sp>
      <p:sp>
        <p:nvSpPr>
          <p:cNvPr id="18" name="Right Arrow 17"/>
          <p:cNvSpPr/>
          <p:nvPr/>
        </p:nvSpPr>
        <p:spPr>
          <a:xfrm>
            <a:off x="8641080" y="2194560"/>
            <a:ext cx="274320" cy="365760"/>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915400" y="1691640"/>
            <a:ext cx="2514600" cy="1371600"/>
          </a:xfrm>
          <a:prstGeom prst="roundRect">
            <a:avLst>
              <a:gd name="adj" fmla="val 8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52560" y="1828800"/>
            <a:ext cx="2240280" cy="365760"/>
          </a:xfrm>
          <a:prstGeom prst="rect">
            <a:avLst/>
          </a:prstGeom>
          <a:noFill/>
        </p:spPr>
        <p:txBody>
          <a:bodyPr wrap="square" lIns="0" tIns="0" rIns="0" bIns="0" anchor="t">
            <a:spAutoFit/>
          </a:bodyPr>
          <a:lstStyle/>
          <a:p>
            <a:pPr algn="l">
              <a:lnSpc>
                <a:spcPct val="100000"/>
              </a:lnSpc>
            </a:pPr>
            <a:r>
              <a:rPr sz="1400" b="1" i="0">
                <a:solidFill>
                  <a:srgbClr val="F59E0B"/>
                </a:solidFill>
                <a:latin typeface="Calibri"/>
              </a:rPr>
              <a:t>4. Gestión</a:t>
            </a:r>
          </a:p>
        </p:txBody>
      </p:sp>
      <p:sp>
        <p:nvSpPr>
          <p:cNvPr id="21" name="TextBox 20"/>
          <p:cNvSpPr txBox="1"/>
          <p:nvPr/>
        </p:nvSpPr>
        <p:spPr>
          <a:xfrm>
            <a:off x="9052560" y="2240280"/>
            <a:ext cx="2240280" cy="731520"/>
          </a:xfrm>
          <a:prstGeom prst="rect">
            <a:avLst/>
          </a:prstGeom>
          <a:noFill/>
        </p:spPr>
        <p:txBody>
          <a:bodyPr wrap="square" lIns="0" tIns="0" rIns="0" bIns="0" anchor="t">
            <a:spAutoFit/>
          </a:bodyPr>
          <a:lstStyle/>
          <a:p>
            <a:pPr algn="l">
              <a:lnSpc>
                <a:spcPct val="115000"/>
              </a:lnSpc>
            </a:pPr>
            <a:r>
              <a:rPr sz="1150" b="0" i="0">
                <a:solidFill>
                  <a:srgbClr val="FFFFFF"/>
                </a:solidFill>
                <a:latin typeface="Calibri"/>
              </a:rPr>
              <a:t>Dashboard · BD</a:t>
            </a:r>
          </a:p>
          <a:p>
            <a:pPr algn="l">
              <a:lnSpc>
                <a:spcPct val="115000"/>
              </a:lnSpc>
            </a:pPr>
            <a:r>
              <a:rPr sz="1150" b="0" i="0">
                <a:solidFill>
                  <a:srgbClr val="FFFFFF"/>
                </a:solidFill>
                <a:latin typeface="Calibri"/>
              </a:rPr>
              <a:t>SMS / Email</a:t>
            </a:r>
          </a:p>
        </p:txBody>
      </p:sp>
      <p:sp>
        <p:nvSpPr>
          <p:cNvPr id="22" name="TextBox 21"/>
          <p:cNvSpPr txBox="1"/>
          <p:nvPr/>
        </p:nvSpPr>
        <p:spPr>
          <a:xfrm>
            <a:off x="548640" y="3337560"/>
            <a:ext cx="3840480" cy="365760"/>
          </a:xfrm>
          <a:prstGeom prst="rect">
            <a:avLst/>
          </a:prstGeom>
          <a:noFill/>
        </p:spPr>
        <p:txBody>
          <a:bodyPr wrap="square" lIns="0" tIns="0" rIns="0" bIns="0" anchor="t">
            <a:spAutoFit/>
          </a:bodyPr>
          <a:lstStyle/>
          <a:p>
            <a:pPr algn="l">
              <a:lnSpc>
                <a:spcPct val="100000"/>
              </a:lnSpc>
            </a:pPr>
            <a:r>
              <a:rPr sz="1400" b="1" i="0">
                <a:solidFill>
                  <a:srgbClr val="B45309"/>
                </a:solidFill>
                <a:latin typeface="Calibri"/>
              </a:rPr>
              <a:t>Flujo del evento</a:t>
            </a:r>
          </a:p>
        </p:txBody>
      </p:sp>
      <p:sp>
        <p:nvSpPr>
          <p:cNvPr id="23" name="TextBox 22"/>
          <p:cNvSpPr txBox="1"/>
          <p:nvPr/>
        </p:nvSpPr>
        <p:spPr>
          <a:xfrm>
            <a:off x="548640" y="3749039"/>
            <a:ext cx="5669280" cy="2377440"/>
          </a:xfrm>
          <a:prstGeom prst="rect">
            <a:avLst/>
          </a:prstGeom>
          <a:noFill/>
        </p:spPr>
        <p:txBody>
          <a:bodyPr wrap="square" lIns="0" tIns="0" rIns="0" bIns="0">
            <a:spAutoFit/>
          </a:bodyPr>
          <a:lstStyle/>
          <a:p>
            <a:pPr>
              <a:lnSpc>
                <a:spcPct val="105000"/>
              </a:lnSpc>
              <a:spcAft>
                <a:spcPts val="800"/>
              </a:spcAft>
            </a:pPr>
            <a:r>
              <a:rPr sz="1300" b="1">
                <a:solidFill>
                  <a:srgbClr val="B45309"/>
                </a:solidFill>
                <a:latin typeface="Calibri"/>
              </a:rPr>
              <a:t>›  </a:t>
            </a:r>
            <a:r>
              <a:rPr sz="1300">
                <a:solidFill>
                  <a:srgbClr val="1F2937"/>
                </a:solidFill>
                <a:latin typeface="Calibri"/>
              </a:rPr>
              <a:t>Detección de infracción en zona de riesgo.</a:t>
            </a:r>
          </a:p>
          <a:p>
            <a:pPr>
              <a:lnSpc>
                <a:spcPct val="105000"/>
              </a:lnSpc>
              <a:spcAft>
                <a:spcPts val="800"/>
              </a:spcAft>
            </a:pPr>
            <a:r>
              <a:rPr sz="1300" b="1">
                <a:solidFill>
                  <a:srgbClr val="B45309"/>
                </a:solidFill>
                <a:latin typeface="Calibri"/>
              </a:rPr>
              <a:t>›  </a:t>
            </a:r>
            <a:r>
              <a:rPr sz="1300">
                <a:solidFill>
                  <a:srgbClr val="1F2937"/>
                </a:solidFill>
                <a:latin typeface="Calibri"/>
              </a:rPr>
              <a:t>Se genera el evento: cámara, zona, tipo, timestamp, imagen.</a:t>
            </a:r>
          </a:p>
          <a:p>
            <a:pPr>
              <a:lnSpc>
                <a:spcPct val="105000"/>
              </a:lnSpc>
              <a:spcAft>
                <a:spcPts val="800"/>
              </a:spcAft>
            </a:pPr>
            <a:r>
              <a:rPr sz="1300" b="1">
                <a:solidFill>
                  <a:srgbClr val="B45309"/>
                </a:solidFill>
                <a:latin typeface="Calibri"/>
              </a:rPr>
              <a:t>›  </a:t>
            </a:r>
            <a:r>
              <a:rPr sz="1300">
                <a:solidFill>
                  <a:srgbClr val="1F2937"/>
                </a:solidFill>
                <a:latin typeface="Calibri"/>
              </a:rPr>
              <a:t>Se resuelve la IP del dispositivo receptor de esa zona.</a:t>
            </a:r>
          </a:p>
          <a:p>
            <a:pPr>
              <a:lnSpc>
                <a:spcPct val="105000"/>
              </a:lnSpc>
              <a:spcAft>
                <a:spcPts val="800"/>
              </a:spcAft>
            </a:pPr>
            <a:r>
              <a:rPr sz="1300" b="1">
                <a:solidFill>
                  <a:srgbClr val="B45309"/>
                </a:solidFill>
                <a:latin typeface="Calibri"/>
              </a:rPr>
              <a:t>›  </a:t>
            </a:r>
            <a:r>
              <a:rPr sz="1300">
                <a:solidFill>
                  <a:srgbClr val="1F2937"/>
                </a:solidFill>
                <a:latin typeface="Calibri"/>
              </a:rPr>
              <a:t>Alerta sonora + vibratoria al trabajador.</a:t>
            </a:r>
          </a:p>
          <a:p>
            <a:pPr>
              <a:lnSpc>
                <a:spcPct val="105000"/>
              </a:lnSpc>
              <a:spcAft>
                <a:spcPts val="800"/>
              </a:spcAft>
            </a:pPr>
            <a:r>
              <a:rPr sz="1300" b="1">
                <a:solidFill>
                  <a:srgbClr val="B45309"/>
                </a:solidFill>
                <a:latin typeface="Calibri"/>
              </a:rPr>
              <a:t>›  </a:t>
            </a:r>
            <a:r>
              <a:rPr sz="1300">
                <a:solidFill>
                  <a:srgbClr val="1F2937"/>
                </a:solidFill>
                <a:latin typeface="Calibri"/>
              </a:rPr>
              <a:t>Registro en BD + notificación SMS/Email al prevencionista.</a:t>
            </a:r>
          </a:p>
        </p:txBody>
      </p:sp>
      <p:sp>
        <p:nvSpPr>
          <p:cNvPr id="24" name="Rounded Rectangle 23"/>
          <p:cNvSpPr/>
          <p:nvPr/>
        </p:nvSpPr>
        <p:spPr>
          <a:xfrm>
            <a:off x="6492240" y="3749039"/>
            <a:ext cx="5120640" cy="1371600"/>
          </a:xfrm>
          <a:prstGeom prst="roundRect">
            <a:avLst>
              <a:gd name="adj" fmla="val 1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92240" y="3749039"/>
            <a:ext cx="5120640" cy="1371600"/>
          </a:xfrm>
          <a:prstGeom prst="rect">
            <a:avLst/>
          </a:prstGeom>
          <a:noFill/>
        </p:spPr>
        <p:txBody>
          <a:bodyPr wrap="square" lIns="0" tIns="0" rIns="0" bIns="0" anchor="t">
            <a:spAutoFit/>
          </a:bodyPr>
          <a:lstStyle/>
          <a:p>
            <a:pPr algn="ctr">
              <a:lnSpc>
                <a:spcPct val="100000"/>
              </a:lnSpc>
            </a:pPr>
            <a:r>
              <a:rPr sz="4400" b="1" i="0">
                <a:solidFill>
                  <a:srgbClr val="B45309"/>
                </a:solidFill>
                <a:latin typeface="Calibri"/>
              </a:rPr>
              <a:t>&lt; 5 s</a:t>
            </a:r>
          </a:p>
        </p:txBody>
      </p:sp>
      <p:sp>
        <p:nvSpPr>
          <p:cNvPr id="26" name="TextBox 25"/>
          <p:cNvSpPr txBox="1"/>
          <p:nvPr/>
        </p:nvSpPr>
        <p:spPr>
          <a:xfrm>
            <a:off x="6675120" y="4526280"/>
            <a:ext cx="4754880" cy="502920"/>
          </a:xfrm>
          <a:prstGeom prst="rect">
            <a:avLst/>
          </a:prstGeom>
          <a:noFill/>
        </p:spPr>
        <p:txBody>
          <a:bodyPr wrap="square" lIns="0" tIns="0" rIns="0" bIns="0" anchor="t">
            <a:spAutoFit/>
          </a:bodyPr>
          <a:lstStyle/>
          <a:p>
            <a:pPr algn="ctr">
              <a:lnSpc>
                <a:spcPct val="100000"/>
              </a:lnSpc>
            </a:pPr>
            <a:r>
              <a:rPr sz="1250" b="0" i="0">
                <a:solidFill>
                  <a:srgbClr val="111827"/>
                </a:solidFill>
                <a:latin typeface="Calibri"/>
              </a:rPr>
              <a:t>Latencia objetivo del ciclo completo</a:t>
            </a:r>
          </a:p>
        </p:txBody>
      </p:sp>
      <p:sp>
        <p:nvSpPr>
          <p:cNvPr id="27" name="TextBox 26"/>
          <p:cNvSpPr txBox="1"/>
          <p:nvPr/>
        </p:nvSpPr>
        <p:spPr>
          <a:xfrm>
            <a:off x="6492240" y="5349240"/>
            <a:ext cx="5120640" cy="640080"/>
          </a:xfrm>
          <a:prstGeom prst="rect">
            <a:avLst/>
          </a:prstGeom>
          <a:noFill/>
        </p:spPr>
        <p:txBody>
          <a:bodyPr wrap="square" lIns="0" tIns="0" rIns="0" bIns="0" anchor="t">
            <a:spAutoFit/>
          </a:bodyPr>
          <a:lstStyle/>
          <a:p>
            <a:pPr algn="ctr">
              <a:lnSpc>
                <a:spcPct val="120000"/>
              </a:lnSpc>
            </a:pPr>
            <a:r>
              <a:rPr sz="1200" b="0" i="1">
                <a:solidFill>
                  <a:srgbClr val="6B7280"/>
                </a:solidFill>
                <a:latin typeface="Calibri"/>
              </a:rPr>
              <a:t>Nada cruza hacia la nube: arquitectura estrictamente on-premise / Edge.</a:t>
            </a:r>
          </a:p>
        </p:txBody>
      </p:sp>
      <p:sp>
        <p:nvSpPr>
          <p:cNvPr id="28" name="Rectangle 27"/>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30" name="TextBox 29"/>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11 / 18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COMPETENCIAS</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Las cuatro competencias del perfil de egreso</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600200"/>
            <a:ext cx="640080" cy="914400"/>
          </a:xfrm>
          <a:prstGeom prst="roundRect">
            <a:avLst>
              <a:gd name="adj" fmla="val 1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600200"/>
            <a:ext cx="640080" cy="914400"/>
          </a:xfrm>
          <a:prstGeom prst="rect">
            <a:avLst/>
          </a:prstGeom>
          <a:noFill/>
        </p:spPr>
        <p:txBody>
          <a:bodyPr wrap="square" lIns="0" tIns="0" rIns="0" bIns="0" anchor="ctr">
            <a:spAutoFit/>
          </a:bodyPr>
          <a:lstStyle/>
          <a:p>
            <a:pPr algn="ctr">
              <a:lnSpc>
                <a:spcPct val="100000"/>
              </a:lnSpc>
            </a:pPr>
            <a:r>
              <a:rPr sz="2600" b="1" i="0">
                <a:solidFill>
                  <a:srgbClr val="111827"/>
                </a:solidFill>
                <a:latin typeface="Calibri"/>
              </a:rPr>
              <a:t>1</a:t>
            </a:r>
          </a:p>
        </p:txBody>
      </p:sp>
      <p:sp>
        <p:nvSpPr>
          <p:cNvPr id="9" name="TextBox 8"/>
          <p:cNvSpPr txBox="1"/>
          <p:nvPr/>
        </p:nvSpPr>
        <p:spPr>
          <a:xfrm>
            <a:off x="1417320" y="1618488"/>
            <a:ext cx="3200400" cy="822960"/>
          </a:xfrm>
          <a:prstGeom prst="rect">
            <a:avLst/>
          </a:prstGeom>
          <a:noFill/>
        </p:spPr>
        <p:txBody>
          <a:bodyPr wrap="square" lIns="0" tIns="0" rIns="0" bIns="0" anchor="t">
            <a:spAutoFit/>
          </a:bodyPr>
          <a:lstStyle/>
          <a:p>
            <a:pPr algn="l">
              <a:lnSpc>
                <a:spcPct val="110000"/>
              </a:lnSpc>
            </a:pPr>
            <a:r>
              <a:rPr sz="1450" b="1" i="0">
                <a:solidFill>
                  <a:srgbClr val="1F2937"/>
                </a:solidFill>
                <a:latin typeface="Calibri"/>
              </a:rPr>
              <a:t>Realizar pruebas de certificación</a:t>
            </a:r>
          </a:p>
        </p:txBody>
      </p:sp>
      <p:sp>
        <p:nvSpPr>
          <p:cNvPr id="10" name="TextBox 9"/>
          <p:cNvSpPr txBox="1"/>
          <p:nvPr/>
        </p:nvSpPr>
        <p:spPr>
          <a:xfrm>
            <a:off x="4754880" y="1618488"/>
            <a:ext cx="6858000" cy="868680"/>
          </a:xfrm>
          <a:prstGeom prst="rect">
            <a:avLst/>
          </a:prstGeom>
          <a:noFill/>
        </p:spPr>
        <p:txBody>
          <a:bodyPr wrap="square" lIns="0" tIns="0" rIns="0" bIns="0" anchor="t">
            <a:spAutoFit/>
          </a:bodyPr>
          <a:lstStyle/>
          <a:p>
            <a:pPr algn="l">
              <a:lnSpc>
                <a:spcPct val="115000"/>
              </a:lnSpc>
            </a:pPr>
            <a:r>
              <a:rPr sz="1200" b="0" i="0">
                <a:solidFill>
                  <a:srgbClr val="6B7280"/>
                </a:solidFill>
                <a:latin typeface="Calibri"/>
              </a:rPr>
              <a:t>Plan de pruebas con criterios medibles: mAP ≥ 0,90 · latencia &lt; 5 s · uptime ≥ 99%. Pruebas unitarias, de integración y de aceptación.</a:t>
            </a:r>
          </a:p>
        </p:txBody>
      </p:sp>
      <p:sp>
        <p:nvSpPr>
          <p:cNvPr id="11" name="Rounded Rectangle 10"/>
          <p:cNvSpPr/>
          <p:nvPr/>
        </p:nvSpPr>
        <p:spPr>
          <a:xfrm>
            <a:off x="548640" y="2624328"/>
            <a:ext cx="640080" cy="914400"/>
          </a:xfrm>
          <a:prstGeom prst="roundRect">
            <a:avLst>
              <a:gd name="adj" fmla="val 1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624328"/>
            <a:ext cx="640080" cy="914400"/>
          </a:xfrm>
          <a:prstGeom prst="rect">
            <a:avLst/>
          </a:prstGeom>
          <a:noFill/>
        </p:spPr>
        <p:txBody>
          <a:bodyPr wrap="square" lIns="0" tIns="0" rIns="0" bIns="0" anchor="ctr">
            <a:spAutoFit/>
          </a:bodyPr>
          <a:lstStyle/>
          <a:p>
            <a:pPr algn="ctr">
              <a:lnSpc>
                <a:spcPct val="100000"/>
              </a:lnSpc>
            </a:pPr>
            <a:r>
              <a:rPr sz="2600" b="1" i="0">
                <a:solidFill>
                  <a:srgbClr val="111827"/>
                </a:solidFill>
                <a:latin typeface="Calibri"/>
              </a:rPr>
              <a:t>2</a:t>
            </a:r>
          </a:p>
        </p:txBody>
      </p:sp>
      <p:sp>
        <p:nvSpPr>
          <p:cNvPr id="13" name="TextBox 12"/>
          <p:cNvSpPr txBox="1"/>
          <p:nvPr/>
        </p:nvSpPr>
        <p:spPr>
          <a:xfrm>
            <a:off x="1417320" y="2642616"/>
            <a:ext cx="3200400" cy="822960"/>
          </a:xfrm>
          <a:prstGeom prst="rect">
            <a:avLst/>
          </a:prstGeom>
          <a:noFill/>
        </p:spPr>
        <p:txBody>
          <a:bodyPr wrap="square" lIns="0" tIns="0" rIns="0" bIns="0" anchor="t">
            <a:spAutoFit/>
          </a:bodyPr>
          <a:lstStyle/>
          <a:p>
            <a:pPr algn="l">
              <a:lnSpc>
                <a:spcPct val="110000"/>
              </a:lnSpc>
            </a:pPr>
            <a:r>
              <a:rPr sz="1450" b="1" i="0">
                <a:solidFill>
                  <a:srgbClr val="1F2937"/>
                </a:solidFill>
                <a:latin typeface="Calibri"/>
              </a:rPr>
              <a:t>Gestionar proyectos informáticos</a:t>
            </a:r>
          </a:p>
        </p:txBody>
      </p:sp>
      <p:sp>
        <p:nvSpPr>
          <p:cNvPr id="14" name="TextBox 13"/>
          <p:cNvSpPr txBox="1"/>
          <p:nvPr/>
        </p:nvSpPr>
        <p:spPr>
          <a:xfrm>
            <a:off x="4754880" y="2642616"/>
            <a:ext cx="6858000" cy="868680"/>
          </a:xfrm>
          <a:prstGeom prst="rect">
            <a:avLst/>
          </a:prstGeom>
          <a:noFill/>
        </p:spPr>
        <p:txBody>
          <a:bodyPr wrap="square" lIns="0" tIns="0" rIns="0" bIns="0" anchor="t">
            <a:spAutoFit/>
          </a:bodyPr>
          <a:lstStyle/>
          <a:p>
            <a:pPr algn="l">
              <a:lnSpc>
                <a:spcPct val="115000"/>
              </a:lnSpc>
            </a:pPr>
            <a:r>
              <a:rPr sz="1200" b="0" i="0">
                <a:solidFill>
                  <a:srgbClr val="6B7280"/>
                </a:solidFill>
                <a:latin typeface="Calibri"/>
              </a:rPr>
              <a:t>EDT de 8 paquetes · carta Gantt de 18 semanas · matriz de riesgos con mitigaciones · control por hitos de fase.</a:t>
            </a:r>
          </a:p>
        </p:txBody>
      </p:sp>
      <p:sp>
        <p:nvSpPr>
          <p:cNvPr id="15" name="Rounded Rectangle 14"/>
          <p:cNvSpPr/>
          <p:nvPr/>
        </p:nvSpPr>
        <p:spPr>
          <a:xfrm>
            <a:off x="548640" y="3648456"/>
            <a:ext cx="640080" cy="914400"/>
          </a:xfrm>
          <a:prstGeom prst="roundRect">
            <a:avLst>
              <a:gd name="adj" fmla="val 1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3648456"/>
            <a:ext cx="640080" cy="914400"/>
          </a:xfrm>
          <a:prstGeom prst="rect">
            <a:avLst/>
          </a:prstGeom>
          <a:noFill/>
        </p:spPr>
        <p:txBody>
          <a:bodyPr wrap="square" lIns="0" tIns="0" rIns="0" bIns="0" anchor="ctr">
            <a:spAutoFit/>
          </a:bodyPr>
          <a:lstStyle/>
          <a:p>
            <a:pPr algn="ctr">
              <a:lnSpc>
                <a:spcPct val="100000"/>
              </a:lnSpc>
            </a:pPr>
            <a:r>
              <a:rPr sz="2600" b="1" i="0">
                <a:solidFill>
                  <a:srgbClr val="111827"/>
                </a:solidFill>
                <a:latin typeface="Calibri"/>
              </a:rPr>
              <a:t>3</a:t>
            </a:r>
          </a:p>
        </p:txBody>
      </p:sp>
      <p:sp>
        <p:nvSpPr>
          <p:cNvPr id="17" name="TextBox 16"/>
          <p:cNvSpPr txBox="1"/>
          <p:nvPr/>
        </p:nvSpPr>
        <p:spPr>
          <a:xfrm>
            <a:off x="1417320" y="3666744"/>
            <a:ext cx="3200400" cy="822960"/>
          </a:xfrm>
          <a:prstGeom prst="rect">
            <a:avLst/>
          </a:prstGeom>
          <a:noFill/>
        </p:spPr>
        <p:txBody>
          <a:bodyPr wrap="square" lIns="0" tIns="0" rIns="0" bIns="0" anchor="t">
            <a:spAutoFit/>
          </a:bodyPr>
          <a:lstStyle/>
          <a:p>
            <a:pPr algn="l">
              <a:lnSpc>
                <a:spcPct val="110000"/>
              </a:lnSpc>
            </a:pPr>
            <a:r>
              <a:rPr sz="1450" b="1" i="0">
                <a:solidFill>
                  <a:srgbClr val="1F2937"/>
                </a:solidFill>
                <a:latin typeface="Calibri"/>
              </a:rPr>
              <a:t>Construir modelos de datos</a:t>
            </a:r>
          </a:p>
        </p:txBody>
      </p:sp>
      <p:sp>
        <p:nvSpPr>
          <p:cNvPr id="18" name="TextBox 17"/>
          <p:cNvSpPr txBox="1"/>
          <p:nvPr/>
        </p:nvSpPr>
        <p:spPr>
          <a:xfrm>
            <a:off x="4754880" y="3666744"/>
            <a:ext cx="6858000" cy="868680"/>
          </a:xfrm>
          <a:prstGeom prst="rect">
            <a:avLst/>
          </a:prstGeom>
          <a:noFill/>
        </p:spPr>
        <p:txBody>
          <a:bodyPr wrap="square" lIns="0" tIns="0" rIns="0" bIns="0" anchor="t">
            <a:spAutoFit/>
          </a:bodyPr>
          <a:lstStyle/>
          <a:p>
            <a:pPr algn="l">
              <a:lnSpc>
                <a:spcPct val="115000"/>
              </a:lnSpc>
            </a:pPr>
            <a:r>
              <a:rPr sz="1200" b="0" i="0">
                <a:solidFill>
                  <a:srgbClr val="6B7280"/>
                </a:solidFill>
                <a:latin typeface="Calibri"/>
              </a:rPr>
              <a:t>Modelo relacional PostgreSQL: cámaras, zonas, incidentes, evidencias, usuarios y roles. Migraciones versionadas.</a:t>
            </a:r>
          </a:p>
        </p:txBody>
      </p:sp>
      <p:sp>
        <p:nvSpPr>
          <p:cNvPr id="19" name="Rounded Rectangle 18"/>
          <p:cNvSpPr/>
          <p:nvPr/>
        </p:nvSpPr>
        <p:spPr>
          <a:xfrm>
            <a:off x="548640" y="4672584"/>
            <a:ext cx="640080" cy="914400"/>
          </a:xfrm>
          <a:prstGeom prst="roundRect">
            <a:avLst>
              <a:gd name="adj" fmla="val 1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4672584"/>
            <a:ext cx="640080" cy="914400"/>
          </a:xfrm>
          <a:prstGeom prst="rect">
            <a:avLst/>
          </a:prstGeom>
          <a:noFill/>
        </p:spPr>
        <p:txBody>
          <a:bodyPr wrap="square" lIns="0" tIns="0" rIns="0" bIns="0" anchor="ctr">
            <a:spAutoFit/>
          </a:bodyPr>
          <a:lstStyle/>
          <a:p>
            <a:pPr algn="ctr">
              <a:lnSpc>
                <a:spcPct val="100000"/>
              </a:lnSpc>
            </a:pPr>
            <a:r>
              <a:rPr sz="2600" b="1" i="0">
                <a:solidFill>
                  <a:srgbClr val="111827"/>
                </a:solidFill>
                <a:latin typeface="Calibri"/>
              </a:rPr>
              <a:t>4</a:t>
            </a:r>
          </a:p>
        </p:txBody>
      </p:sp>
      <p:sp>
        <p:nvSpPr>
          <p:cNvPr id="21" name="TextBox 20"/>
          <p:cNvSpPr txBox="1"/>
          <p:nvPr/>
        </p:nvSpPr>
        <p:spPr>
          <a:xfrm>
            <a:off x="1417320" y="4690872"/>
            <a:ext cx="3200400" cy="822960"/>
          </a:xfrm>
          <a:prstGeom prst="rect">
            <a:avLst/>
          </a:prstGeom>
          <a:noFill/>
        </p:spPr>
        <p:txBody>
          <a:bodyPr wrap="square" lIns="0" tIns="0" rIns="0" bIns="0" anchor="t">
            <a:spAutoFit/>
          </a:bodyPr>
          <a:lstStyle/>
          <a:p>
            <a:pPr algn="l">
              <a:lnSpc>
                <a:spcPct val="110000"/>
              </a:lnSpc>
            </a:pPr>
            <a:r>
              <a:rPr sz="1450" b="1" i="0">
                <a:solidFill>
                  <a:srgbClr val="1F2937"/>
                </a:solidFill>
                <a:latin typeface="Calibri"/>
              </a:rPr>
              <a:t>Desarrollar una solución de software</a:t>
            </a:r>
          </a:p>
        </p:txBody>
      </p:sp>
      <p:sp>
        <p:nvSpPr>
          <p:cNvPr id="22" name="TextBox 21"/>
          <p:cNvSpPr txBox="1"/>
          <p:nvPr/>
        </p:nvSpPr>
        <p:spPr>
          <a:xfrm>
            <a:off x="4754880" y="4690872"/>
            <a:ext cx="6858000" cy="868680"/>
          </a:xfrm>
          <a:prstGeom prst="rect">
            <a:avLst/>
          </a:prstGeom>
          <a:noFill/>
        </p:spPr>
        <p:txBody>
          <a:bodyPr wrap="square" lIns="0" tIns="0" rIns="0" bIns="0" anchor="t">
            <a:spAutoFit/>
          </a:bodyPr>
          <a:lstStyle/>
          <a:p>
            <a:pPr algn="l">
              <a:lnSpc>
                <a:spcPct val="115000"/>
              </a:lnSpc>
            </a:pPr>
            <a:r>
              <a:rPr sz="1200" b="0" i="0">
                <a:solidFill>
                  <a:srgbClr val="6B7280"/>
                </a:solidFill>
                <a:latin typeface="Calibri"/>
              </a:rPr>
              <a:t>Agente Edge + API REST + dashboard + integración de IA, datos, alertas y dispositivo + despliegue on-premise.</a:t>
            </a:r>
          </a:p>
        </p:txBody>
      </p:sp>
      <p:sp>
        <p:nvSpPr>
          <p:cNvPr id="23" name="TextBox 22"/>
          <p:cNvSpPr txBox="1"/>
          <p:nvPr/>
        </p:nvSpPr>
        <p:spPr>
          <a:xfrm>
            <a:off x="548640" y="5806440"/>
            <a:ext cx="11064240" cy="457200"/>
          </a:xfrm>
          <a:prstGeom prst="rect">
            <a:avLst/>
          </a:prstGeom>
          <a:noFill/>
        </p:spPr>
        <p:txBody>
          <a:bodyPr wrap="square" lIns="0" tIns="0" rIns="0" bIns="0" anchor="t">
            <a:spAutoFit/>
          </a:bodyPr>
          <a:lstStyle/>
          <a:p>
            <a:pPr algn="l">
              <a:lnSpc>
                <a:spcPct val="100000"/>
              </a:lnSpc>
            </a:pPr>
            <a:r>
              <a:rPr sz="1250" b="1" i="1">
                <a:solidFill>
                  <a:srgbClr val="B45309"/>
                </a:solidFill>
                <a:latin typeface="Calibri"/>
              </a:rPr>
              <a:t>El proyecto encadena las cuatro: no se puede probar lo que no se construyó, ni construir sin modelo de datos.</a:t>
            </a:r>
          </a:p>
        </p:txBody>
      </p:sp>
      <p:sp>
        <p:nvSpPr>
          <p:cNvPr id="24" name="Rectangle 23"/>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26" name="TextBox 25"/>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12 / 18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RIESGOS</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Qué puede salir mal y qué hacemos</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548640" y="1600200"/>
          <a:ext cx="11064239" cy="320040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4206239">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5029200">
                  <a:extLst>
                    <a:ext uri="{9D8B030D-6E8A-4147-A177-3AD203B41FA5}">
                      <a16:colId xmlns:a16="http://schemas.microsoft.com/office/drawing/2014/main" val="20003"/>
                    </a:ext>
                  </a:extLst>
                </a:gridCol>
              </a:tblGrid>
              <a:tr h="533400">
                <a:tc>
                  <a:txBody>
                    <a:bodyPr/>
                    <a:lstStyle/>
                    <a:p>
                      <a:pPr algn="ctr"/>
                      <a:r>
                        <a:rPr sz="1300" b="1">
                          <a:solidFill>
                            <a:srgbClr val="FFFFFF"/>
                          </a:solidFill>
                          <a:latin typeface="Calibri"/>
                        </a:rPr>
                        <a:t>#</a:t>
                      </a:r>
                    </a:p>
                  </a:txBody>
                  <a:tcPr marL="76200" marR="76200" marT="50800" marB="50800" anchor="ctr">
                    <a:solidFill>
                      <a:srgbClr val="1F2937"/>
                    </a:solidFill>
                  </a:tcPr>
                </a:tc>
                <a:tc>
                  <a:txBody>
                    <a:bodyPr/>
                    <a:lstStyle/>
                    <a:p>
                      <a:pPr algn="l"/>
                      <a:r>
                        <a:rPr sz="1300" b="1">
                          <a:solidFill>
                            <a:srgbClr val="FFFFFF"/>
                          </a:solidFill>
                          <a:latin typeface="Calibri"/>
                        </a:rPr>
                        <a:t>Riesgo</a:t>
                      </a:r>
                    </a:p>
                  </a:txBody>
                  <a:tcPr marL="76200" marR="76200" marT="50800" marB="50800" anchor="ctr">
                    <a:solidFill>
                      <a:srgbClr val="1F2937"/>
                    </a:solidFill>
                  </a:tcPr>
                </a:tc>
                <a:tc>
                  <a:txBody>
                    <a:bodyPr/>
                    <a:lstStyle/>
                    <a:p>
                      <a:pPr algn="ctr"/>
                      <a:r>
                        <a:rPr sz="1300" b="1">
                          <a:solidFill>
                            <a:srgbClr val="FFFFFF"/>
                          </a:solidFill>
                          <a:latin typeface="Calibri"/>
                        </a:rPr>
                        <a:t>Impacto</a:t>
                      </a:r>
                    </a:p>
                  </a:txBody>
                  <a:tcPr marL="76200" marR="76200" marT="50800" marB="50800" anchor="ctr">
                    <a:solidFill>
                      <a:srgbClr val="1F2937"/>
                    </a:solidFill>
                  </a:tcPr>
                </a:tc>
                <a:tc>
                  <a:txBody>
                    <a:bodyPr/>
                    <a:lstStyle/>
                    <a:p>
                      <a:pPr algn="l"/>
                      <a:r>
                        <a:rPr sz="1300" b="1">
                          <a:solidFill>
                            <a:srgbClr val="FFFFFF"/>
                          </a:solidFill>
                          <a:latin typeface="Calibri"/>
                        </a:rPr>
                        <a:t>Mitigación</a:t>
                      </a:r>
                    </a:p>
                  </a:txBody>
                  <a:tcPr marL="76200" marR="76200" marT="50800" marB="50800" anchor="ctr">
                    <a:solidFill>
                      <a:srgbClr val="1F2937"/>
                    </a:solidFill>
                  </a:tcPr>
                </a:tc>
                <a:extLst>
                  <a:ext uri="{0D108BD9-81ED-4DB2-BD59-A6C34878D82A}">
                    <a16:rowId xmlns:a16="http://schemas.microsoft.com/office/drawing/2014/main" val="10000"/>
                  </a:ext>
                </a:extLst>
              </a:tr>
              <a:tr h="533400">
                <a:tc>
                  <a:txBody>
                    <a:bodyPr/>
                    <a:lstStyle/>
                    <a:p>
                      <a:pPr algn="ctr"/>
                      <a:r>
                        <a:rPr sz="1250">
                          <a:solidFill>
                            <a:srgbClr val="1F2937"/>
                          </a:solidFill>
                          <a:latin typeface="Calibri"/>
                        </a:rPr>
                        <a:t>R1</a:t>
                      </a:r>
                    </a:p>
                  </a:txBody>
                  <a:tcPr marL="76200" marR="76200" marT="50800" marB="50800" anchor="ctr">
                    <a:solidFill>
                      <a:srgbClr val="FFFFFF"/>
                    </a:solidFill>
                  </a:tcPr>
                </a:tc>
                <a:tc>
                  <a:txBody>
                    <a:bodyPr/>
                    <a:lstStyle/>
                    <a:p>
                      <a:pPr algn="l"/>
                      <a:r>
                        <a:rPr sz="1250">
                          <a:solidFill>
                            <a:srgbClr val="1F2937"/>
                          </a:solidFill>
                          <a:latin typeface="Calibri"/>
                        </a:rPr>
                        <a:t>Hardware del dispositivo de alerta no llega a tiempo</a:t>
                      </a:r>
                    </a:p>
                  </a:txBody>
                  <a:tcPr marL="76200" marR="76200" marT="50800" marB="50800" anchor="ctr">
                    <a:solidFill>
                      <a:srgbClr val="FFFFFF"/>
                    </a:solidFill>
                  </a:tcPr>
                </a:tc>
                <a:tc>
                  <a:txBody>
                    <a:bodyPr/>
                    <a:lstStyle/>
                    <a:p>
                      <a:pPr algn="ctr"/>
                      <a:r>
                        <a:rPr sz="1250">
                          <a:solidFill>
                            <a:srgbClr val="1F2937"/>
                          </a:solidFill>
                          <a:latin typeface="Calibri"/>
                        </a:rPr>
                        <a:t>Alto</a:t>
                      </a:r>
                    </a:p>
                  </a:txBody>
                  <a:tcPr marL="76200" marR="76200" marT="50800" marB="50800" anchor="ctr">
                    <a:solidFill>
                      <a:srgbClr val="FFFFFF"/>
                    </a:solidFill>
                  </a:tcPr>
                </a:tc>
                <a:tc>
                  <a:txBody>
                    <a:bodyPr/>
                    <a:lstStyle/>
                    <a:p>
                      <a:pPr algn="l"/>
                      <a:r>
                        <a:rPr sz="1250">
                          <a:solidFill>
                            <a:srgbClr val="1F2937"/>
                          </a:solidFill>
                          <a:latin typeface="Calibri"/>
                        </a:rPr>
                        <a:t>Protocolo IP contra receptor simulado desde la Semana 10</a:t>
                      </a:r>
                    </a:p>
                  </a:txBody>
                  <a:tcPr marL="76200" marR="76200" marT="50800" marB="50800" anchor="ctr">
                    <a:solidFill>
                      <a:srgbClr val="FFFFFF"/>
                    </a:solidFill>
                  </a:tcPr>
                </a:tc>
                <a:extLst>
                  <a:ext uri="{0D108BD9-81ED-4DB2-BD59-A6C34878D82A}">
                    <a16:rowId xmlns:a16="http://schemas.microsoft.com/office/drawing/2014/main" val="10001"/>
                  </a:ext>
                </a:extLst>
              </a:tr>
              <a:tr h="533400">
                <a:tc>
                  <a:txBody>
                    <a:bodyPr/>
                    <a:lstStyle/>
                    <a:p>
                      <a:pPr algn="ctr"/>
                      <a:r>
                        <a:rPr sz="1250">
                          <a:solidFill>
                            <a:srgbClr val="1F2937"/>
                          </a:solidFill>
                          <a:latin typeface="Calibri"/>
                        </a:rPr>
                        <a:t>R2</a:t>
                      </a:r>
                    </a:p>
                  </a:txBody>
                  <a:tcPr marL="76200" marR="76200" marT="50800" marB="50800" anchor="ctr">
                    <a:solidFill>
                      <a:srgbClr val="F3F4F6"/>
                    </a:solidFill>
                  </a:tcPr>
                </a:tc>
                <a:tc>
                  <a:txBody>
                    <a:bodyPr/>
                    <a:lstStyle/>
                    <a:p>
                      <a:pPr algn="l"/>
                      <a:r>
                        <a:rPr sz="1250">
                          <a:solidFill>
                            <a:srgbClr val="1F2937"/>
                          </a:solidFill>
                          <a:latin typeface="Calibri"/>
                        </a:rPr>
                        <a:t>Dataset poco representativo de faenas chilenas</a:t>
                      </a:r>
                    </a:p>
                  </a:txBody>
                  <a:tcPr marL="76200" marR="76200" marT="50800" marB="50800" anchor="ctr">
                    <a:solidFill>
                      <a:srgbClr val="F3F4F6"/>
                    </a:solidFill>
                  </a:tcPr>
                </a:tc>
                <a:tc>
                  <a:txBody>
                    <a:bodyPr/>
                    <a:lstStyle/>
                    <a:p>
                      <a:pPr algn="ctr"/>
                      <a:r>
                        <a:rPr sz="1250">
                          <a:solidFill>
                            <a:srgbClr val="1F2937"/>
                          </a:solidFill>
                          <a:latin typeface="Calibri"/>
                        </a:rPr>
                        <a:t>Alto</a:t>
                      </a:r>
                    </a:p>
                  </a:txBody>
                  <a:tcPr marL="76200" marR="76200" marT="50800" marB="50800" anchor="ctr">
                    <a:solidFill>
                      <a:srgbClr val="F3F4F6"/>
                    </a:solidFill>
                  </a:tcPr>
                </a:tc>
                <a:tc>
                  <a:txBody>
                    <a:bodyPr/>
                    <a:lstStyle/>
                    <a:p>
                      <a:pPr algn="l"/>
                      <a:r>
                        <a:rPr sz="1250">
                          <a:solidFill>
                            <a:srgbClr val="1F2937"/>
                          </a:solidFill>
                          <a:latin typeface="Calibri"/>
                        </a:rPr>
                        <a:t>Datasets públicos de EPP + imágenes propias etiquetadas en Roboflow</a:t>
                      </a:r>
                    </a:p>
                  </a:txBody>
                  <a:tcPr marL="76200" marR="76200" marT="50800" marB="50800" anchor="ctr">
                    <a:solidFill>
                      <a:srgbClr val="F3F4F6"/>
                    </a:solidFill>
                  </a:tcPr>
                </a:tc>
                <a:extLst>
                  <a:ext uri="{0D108BD9-81ED-4DB2-BD59-A6C34878D82A}">
                    <a16:rowId xmlns:a16="http://schemas.microsoft.com/office/drawing/2014/main" val="10002"/>
                  </a:ext>
                </a:extLst>
              </a:tr>
              <a:tr h="533400">
                <a:tc>
                  <a:txBody>
                    <a:bodyPr/>
                    <a:lstStyle/>
                    <a:p>
                      <a:pPr algn="ctr"/>
                      <a:r>
                        <a:rPr sz="1250">
                          <a:solidFill>
                            <a:srgbClr val="1F2937"/>
                          </a:solidFill>
                          <a:latin typeface="Calibri"/>
                        </a:rPr>
                        <a:t>R4</a:t>
                      </a:r>
                    </a:p>
                  </a:txBody>
                  <a:tcPr marL="76200" marR="76200" marT="50800" marB="50800" anchor="ctr">
                    <a:solidFill>
                      <a:srgbClr val="FFFFFF"/>
                    </a:solidFill>
                  </a:tcPr>
                </a:tc>
                <a:tc>
                  <a:txBody>
                    <a:bodyPr/>
                    <a:lstStyle/>
                    <a:p>
                      <a:pPr algn="l"/>
                      <a:r>
                        <a:rPr sz="1250">
                          <a:solidFill>
                            <a:srgbClr val="1F2937"/>
                          </a:solidFill>
                          <a:latin typeface="Calibri"/>
                        </a:rPr>
                        <a:t>Carga académica paralela del equipo</a:t>
                      </a:r>
                    </a:p>
                  </a:txBody>
                  <a:tcPr marL="76200" marR="76200" marT="50800" marB="50800" anchor="ctr">
                    <a:solidFill>
                      <a:srgbClr val="FFFFFF"/>
                    </a:solidFill>
                  </a:tcPr>
                </a:tc>
                <a:tc>
                  <a:txBody>
                    <a:bodyPr/>
                    <a:lstStyle/>
                    <a:p>
                      <a:pPr algn="ctr"/>
                      <a:r>
                        <a:rPr sz="1250">
                          <a:solidFill>
                            <a:srgbClr val="1F2937"/>
                          </a:solidFill>
                          <a:latin typeface="Calibri"/>
                        </a:rPr>
                        <a:t>Alto</a:t>
                      </a:r>
                    </a:p>
                  </a:txBody>
                  <a:tcPr marL="76200" marR="76200" marT="50800" marB="50800" anchor="ctr">
                    <a:solidFill>
                      <a:srgbClr val="FFFFFF"/>
                    </a:solidFill>
                  </a:tcPr>
                </a:tc>
                <a:tc>
                  <a:txBody>
                    <a:bodyPr/>
                    <a:lstStyle/>
                    <a:p>
                      <a:pPr algn="l"/>
                      <a:r>
                        <a:rPr sz="1250">
                          <a:solidFill>
                            <a:srgbClr val="1F2937"/>
                          </a:solidFill>
                          <a:latin typeface="Calibri"/>
                        </a:rPr>
                        <a:t>MVP acotado · hitos quincenales · responsable único por paquete</a:t>
                      </a:r>
                    </a:p>
                  </a:txBody>
                  <a:tcPr marL="76200" marR="76200" marT="50800" marB="50800" anchor="ctr">
                    <a:solidFill>
                      <a:srgbClr val="FFFFFF"/>
                    </a:solidFill>
                  </a:tcPr>
                </a:tc>
                <a:extLst>
                  <a:ext uri="{0D108BD9-81ED-4DB2-BD59-A6C34878D82A}">
                    <a16:rowId xmlns:a16="http://schemas.microsoft.com/office/drawing/2014/main" val="10003"/>
                  </a:ext>
                </a:extLst>
              </a:tr>
              <a:tr h="533400">
                <a:tc>
                  <a:txBody>
                    <a:bodyPr/>
                    <a:lstStyle/>
                    <a:p>
                      <a:pPr algn="ctr"/>
                      <a:r>
                        <a:rPr sz="1250">
                          <a:solidFill>
                            <a:srgbClr val="1F2937"/>
                          </a:solidFill>
                          <a:latin typeface="Calibri"/>
                        </a:rPr>
                        <a:t>R5</a:t>
                      </a:r>
                    </a:p>
                  </a:txBody>
                  <a:tcPr marL="76200" marR="76200" marT="50800" marB="50800" anchor="ctr">
                    <a:solidFill>
                      <a:srgbClr val="F3F4F6"/>
                    </a:solidFill>
                  </a:tcPr>
                </a:tc>
                <a:tc>
                  <a:txBody>
                    <a:bodyPr/>
                    <a:lstStyle/>
                    <a:p>
                      <a:pPr algn="l"/>
                      <a:r>
                        <a:rPr sz="1250">
                          <a:solidFill>
                            <a:srgbClr val="1F2937"/>
                          </a:solidFill>
                          <a:latin typeface="Calibri"/>
                        </a:rPr>
                        <a:t>Latencia o pérdida de paquetes hacia el dispositivo</a:t>
                      </a:r>
                    </a:p>
                  </a:txBody>
                  <a:tcPr marL="76200" marR="76200" marT="50800" marB="50800" anchor="ctr">
                    <a:solidFill>
                      <a:srgbClr val="F3F4F6"/>
                    </a:solidFill>
                  </a:tcPr>
                </a:tc>
                <a:tc>
                  <a:txBody>
                    <a:bodyPr/>
                    <a:lstStyle/>
                    <a:p>
                      <a:pPr algn="ctr"/>
                      <a:r>
                        <a:rPr sz="1250">
                          <a:solidFill>
                            <a:srgbClr val="1F2937"/>
                          </a:solidFill>
                          <a:latin typeface="Calibri"/>
                        </a:rPr>
                        <a:t>Medio</a:t>
                      </a:r>
                    </a:p>
                  </a:txBody>
                  <a:tcPr marL="76200" marR="76200" marT="50800" marB="50800" anchor="ctr">
                    <a:solidFill>
                      <a:srgbClr val="F3F4F6"/>
                    </a:solidFill>
                  </a:tcPr>
                </a:tc>
                <a:tc>
                  <a:txBody>
                    <a:bodyPr/>
                    <a:lstStyle/>
                    <a:p>
                      <a:pPr algn="l"/>
                      <a:r>
                        <a:rPr sz="1250">
                          <a:solidFill>
                            <a:srgbClr val="1F2937"/>
                          </a:solidFill>
                          <a:latin typeface="Calibri"/>
                        </a:rPr>
                        <a:t>Heartbeat, reintentos y respaldo por notificación remota</a:t>
                      </a:r>
                    </a:p>
                  </a:txBody>
                  <a:tcPr marL="76200" marR="76200" marT="50800" marB="50800" anchor="ctr">
                    <a:solidFill>
                      <a:srgbClr val="F3F4F6"/>
                    </a:solidFill>
                  </a:tcPr>
                </a:tc>
                <a:extLst>
                  <a:ext uri="{0D108BD9-81ED-4DB2-BD59-A6C34878D82A}">
                    <a16:rowId xmlns:a16="http://schemas.microsoft.com/office/drawing/2014/main" val="10004"/>
                  </a:ext>
                </a:extLst>
              </a:tr>
              <a:tr h="533400">
                <a:tc>
                  <a:txBody>
                    <a:bodyPr/>
                    <a:lstStyle/>
                    <a:p>
                      <a:pPr algn="ctr"/>
                      <a:r>
                        <a:rPr sz="1250">
                          <a:solidFill>
                            <a:srgbClr val="1F2937"/>
                          </a:solidFill>
                          <a:latin typeface="Calibri"/>
                        </a:rPr>
                        <a:t>R7</a:t>
                      </a:r>
                    </a:p>
                  </a:txBody>
                  <a:tcPr marL="76200" marR="76200" marT="50800" marB="50800" anchor="ctr">
                    <a:solidFill>
                      <a:srgbClr val="FFFFFF"/>
                    </a:solidFill>
                  </a:tcPr>
                </a:tc>
                <a:tc>
                  <a:txBody>
                    <a:bodyPr/>
                    <a:lstStyle/>
                    <a:p>
                      <a:pPr algn="l"/>
                      <a:r>
                        <a:rPr sz="1250">
                          <a:solidFill>
                            <a:srgbClr val="1F2937"/>
                          </a:solidFill>
                          <a:latin typeface="Calibri"/>
                        </a:rPr>
                        <a:t>Alcance creciente (detectar más EPP)</a:t>
                      </a:r>
                    </a:p>
                  </a:txBody>
                  <a:tcPr marL="76200" marR="76200" marT="50800" marB="50800" anchor="ctr">
                    <a:solidFill>
                      <a:srgbClr val="FFFFFF"/>
                    </a:solidFill>
                  </a:tcPr>
                </a:tc>
                <a:tc>
                  <a:txBody>
                    <a:bodyPr/>
                    <a:lstStyle/>
                    <a:p>
                      <a:pPr algn="ctr"/>
                      <a:r>
                        <a:rPr sz="1250">
                          <a:solidFill>
                            <a:srgbClr val="1F2937"/>
                          </a:solidFill>
                          <a:latin typeface="Calibri"/>
                        </a:rPr>
                        <a:t>Medio</a:t>
                      </a:r>
                    </a:p>
                  </a:txBody>
                  <a:tcPr marL="76200" marR="76200" marT="50800" marB="50800" anchor="ctr">
                    <a:solidFill>
                      <a:srgbClr val="FFFFFF"/>
                    </a:solidFill>
                  </a:tcPr>
                </a:tc>
                <a:tc>
                  <a:txBody>
                    <a:bodyPr/>
                    <a:lstStyle/>
                    <a:p>
                      <a:pPr algn="l"/>
                      <a:r>
                        <a:rPr sz="1250">
                          <a:solidFill>
                            <a:srgbClr val="1F2937"/>
                          </a:solidFill>
                          <a:latin typeface="Calibri"/>
                        </a:rPr>
                        <a:t>Casco y chaleco comprometidos; el resto es evolución futura declarada</a:t>
                      </a:r>
                    </a:p>
                  </a:txBody>
                  <a:tcPr marL="76200" marR="76200" marT="50800" marB="50800"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548640" y="5074920"/>
            <a:ext cx="11064240" cy="548640"/>
          </a:xfrm>
          <a:prstGeom prst="rect">
            <a:avLst/>
          </a:prstGeom>
          <a:noFill/>
        </p:spPr>
        <p:txBody>
          <a:bodyPr wrap="square" lIns="0" tIns="0" rIns="0" bIns="0" anchor="t">
            <a:spAutoFit/>
          </a:bodyPr>
          <a:lstStyle/>
          <a:p>
            <a:pPr algn="l">
              <a:lnSpc>
                <a:spcPct val="100000"/>
              </a:lnSpc>
            </a:pPr>
            <a:r>
              <a:rPr sz="1300" b="0" i="1">
                <a:solidFill>
                  <a:srgbClr val="6B7280"/>
                </a:solidFill>
                <a:latin typeface="Calibri"/>
              </a:rPr>
              <a:t>La matriz sigue la lógica de ISO 31000 — identificar, analizar, evaluar y tratar — y se revisa en cada hito de fase.</a:t>
            </a:r>
          </a:p>
        </p:txBody>
      </p:sp>
      <p:sp>
        <p:nvSpPr>
          <p:cNvPr id="9" name="Rectangle 8"/>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11" name="TextBox 10"/>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13 / 18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SEGURIDAD</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Seguridad, privacidad y protección de datos</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600200"/>
            <a:ext cx="3611880" cy="7315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764792"/>
            <a:ext cx="3611880" cy="365760"/>
          </a:xfrm>
          <a:prstGeom prst="rect">
            <a:avLst/>
          </a:prstGeom>
          <a:noFill/>
        </p:spPr>
        <p:txBody>
          <a:bodyPr wrap="square" lIns="0" tIns="0" rIns="0" bIns="0" anchor="t">
            <a:spAutoFit/>
          </a:bodyPr>
          <a:lstStyle/>
          <a:p>
            <a:pPr algn="l">
              <a:lnSpc>
                <a:spcPct val="100000"/>
              </a:lnSpc>
            </a:pPr>
            <a:r>
              <a:rPr sz="1500" b="1" i="0">
                <a:solidFill>
                  <a:srgbClr val="1F2937"/>
                </a:solidFill>
                <a:latin typeface="Calibri"/>
              </a:rPr>
              <a:t>Seguridad laboral</a:t>
            </a:r>
          </a:p>
        </p:txBody>
      </p:sp>
      <p:sp>
        <p:nvSpPr>
          <p:cNvPr id="9" name="TextBox 8"/>
          <p:cNvSpPr txBox="1"/>
          <p:nvPr/>
        </p:nvSpPr>
        <p:spPr>
          <a:xfrm>
            <a:off x="548640" y="2130552"/>
            <a:ext cx="3611880" cy="320040"/>
          </a:xfrm>
          <a:prstGeom prst="rect">
            <a:avLst/>
          </a:prstGeom>
          <a:noFill/>
        </p:spPr>
        <p:txBody>
          <a:bodyPr wrap="square" lIns="0" tIns="0" rIns="0" bIns="0" anchor="t">
            <a:spAutoFit/>
          </a:bodyPr>
          <a:lstStyle/>
          <a:p>
            <a:pPr algn="l">
              <a:lnSpc>
                <a:spcPct val="100000"/>
              </a:lnSpc>
            </a:pPr>
            <a:r>
              <a:rPr sz="1100" b="0" i="1">
                <a:solidFill>
                  <a:srgbClr val="6B7280"/>
                </a:solidFill>
                <a:latin typeface="Calibri"/>
              </a:rPr>
              <a:t>El propósito del producto</a:t>
            </a:r>
          </a:p>
        </p:txBody>
      </p:sp>
      <p:sp>
        <p:nvSpPr>
          <p:cNvPr id="10" name="TextBox 9"/>
          <p:cNvSpPr txBox="1"/>
          <p:nvPr/>
        </p:nvSpPr>
        <p:spPr>
          <a:xfrm>
            <a:off x="548640" y="2514600"/>
            <a:ext cx="3611880" cy="2651760"/>
          </a:xfrm>
          <a:prstGeom prst="rect">
            <a:avLst/>
          </a:prstGeom>
          <a:noFill/>
        </p:spPr>
        <p:txBody>
          <a:bodyPr wrap="square" lIns="0" tIns="0" rIns="0" bIns="0">
            <a:spAutoFit/>
          </a:bodyPr>
          <a:lstStyle/>
          <a:p>
            <a:pPr>
              <a:lnSpc>
                <a:spcPct val="115000"/>
              </a:lnSpc>
              <a:spcAft>
                <a:spcPts val="800"/>
              </a:spcAft>
            </a:pPr>
            <a:r>
              <a:rPr sz="1150" b="1">
                <a:solidFill>
                  <a:srgbClr val="B45309"/>
                </a:solidFill>
                <a:latin typeface="Calibri"/>
              </a:rPr>
              <a:t>›  </a:t>
            </a:r>
            <a:r>
              <a:rPr sz="1150">
                <a:solidFill>
                  <a:srgbClr val="1F2937"/>
                </a:solidFill>
                <a:latin typeface="Calibri"/>
              </a:rPr>
              <a:t>Detección continua, sin fatiga</a:t>
            </a:r>
          </a:p>
          <a:p>
            <a:pPr>
              <a:lnSpc>
                <a:spcPct val="115000"/>
              </a:lnSpc>
              <a:spcAft>
                <a:spcPts val="800"/>
              </a:spcAft>
            </a:pPr>
            <a:r>
              <a:rPr sz="1150" b="1">
                <a:solidFill>
                  <a:srgbClr val="B45309"/>
                </a:solidFill>
                <a:latin typeface="Calibri"/>
              </a:rPr>
              <a:t>›  </a:t>
            </a:r>
            <a:r>
              <a:rPr sz="1150">
                <a:solidFill>
                  <a:srgbClr val="1F2937"/>
                </a:solidFill>
                <a:latin typeface="Calibri"/>
              </a:rPr>
              <a:t>Alerta en &lt; 5 segundos</a:t>
            </a:r>
          </a:p>
          <a:p>
            <a:pPr>
              <a:lnSpc>
                <a:spcPct val="115000"/>
              </a:lnSpc>
              <a:spcAft>
                <a:spcPts val="800"/>
              </a:spcAft>
            </a:pPr>
            <a:r>
              <a:rPr sz="1150" b="1">
                <a:solidFill>
                  <a:srgbClr val="B45309"/>
                </a:solidFill>
                <a:latin typeface="Calibri"/>
              </a:rPr>
              <a:t>›  </a:t>
            </a:r>
            <a:r>
              <a:rPr sz="1150">
                <a:solidFill>
                  <a:srgbClr val="1F2937"/>
                </a:solidFill>
                <a:latin typeface="Calibri"/>
              </a:rPr>
              <a:t>Trazabilidad de cada incidente</a:t>
            </a:r>
          </a:p>
        </p:txBody>
      </p:sp>
      <p:sp>
        <p:nvSpPr>
          <p:cNvPr id="11" name="Rectangle 10"/>
          <p:cNvSpPr/>
          <p:nvPr/>
        </p:nvSpPr>
        <p:spPr>
          <a:xfrm>
            <a:off x="4343400" y="1600200"/>
            <a:ext cx="3611880" cy="7315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43400" y="1764792"/>
            <a:ext cx="3611880" cy="365760"/>
          </a:xfrm>
          <a:prstGeom prst="rect">
            <a:avLst/>
          </a:prstGeom>
          <a:noFill/>
        </p:spPr>
        <p:txBody>
          <a:bodyPr wrap="square" lIns="0" tIns="0" rIns="0" bIns="0" anchor="t">
            <a:spAutoFit/>
          </a:bodyPr>
          <a:lstStyle/>
          <a:p>
            <a:pPr algn="l">
              <a:lnSpc>
                <a:spcPct val="100000"/>
              </a:lnSpc>
            </a:pPr>
            <a:r>
              <a:rPr sz="1500" b="1" i="0">
                <a:solidFill>
                  <a:srgbClr val="1F2937"/>
                </a:solidFill>
                <a:latin typeface="Calibri"/>
              </a:rPr>
              <a:t>Seguridad de la información</a:t>
            </a:r>
          </a:p>
        </p:txBody>
      </p:sp>
      <p:sp>
        <p:nvSpPr>
          <p:cNvPr id="13" name="TextBox 12"/>
          <p:cNvSpPr txBox="1"/>
          <p:nvPr/>
        </p:nvSpPr>
        <p:spPr>
          <a:xfrm>
            <a:off x="4343400" y="2130552"/>
            <a:ext cx="3611880" cy="320040"/>
          </a:xfrm>
          <a:prstGeom prst="rect">
            <a:avLst/>
          </a:prstGeom>
          <a:noFill/>
        </p:spPr>
        <p:txBody>
          <a:bodyPr wrap="square" lIns="0" tIns="0" rIns="0" bIns="0" anchor="t">
            <a:spAutoFit/>
          </a:bodyPr>
          <a:lstStyle/>
          <a:p>
            <a:pPr algn="l">
              <a:lnSpc>
                <a:spcPct val="100000"/>
              </a:lnSpc>
            </a:pPr>
            <a:r>
              <a:rPr sz="1100" b="0" i="1">
                <a:solidFill>
                  <a:srgbClr val="6B7280"/>
                </a:solidFill>
                <a:latin typeface="Calibri"/>
              </a:rPr>
              <a:t>La protección del sistema</a:t>
            </a:r>
          </a:p>
        </p:txBody>
      </p:sp>
      <p:sp>
        <p:nvSpPr>
          <p:cNvPr id="14" name="TextBox 13"/>
          <p:cNvSpPr txBox="1"/>
          <p:nvPr/>
        </p:nvSpPr>
        <p:spPr>
          <a:xfrm>
            <a:off x="4343400" y="2514600"/>
            <a:ext cx="3611880" cy="2651760"/>
          </a:xfrm>
          <a:prstGeom prst="rect">
            <a:avLst/>
          </a:prstGeom>
          <a:noFill/>
        </p:spPr>
        <p:txBody>
          <a:bodyPr wrap="square" lIns="0" tIns="0" rIns="0" bIns="0">
            <a:spAutoFit/>
          </a:bodyPr>
          <a:lstStyle/>
          <a:p>
            <a:pPr>
              <a:lnSpc>
                <a:spcPct val="115000"/>
              </a:lnSpc>
              <a:spcAft>
                <a:spcPts val="800"/>
              </a:spcAft>
            </a:pPr>
            <a:r>
              <a:rPr sz="1150" b="1">
                <a:solidFill>
                  <a:srgbClr val="B45309"/>
                </a:solidFill>
                <a:latin typeface="Calibri"/>
              </a:rPr>
              <a:t>›  </a:t>
            </a:r>
            <a:r>
              <a:rPr sz="1150">
                <a:solidFill>
                  <a:srgbClr val="1F2937"/>
                </a:solidFill>
                <a:latin typeface="Calibri"/>
              </a:rPr>
              <a:t>Procesamiento on-premise: el video no sale de la faena</a:t>
            </a:r>
          </a:p>
          <a:p>
            <a:pPr>
              <a:lnSpc>
                <a:spcPct val="115000"/>
              </a:lnSpc>
              <a:spcAft>
                <a:spcPts val="800"/>
              </a:spcAft>
            </a:pPr>
            <a:r>
              <a:rPr sz="1150" b="1">
                <a:solidFill>
                  <a:srgbClr val="B45309"/>
                </a:solidFill>
                <a:latin typeface="Calibri"/>
              </a:rPr>
              <a:t>›  </a:t>
            </a:r>
            <a:r>
              <a:rPr sz="1150">
                <a:solidFill>
                  <a:srgbClr val="1F2937"/>
                </a:solidFill>
                <a:latin typeface="Calibri"/>
              </a:rPr>
              <a:t>Segmentación de red de cámaras y gateway</a:t>
            </a:r>
          </a:p>
          <a:p>
            <a:pPr>
              <a:lnSpc>
                <a:spcPct val="115000"/>
              </a:lnSpc>
              <a:spcAft>
                <a:spcPts val="800"/>
              </a:spcAft>
            </a:pPr>
            <a:r>
              <a:rPr sz="1150" b="1">
                <a:solidFill>
                  <a:srgbClr val="B45309"/>
                </a:solidFill>
                <a:latin typeface="Calibri"/>
              </a:rPr>
              <a:t>›  </a:t>
            </a:r>
            <a:r>
              <a:rPr sz="1150">
                <a:solidFill>
                  <a:srgbClr val="1F2937"/>
                </a:solidFill>
                <a:latin typeface="Calibri"/>
              </a:rPr>
              <a:t>Roles y autenticación en el dashboard</a:t>
            </a:r>
          </a:p>
          <a:p>
            <a:pPr>
              <a:lnSpc>
                <a:spcPct val="115000"/>
              </a:lnSpc>
              <a:spcAft>
                <a:spcPts val="800"/>
              </a:spcAft>
            </a:pPr>
            <a:r>
              <a:rPr sz="1150" b="1">
                <a:solidFill>
                  <a:srgbClr val="B45309"/>
                </a:solidFill>
                <a:latin typeface="Calibri"/>
              </a:rPr>
              <a:t>›  </a:t>
            </a:r>
            <a:r>
              <a:rPr sz="1150">
                <a:solidFill>
                  <a:srgbClr val="1F2937"/>
                </a:solidFill>
                <a:latin typeface="Calibri"/>
              </a:rPr>
              <a:t>TLS en tránsito · logs de auditoría · respaldos de BD</a:t>
            </a:r>
          </a:p>
        </p:txBody>
      </p:sp>
      <p:sp>
        <p:nvSpPr>
          <p:cNvPr id="15" name="Rectangle 14"/>
          <p:cNvSpPr/>
          <p:nvPr/>
        </p:nvSpPr>
        <p:spPr>
          <a:xfrm>
            <a:off x="8138160" y="1600200"/>
            <a:ext cx="3611880" cy="7315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38160" y="1764792"/>
            <a:ext cx="3611880" cy="365760"/>
          </a:xfrm>
          <a:prstGeom prst="rect">
            <a:avLst/>
          </a:prstGeom>
          <a:noFill/>
        </p:spPr>
        <p:txBody>
          <a:bodyPr wrap="square" lIns="0" tIns="0" rIns="0" bIns="0" anchor="t">
            <a:spAutoFit/>
          </a:bodyPr>
          <a:lstStyle/>
          <a:p>
            <a:pPr algn="l">
              <a:lnSpc>
                <a:spcPct val="100000"/>
              </a:lnSpc>
            </a:pPr>
            <a:r>
              <a:rPr sz="1500" b="1" i="0">
                <a:solidFill>
                  <a:srgbClr val="1F2937"/>
                </a:solidFill>
                <a:latin typeface="Calibri"/>
              </a:rPr>
              <a:t>Privacidad de las personas</a:t>
            </a:r>
          </a:p>
        </p:txBody>
      </p:sp>
      <p:sp>
        <p:nvSpPr>
          <p:cNvPr id="17" name="TextBox 16"/>
          <p:cNvSpPr txBox="1"/>
          <p:nvPr/>
        </p:nvSpPr>
        <p:spPr>
          <a:xfrm>
            <a:off x="8138160" y="2130552"/>
            <a:ext cx="3611880" cy="320040"/>
          </a:xfrm>
          <a:prstGeom prst="rect">
            <a:avLst/>
          </a:prstGeom>
          <a:noFill/>
        </p:spPr>
        <p:txBody>
          <a:bodyPr wrap="square" lIns="0" tIns="0" rIns="0" bIns="0" anchor="t">
            <a:spAutoFit/>
          </a:bodyPr>
          <a:lstStyle/>
          <a:p>
            <a:pPr algn="l">
              <a:lnSpc>
                <a:spcPct val="100000"/>
              </a:lnSpc>
            </a:pPr>
            <a:r>
              <a:rPr sz="1100" b="0" i="1">
                <a:solidFill>
                  <a:srgbClr val="6B7280"/>
                </a:solidFill>
                <a:latin typeface="Calibri"/>
              </a:rPr>
              <a:t>El sistema mira a trabajadores</a:t>
            </a:r>
          </a:p>
        </p:txBody>
      </p:sp>
      <p:sp>
        <p:nvSpPr>
          <p:cNvPr id="18" name="TextBox 17"/>
          <p:cNvSpPr txBox="1"/>
          <p:nvPr/>
        </p:nvSpPr>
        <p:spPr>
          <a:xfrm>
            <a:off x="8138160" y="2514600"/>
            <a:ext cx="3611880" cy="2651760"/>
          </a:xfrm>
          <a:prstGeom prst="rect">
            <a:avLst/>
          </a:prstGeom>
          <a:noFill/>
        </p:spPr>
        <p:txBody>
          <a:bodyPr wrap="square" lIns="0" tIns="0" rIns="0" bIns="0">
            <a:spAutoFit/>
          </a:bodyPr>
          <a:lstStyle/>
          <a:p>
            <a:pPr>
              <a:lnSpc>
                <a:spcPct val="115000"/>
              </a:lnSpc>
              <a:spcAft>
                <a:spcPts val="800"/>
              </a:spcAft>
            </a:pPr>
            <a:r>
              <a:rPr sz="1150" b="1">
                <a:solidFill>
                  <a:srgbClr val="B45309"/>
                </a:solidFill>
                <a:latin typeface="Calibri"/>
              </a:rPr>
              <a:t>›  </a:t>
            </a:r>
            <a:r>
              <a:rPr sz="1150">
                <a:solidFill>
                  <a:srgbClr val="1F2937"/>
                </a:solidFill>
                <a:latin typeface="Calibri"/>
              </a:rPr>
              <a:t>Difuminado facial automático</a:t>
            </a:r>
          </a:p>
          <a:p>
            <a:pPr>
              <a:lnSpc>
                <a:spcPct val="115000"/>
              </a:lnSpc>
              <a:spcAft>
                <a:spcPts val="800"/>
              </a:spcAft>
            </a:pPr>
            <a:r>
              <a:rPr sz="1150" b="1">
                <a:solidFill>
                  <a:srgbClr val="B45309"/>
                </a:solidFill>
                <a:latin typeface="Calibri"/>
              </a:rPr>
              <a:t>›  </a:t>
            </a:r>
            <a:r>
              <a:rPr sz="1150">
                <a:solidFill>
                  <a:srgbClr val="1F2937"/>
                </a:solidFill>
                <a:latin typeface="Calibri"/>
              </a:rPr>
              <a:t>Sin reconocimiento facial ni biometría (excluido por diseño)</a:t>
            </a:r>
          </a:p>
          <a:p>
            <a:pPr>
              <a:lnSpc>
                <a:spcPct val="115000"/>
              </a:lnSpc>
              <a:spcAft>
                <a:spcPts val="800"/>
              </a:spcAft>
            </a:pPr>
            <a:r>
              <a:rPr sz="1150" b="1">
                <a:solidFill>
                  <a:srgbClr val="B45309"/>
                </a:solidFill>
                <a:latin typeface="Calibri"/>
              </a:rPr>
              <a:t>›  </a:t>
            </a:r>
            <a:r>
              <a:rPr sz="1150">
                <a:solidFill>
                  <a:srgbClr val="1F2937"/>
                </a:solidFill>
                <a:latin typeface="Calibri"/>
              </a:rPr>
              <a:t>Detecta objetos, no identifica personas</a:t>
            </a:r>
          </a:p>
          <a:p>
            <a:pPr>
              <a:lnSpc>
                <a:spcPct val="115000"/>
              </a:lnSpc>
              <a:spcAft>
                <a:spcPts val="800"/>
              </a:spcAft>
            </a:pPr>
            <a:r>
              <a:rPr sz="1150" b="1">
                <a:solidFill>
                  <a:srgbClr val="B45309"/>
                </a:solidFill>
                <a:latin typeface="Calibri"/>
              </a:rPr>
              <a:t>›  </a:t>
            </a:r>
            <a:r>
              <a:rPr sz="1150">
                <a:solidFill>
                  <a:srgbClr val="1F2937"/>
                </a:solidFill>
                <a:latin typeface="Calibri"/>
              </a:rPr>
              <a:t>Retención acotada de evidencia fotográfica</a:t>
            </a:r>
          </a:p>
        </p:txBody>
      </p:sp>
      <p:sp>
        <p:nvSpPr>
          <p:cNvPr id="19" name="TextBox 18"/>
          <p:cNvSpPr txBox="1"/>
          <p:nvPr/>
        </p:nvSpPr>
        <p:spPr>
          <a:xfrm>
            <a:off x="548640" y="5852160"/>
            <a:ext cx="11064240" cy="457200"/>
          </a:xfrm>
          <a:prstGeom prst="rect">
            <a:avLst/>
          </a:prstGeom>
          <a:noFill/>
        </p:spPr>
        <p:txBody>
          <a:bodyPr wrap="square" lIns="0" tIns="0" rIns="0" bIns="0" anchor="t">
            <a:spAutoFit/>
          </a:bodyPr>
          <a:lstStyle/>
          <a:p>
            <a:pPr algn="ctr">
              <a:lnSpc>
                <a:spcPct val="100000"/>
              </a:lnSpc>
            </a:pPr>
            <a:r>
              <a:rPr sz="1400" b="1" i="1">
                <a:solidFill>
                  <a:srgbClr val="B45309"/>
                </a:solidFill>
                <a:latin typeface="Calibri"/>
              </a:rPr>
              <a:t>El sistema fue diseñado para vigilar el equipo de protección, no al trabajador.</a:t>
            </a:r>
          </a:p>
        </p:txBody>
      </p:sp>
      <p:sp>
        <p:nvSpPr>
          <p:cNvPr id="20" name="Rectangle 19"/>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22" name="TextBox 21"/>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14 / 18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SEGURIDAD · NORMAS</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Marco normativo: reconocimiento a las ISO</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554480"/>
            <a:ext cx="3611880" cy="34290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554480"/>
            <a:ext cx="3611880" cy="8229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755648"/>
            <a:ext cx="3154680" cy="594360"/>
          </a:xfrm>
          <a:prstGeom prst="rect">
            <a:avLst/>
          </a:prstGeom>
          <a:noFill/>
        </p:spPr>
        <p:txBody>
          <a:bodyPr wrap="square" lIns="0" tIns="0" rIns="0" bIns="0" anchor="t">
            <a:spAutoFit/>
          </a:bodyPr>
          <a:lstStyle/>
          <a:p>
            <a:pPr algn="l">
              <a:lnSpc>
                <a:spcPct val="105000"/>
              </a:lnSpc>
            </a:pPr>
            <a:r>
              <a:rPr sz="1450" b="1" i="0">
                <a:solidFill>
                  <a:srgbClr val="1F2937"/>
                </a:solidFill>
                <a:latin typeface="Calibri"/>
              </a:rPr>
              <a:t>Seguridad y salud</a:t>
            </a:r>
          </a:p>
          <a:p>
            <a:pPr algn="l">
              <a:lnSpc>
                <a:spcPct val="105000"/>
              </a:lnSpc>
            </a:pPr>
            <a:r>
              <a:rPr sz="1450" b="1" i="0">
                <a:solidFill>
                  <a:srgbClr val="1F2937"/>
                </a:solidFill>
                <a:latin typeface="Calibri"/>
              </a:rPr>
              <a:t>en el trabajo</a:t>
            </a:r>
          </a:p>
        </p:txBody>
      </p:sp>
      <p:sp>
        <p:nvSpPr>
          <p:cNvPr id="10" name="TextBox 9"/>
          <p:cNvSpPr txBox="1"/>
          <p:nvPr/>
        </p:nvSpPr>
        <p:spPr>
          <a:xfrm>
            <a:off x="777240" y="2468880"/>
            <a:ext cx="3154680" cy="292608"/>
          </a:xfrm>
          <a:prstGeom prst="rect">
            <a:avLst/>
          </a:prstGeom>
          <a:noFill/>
        </p:spPr>
        <p:txBody>
          <a:bodyPr wrap="square" lIns="0" tIns="0" rIns="0" bIns="0" anchor="t">
            <a:spAutoFit/>
          </a:bodyPr>
          <a:lstStyle/>
          <a:p>
            <a:pPr algn="l">
              <a:lnSpc>
                <a:spcPct val="100000"/>
              </a:lnSpc>
            </a:pPr>
            <a:r>
              <a:rPr sz="1300" b="1" i="0">
                <a:solidFill>
                  <a:srgbClr val="16A34A"/>
                </a:solidFill>
                <a:latin typeface="Calibri"/>
              </a:rPr>
              <a:t>ISO 45001</a:t>
            </a:r>
          </a:p>
        </p:txBody>
      </p:sp>
      <p:sp>
        <p:nvSpPr>
          <p:cNvPr id="11" name="TextBox 10"/>
          <p:cNvSpPr txBox="1"/>
          <p:nvPr/>
        </p:nvSpPr>
        <p:spPr>
          <a:xfrm>
            <a:off x="777240" y="2761488"/>
            <a:ext cx="3154680" cy="594360"/>
          </a:xfrm>
          <a:prstGeom prst="rect">
            <a:avLst/>
          </a:prstGeom>
          <a:noFill/>
        </p:spPr>
        <p:txBody>
          <a:bodyPr wrap="square" lIns="0" tIns="0" rIns="0" bIns="0" anchor="t">
            <a:spAutoFit/>
          </a:bodyPr>
          <a:lstStyle/>
          <a:p>
            <a:pPr algn="l">
              <a:lnSpc>
                <a:spcPct val="115000"/>
              </a:lnSpc>
            </a:pPr>
            <a:r>
              <a:rPr sz="1080" b="0" i="0">
                <a:solidFill>
                  <a:srgbClr val="1F2937"/>
                </a:solidFill>
                <a:latin typeface="Calibri"/>
              </a:rPr>
              <a:t>Propósito del producto: evidencia para el SGSST del cliente</a:t>
            </a:r>
          </a:p>
        </p:txBody>
      </p:sp>
      <p:sp>
        <p:nvSpPr>
          <p:cNvPr id="12" name="TextBox 11"/>
          <p:cNvSpPr txBox="1"/>
          <p:nvPr/>
        </p:nvSpPr>
        <p:spPr>
          <a:xfrm>
            <a:off x="777240" y="3401568"/>
            <a:ext cx="3154680" cy="292608"/>
          </a:xfrm>
          <a:prstGeom prst="rect">
            <a:avLst/>
          </a:prstGeom>
          <a:noFill/>
        </p:spPr>
        <p:txBody>
          <a:bodyPr wrap="square" lIns="0" tIns="0" rIns="0" bIns="0" anchor="t">
            <a:spAutoFit/>
          </a:bodyPr>
          <a:lstStyle/>
          <a:p>
            <a:pPr algn="l">
              <a:lnSpc>
                <a:spcPct val="100000"/>
              </a:lnSpc>
            </a:pPr>
            <a:r>
              <a:rPr sz="1300" b="1" i="0">
                <a:solidFill>
                  <a:srgbClr val="16A34A"/>
                </a:solidFill>
                <a:latin typeface="Calibri"/>
              </a:rPr>
              <a:t>ISO 31000</a:t>
            </a:r>
          </a:p>
        </p:txBody>
      </p:sp>
      <p:sp>
        <p:nvSpPr>
          <p:cNvPr id="13" name="TextBox 12"/>
          <p:cNvSpPr txBox="1"/>
          <p:nvPr/>
        </p:nvSpPr>
        <p:spPr>
          <a:xfrm>
            <a:off x="777240" y="3694176"/>
            <a:ext cx="3154680" cy="594360"/>
          </a:xfrm>
          <a:prstGeom prst="rect">
            <a:avLst/>
          </a:prstGeom>
          <a:noFill/>
        </p:spPr>
        <p:txBody>
          <a:bodyPr wrap="square" lIns="0" tIns="0" rIns="0" bIns="0" anchor="t">
            <a:spAutoFit/>
          </a:bodyPr>
          <a:lstStyle/>
          <a:p>
            <a:pPr algn="l">
              <a:lnSpc>
                <a:spcPct val="115000"/>
              </a:lnSpc>
            </a:pPr>
            <a:r>
              <a:rPr sz="1080" b="0" i="0">
                <a:solidFill>
                  <a:srgbClr val="1F2937"/>
                </a:solidFill>
                <a:latin typeface="Calibri"/>
              </a:rPr>
              <a:t>Marco de gestión del riesgo del proyecto y de faena</a:t>
            </a:r>
          </a:p>
        </p:txBody>
      </p:sp>
      <p:sp>
        <p:nvSpPr>
          <p:cNvPr id="14" name="Rounded Rectangle 13"/>
          <p:cNvSpPr/>
          <p:nvPr/>
        </p:nvSpPr>
        <p:spPr>
          <a:xfrm>
            <a:off x="4343400" y="1554480"/>
            <a:ext cx="3611880" cy="34290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43400" y="1554480"/>
            <a:ext cx="3611880"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0" y="1755648"/>
            <a:ext cx="3154680" cy="594360"/>
          </a:xfrm>
          <a:prstGeom prst="rect">
            <a:avLst/>
          </a:prstGeom>
          <a:noFill/>
        </p:spPr>
        <p:txBody>
          <a:bodyPr wrap="square" lIns="0" tIns="0" rIns="0" bIns="0" anchor="t">
            <a:spAutoFit/>
          </a:bodyPr>
          <a:lstStyle/>
          <a:p>
            <a:pPr algn="l">
              <a:lnSpc>
                <a:spcPct val="105000"/>
              </a:lnSpc>
            </a:pPr>
            <a:r>
              <a:rPr sz="1450" b="1" i="0">
                <a:solidFill>
                  <a:srgbClr val="1F2937"/>
                </a:solidFill>
                <a:latin typeface="Calibri"/>
              </a:rPr>
              <a:t>Seguridad de la información</a:t>
            </a:r>
          </a:p>
          <a:p>
            <a:pPr algn="l">
              <a:lnSpc>
                <a:spcPct val="105000"/>
              </a:lnSpc>
            </a:pPr>
            <a:r>
              <a:rPr sz="1450" b="1" i="0">
                <a:solidFill>
                  <a:srgbClr val="1F2937"/>
                </a:solidFill>
                <a:latin typeface="Calibri"/>
              </a:rPr>
              <a:t>y privacidad</a:t>
            </a:r>
          </a:p>
        </p:txBody>
      </p:sp>
      <p:sp>
        <p:nvSpPr>
          <p:cNvPr id="17" name="TextBox 16"/>
          <p:cNvSpPr txBox="1"/>
          <p:nvPr/>
        </p:nvSpPr>
        <p:spPr>
          <a:xfrm>
            <a:off x="4572000" y="2468880"/>
            <a:ext cx="3154680" cy="292608"/>
          </a:xfrm>
          <a:prstGeom prst="rect">
            <a:avLst/>
          </a:prstGeom>
          <a:noFill/>
        </p:spPr>
        <p:txBody>
          <a:bodyPr wrap="square" lIns="0" tIns="0" rIns="0" bIns="0" anchor="t">
            <a:spAutoFit/>
          </a:bodyPr>
          <a:lstStyle/>
          <a:p>
            <a:pPr algn="l">
              <a:lnSpc>
                <a:spcPct val="100000"/>
              </a:lnSpc>
            </a:pPr>
            <a:r>
              <a:rPr sz="1300" b="1" i="0">
                <a:solidFill>
                  <a:srgbClr val="2563EB"/>
                </a:solidFill>
                <a:latin typeface="Calibri"/>
              </a:rPr>
              <a:t>ISO/IEC 27001</a:t>
            </a:r>
          </a:p>
        </p:txBody>
      </p:sp>
      <p:sp>
        <p:nvSpPr>
          <p:cNvPr id="18" name="TextBox 17"/>
          <p:cNvSpPr txBox="1"/>
          <p:nvPr/>
        </p:nvSpPr>
        <p:spPr>
          <a:xfrm>
            <a:off x="4572000" y="2761488"/>
            <a:ext cx="3154680" cy="594360"/>
          </a:xfrm>
          <a:prstGeom prst="rect">
            <a:avLst/>
          </a:prstGeom>
          <a:noFill/>
        </p:spPr>
        <p:txBody>
          <a:bodyPr wrap="square" lIns="0" tIns="0" rIns="0" bIns="0" anchor="t">
            <a:spAutoFit/>
          </a:bodyPr>
          <a:lstStyle/>
          <a:p>
            <a:pPr algn="l">
              <a:lnSpc>
                <a:spcPct val="115000"/>
              </a:lnSpc>
            </a:pPr>
            <a:r>
              <a:rPr sz="1080" b="0" i="0">
                <a:solidFill>
                  <a:srgbClr val="1F2937"/>
                </a:solidFill>
                <a:latin typeface="Calibri"/>
              </a:rPr>
              <a:t>Controles de referencia del sistema (Anexo A)</a:t>
            </a:r>
          </a:p>
        </p:txBody>
      </p:sp>
      <p:sp>
        <p:nvSpPr>
          <p:cNvPr id="19" name="TextBox 18"/>
          <p:cNvSpPr txBox="1"/>
          <p:nvPr/>
        </p:nvSpPr>
        <p:spPr>
          <a:xfrm>
            <a:off x="4572000" y="3401568"/>
            <a:ext cx="3154680" cy="292608"/>
          </a:xfrm>
          <a:prstGeom prst="rect">
            <a:avLst/>
          </a:prstGeom>
          <a:noFill/>
        </p:spPr>
        <p:txBody>
          <a:bodyPr wrap="square" lIns="0" tIns="0" rIns="0" bIns="0" anchor="t">
            <a:spAutoFit/>
          </a:bodyPr>
          <a:lstStyle/>
          <a:p>
            <a:pPr algn="l">
              <a:lnSpc>
                <a:spcPct val="100000"/>
              </a:lnSpc>
            </a:pPr>
            <a:r>
              <a:rPr sz="1300" b="1" i="0">
                <a:solidFill>
                  <a:srgbClr val="2563EB"/>
                </a:solidFill>
                <a:latin typeface="Calibri"/>
              </a:rPr>
              <a:t>ISO/IEC 27701 · 29100</a:t>
            </a:r>
          </a:p>
        </p:txBody>
      </p:sp>
      <p:sp>
        <p:nvSpPr>
          <p:cNvPr id="20" name="TextBox 19"/>
          <p:cNvSpPr txBox="1"/>
          <p:nvPr/>
        </p:nvSpPr>
        <p:spPr>
          <a:xfrm>
            <a:off x="4572000" y="3694176"/>
            <a:ext cx="3154680" cy="594360"/>
          </a:xfrm>
          <a:prstGeom prst="rect">
            <a:avLst/>
          </a:prstGeom>
          <a:noFill/>
        </p:spPr>
        <p:txBody>
          <a:bodyPr wrap="square" lIns="0" tIns="0" rIns="0" bIns="0" anchor="t">
            <a:spAutoFit/>
          </a:bodyPr>
          <a:lstStyle/>
          <a:p>
            <a:pPr algn="l">
              <a:lnSpc>
                <a:spcPct val="115000"/>
              </a:lnSpc>
            </a:pPr>
            <a:r>
              <a:rPr sz="1080" b="0" i="0">
                <a:solidFill>
                  <a:srgbClr val="1F2937"/>
                </a:solidFill>
                <a:latin typeface="Calibri"/>
              </a:rPr>
              <a:t>Privacidad e imágenes de personas</a:t>
            </a:r>
          </a:p>
        </p:txBody>
      </p:sp>
      <p:sp>
        <p:nvSpPr>
          <p:cNvPr id="21" name="TextBox 20"/>
          <p:cNvSpPr txBox="1"/>
          <p:nvPr/>
        </p:nvSpPr>
        <p:spPr>
          <a:xfrm>
            <a:off x="4572000" y="4334256"/>
            <a:ext cx="3154680" cy="292608"/>
          </a:xfrm>
          <a:prstGeom prst="rect">
            <a:avLst/>
          </a:prstGeom>
          <a:noFill/>
        </p:spPr>
        <p:txBody>
          <a:bodyPr wrap="square" lIns="0" tIns="0" rIns="0" bIns="0" anchor="t">
            <a:spAutoFit/>
          </a:bodyPr>
          <a:lstStyle/>
          <a:p>
            <a:pPr algn="l">
              <a:lnSpc>
                <a:spcPct val="100000"/>
              </a:lnSpc>
            </a:pPr>
            <a:r>
              <a:rPr sz="1300" b="1" i="0">
                <a:solidFill>
                  <a:srgbClr val="2563EB"/>
                </a:solidFill>
                <a:latin typeface="Calibri"/>
              </a:rPr>
              <a:t>ISO/IEC 27400 · IEC 62443</a:t>
            </a:r>
          </a:p>
        </p:txBody>
      </p:sp>
      <p:sp>
        <p:nvSpPr>
          <p:cNvPr id="22" name="TextBox 21"/>
          <p:cNvSpPr txBox="1"/>
          <p:nvPr/>
        </p:nvSpPr>
        <p:spPr>
          <a:xfrm>
            <a:off x="4572000" y="4626864"/>
            <a:ext cx="3154680" cy="594360"/>
          </a:xfrm>
          <a:prstGeom prst="rect">
            <a:avLst/>
          </a:prstGeom>
          <a:noFill/>
        </p:spPr>
        <p:txBody>
          <a:bodyPr wrap="square" lIns="0" tIns="0" rIns="0" bIns="0" anchor="t">
            <a:spAutoFit/>
          </a:bodyPr>
          <a:lstStyle/>
          <a:p>
            <a:pPr algn="l">
              <a:lnSpc>
                <a:spcPct val="115000"/>
              </a:lnSpc>
            </a:pPr>
            <a:r>
              <a:rPr sz="1080" b="0" i="0">
                <a:solidFill>
                  <a:srgbClr val="1F2937"/>
                </a:solidFill>
                <a:latin typeface="Calibri"/>
              </a:rPr>
              <a:t>Dispositivo IoT y red segmentada en faena</a:t>
            </a:r>
          </a:p>
        </p:txBody>
      </p:sp>
      <p:sp>
        <p:nvSpPr>
          <p:cNvPr id="23" name="Rounded Rectangle 22"/>
          <p:cNvSpPr/>
          <p:nvPr/>
        </p:nvSpPr>
        <p:spPr>
          <a:xfrm>
            <a:off x="8138160" y="1554480"/>
            <a:ext cx="3611880" cy="34290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38160" y="1554480"/>
            <a:ext cx="3611880" cy="8229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66760" y="1755648"/>
            <a:ext cx="3154680" cy="594360"/>
          </a:xfrm>
          <a:prstGeom prst="rect">
            <a:avLst/>
          </a:prstGeom>
          <a:noFill/>
        </p:spPr>
        <p:txBody>
          <a:bodyPr wrap="square" lIns="0" tIns="0" rIns="0" bIns="0" anchor="t">
            <a:spAutoFit/>
          </a:bodyPr>
          <a:lstStyle/>
          <a:p>
            <a:pPr algn="l">
              <a:lnSpc>
                <a:spcPct val="105000"/>
              </a:lnSpc>
            </a:pPr>
            <a:r>
              <a:rPr sz="1450" b="1" i="0">
                <a:solidFill>
                  <a:srgbClr val="1F2937"/>
                </a:solidFill>
                <a:latin typeface="Calibri"/>
              </a:rPr>
              <a:t>Calidad, IA</a:t>
            </a:r>
          </a:p>
          <a:p>
            <a:pPr algn="l">
              <a:lnSpc>
                <a:spcPct val="105000"/>
              </a:lnSpc>
            </a:pPr>
            <a:r>
              <a:rPr sz="1450" b="1" i="0">
                <a:solidFill>
                  <a:srgbClr val="1F2937"/>
                </a:solidFill>
                <a:latin typeface="Calibri"/>
              </a:rPr>
              <a:t>y pruebas</a:t>
            </a:r>
          </a:p>
        </p:txBody>
      </p:sp>
      <p:sp>
        <p:nvSpPr>
          <p:cNvPr id="26" name="TextBox 25"/>
          <p:cNvSpPr txBox="1"/>
          <p:nvPr/>
        </p:nvSpPr>
        <p:spPr>
          <a:xfrm>
            <a:off x="8366760" y="2468880"/>
            <a:ext cx="3154680" cy="292608"/>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ISO/IEC 25010 · 29119</a:t>
            </a:r>
          </a:p>
        </p:txBody>
      </p:sp>
      <p:sp>
        <p:nvSpPr>
          <p:cNvPr id="27" name="TextBox 26"/>
          <p:cNvSpPr txBox="1"/>
          <p:nvPr/>
        </p:nvSpPr>
        <p:spPr>
          <a:xfrm>
            <a:off x="8366760" y="2761488"/>
            <a:ext cx="3154680" cy="594360"/>
          </a:xfrm>
          <a:prstGeom prst="rect">
            <a:avLst/>
          </a:prstGeom>
          <a:noFill/>
        </p:spPr>
        <p:txBody>
          <a:bodyPr wrap="square" lIns="0" tIns="0" rIns="0" bIns="0" anchor="t">
            <a:spAutoFit/>
          </a:bodyPr>
          <a:lstStyle/>
          <a:p>
            <a:pPr algn="l">
              <a:lnSpc>
                <a:spcPct val="115000"/>
              </a:lnSpc>
            </a:pPr>
            <a:r>
              <a:rPr sz="1080" b="0" i="0">
                <a:solidFill>
                  <a:srgbClr val="1F2937"/>
                </a:solidFill>
                <a:latin typeface="Calibri"/>
              </a:rPr>
              <a:t>Modelo de calidad y plan de pruebas</a:t>
            </a:r>
          </a:p>
        </p:txBody>
      </p:sp>
      <p:sp>
        <p:nvSpPr>
          <p:cNvPr id="28" name="TextBox 27"/>
          <p:cNvSpPr txBox="1"/>
          <p:nvPr/>
        </p:nvSpPr>
        <p:spPr>
          <a:xfrm>
            <a:off x="8366760" y="3401568"/>
            <a:ext cx="3154680" cy="292608"/>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ISO/IEC 42001 · 23894</a:t>
            </a:r>
          </a:p>
        </p:txBody>
      </p:sp>
      <p:sp>
        <p:nvSpPr>
          <p:cNvPr id="29" name="TextBox 28"/>
          <p:cNvSpPr txBox="1"/>
          <p:nvPr/>
        </p:nvSpPr>
        <p:spPr>
          <a:xfrm>
            <a:off x="8366760" y="3694176"/>
            <a:ext cx="3154680" cy="594360"/>
          </a:xfrm>
          <a:prstGeom prst="rect">
            <a:avLst/>
          </a:prstGeom>
          <a:noFill/>
        </p:spPr>
        <p:txBody>
          <a:bodyPr wrap="square" lIns="0" tIns="0" rIns="0" bIns="0" anchor="t">
            <a:spAutoFit/>
          </a:bodyPr>
          <a:lstStyle/>
          <a:p>
            <a:pPr algn="l">
              <a:lnSpc>
                <a:spcPct val="115000"/>
              </a:lnSpc>
            </a:pPr>
            <a:r>
              <a:rPr sz="1080" b="0" i="0">
                <a:solidFill>
                  <a:srgbClr val="1F2937"/>
                </a:solidFill>
                <a:latin typeface="Calibri"/>
              </a:rPr>
              <a:t>Gobernanza y riesgos del modelo YOLOv8</a:t>
            </a:r>
          </a:p>
        </p:txBody>
      </p:sp>
      <p:sp>
        <p:nvSpPr>
          <p:cNvPr id="30" name="Rounded Rectangle 29"/>
          <p:cNvSpPr/>
          <p:nvPr/>
        </p:nvSpPr>
        <p:spPr>
          <a:xfrm>
            <a:off x="548640" y="5166360"/>
            <a:ext cx="11064240" cy="640080"/>
          </a:xfrm>
          <a:prstGeom prst="roundRect">
            <a:avLst>
              <a:gd name="adj" fmla="val 1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5166360"/>
            <a:ext cx="10515600" cy="640080"/>
          </a:xfrm>
          <a:prstGeom prst="rect">
            <a:avLst/>
          </a:prstGeom>
          <a:noFill/>
        </p:spPr>
        <p:txBody>
          <a:bodyPr wrap="square" lIns="0" tIns="0" rIns="0" bIns="0" anchor="ctr">
            <a:spAutoFit/>
          </a:bodyPr>
          <a:lstStyle/>
          <a:p>
            <a:pPr algn="l">
              <a:lnSpc>
                <a:spcPct val="100000"/>
              </a:lnSpc>
            </a:pPr>
            <a:r>
              <a:rPr sz="1300" b="1" i="0">
                <a:solidFill>
                  <a:srgbClr val="FFFFFF"/>
                </a:solidFill>
                <a:latin typeface="Calibri"/>
              </a:rPr>
              <a:t>Normativa chilena que acompaña:  Ley 16.744  ·  DS 594  ·  DS 44  ·  Ley 19.628 / 21.719</a:t>
            </a:r>
          </a:p>
        </p:txBody>
      </p:sp>
      <p:sp>
        <p:nvSpPr>
          <p:cNvPr id="32" name="TextBox 31"/>
          <p:cNvSpPr txBox="1"/>
          <p:nvPr/>
        </p:nvSpPr>
        <p:spPr>
          <a:xfrm>
            <a:off x="548640" y="5943600"/>
            <a:ext cx="11064240" cy="457200"/>
          </a:xfrm>
          <a:prstGeom prst="rect">
            <a:avLst/>
          </a:prstGeom>
          <a:noFill/>
        </p:spPr>
        <p:txBody>
          <a:bodyPr wrap="square" lIns="0" tIns="0" rIns="0" bIns="0" anchor="t">
            <a:spAutoFit/>
          </a:bodyPr>
          <a:lstStyle/>
          <a:p>
            <a:pPr algn="l">
              <a:lnSpc>
                <a:spcPct val="100000"/>
              </a:lnSpc>
            </a:pPr>
            <a:r>
              <a:rPr sz="1150" b="0" i="1">
                <a:solidFill>
                  <a:srgbClr val="6B7280"/>
                </a:solidFill>
                <a:latin typeface="Calibri"/>
              </a:rPr>
              <a:t>No certificación: el sistema aporta evidencia y se alinea a los lineamientos de estas normas de gestión.</a:t>
            </a:r>
          </a:p>
        </p:txBody>
      </p:sp>
      <p:sp>
        <p:nvSpPr>
          <p:cNvPr id="33" name="Rectangle 32"/>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35" name="TextBox 34"/>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15 / 18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MODELO DE NEGOCIO</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Venta única, no suscripción</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600200"/>
            <a:ext cx="10881360" cy="365760"/>
          </a:xfrm>
          <a:prstGeom prst="rect">
            <a:avLst/>
          </a:prstGeom>
          <a:noFill/>
        </p:spPr>
        <p:txBody>
          <a:bodyPr wrap="square" lIns="0" tIns="0" rIns="0" bIns="0" anchor="t">
            <a:spAutoFit/>
          </a:bodyPr>
          <a:lstStyle/>
          <a:p>
            <a:pPr algn="l">
              <a:lnSpc>
                <a:spcPct val="100000"/>
              </a:lnSpc>
            </a:pPr>
            <a:r>
              <a:rPr sz="1500" b="1" i="0">
                <a:solidFill>
                  <a:srgbClr val="B45309"/>
                </a:solidFill>
                <a:latin typeface="Calibri"/>
              </a:rPr>
              <a:t>Cómo funciona</a:t>
            </a:r>
          </a:p>
        </p:txBody>
      </p:sp>
      <p:sp>
        <p:nvSpPr>
          <p:cNvPr id="8" name="TextBox 7"/>
          <p:cNvSpPr txBox="1"/>
          <p:nvPr/>
        </p:nvSpPr>
        <p:spPr>
          <a:xfrm>
            <a:off x="548640" y="2011680"/>
            <a:ext cx="10881360" cy="1463040"/>
          </a:xfrm>
          <a:prstGeom prst="rect">
            <a:avLst/>
          </a:prstGeom>
          <a:noFill/>
        </p:spPr>
        <p:txBody>
          <a:bodyPr wrap="square" lIns="0" tIns="0" rIns="0" bIns="0">
            <a:spAutoFit/>
          </a:bodyPr>
          <a:lstStyle/>
          <a:p>
            <a:pPr>
              <a:lnSpc>
                <a:spcPct val="120000"/>
              </a:lnSpc>
              <a:spcAft>
                <a:spcPts val="1400"/>
              </a:spcAft>
            </a:pPr>
            <a:r>
              <a:rPr sz="1650" b="1">
                <a:solidFill>
                  <a:srgbClr val="B45309"/>
                </a:solidFill>
                <a:latin typeface="Calibri"/>
              </a:rPr>
              <a:t>›  </a:t>
            </a:r>
            <a:r>
              <a:rPr sz="1650">
                <a:solidFill>
                  <a:srgbClr val="1F2937"/>
                </a:solidFill>
                <a:latin typeface="Calibri"/>
              </a:rPr>
              <a:t>Venta única, con licencia perpetua — no es un modelo de suscripción mensual.</a:t>
            </a:r>
          </a:p>
          <a:p>
            <a:pPr>
              <a:lnSpc>
                <a:spcPct val="120000"/>
              </a:lnSpc>
              <a:spcAft>
                <a:spcPts val="1400"/>
              </a:spcAft>
            </a:pPr>
            <a:r>
              <a:rPr sz="1650" b="1">
                <a:solidFill>
                  <a:srgbClr val="B45309"/>
                </a:solidFill>
                <a:latin typeface="Calibri"/>
              </a:rPr>
              <a:t>›  </a:t>
            </a:r>
            <a:r>
              <a:rPr sz="1650">
                <a:solidFill>
                  <a:srgbClr val="1F2937"/>
                </a:solidFill>
                <a:latin typeface="Calibri"/>
              </a:rPr>
              <a:t>El cliente lo incorpora como un activo propio de la faena, sin cuotas recurrentes.</a:t>
            </a:r>
          </a:p>
        </p:txBody>
      </p:sp>
      <p:sp>
        <p:nvSpPr>
          <p:cNvPr id="9" name="TextBox 8"/>
          <p:cNvSpPr txBox="1"/>
          <p:nvPr/>
        </p:nvSpPr>
        <p:spPr>
          <a:xfrm>
            <a:off x="548640" y="3520440"/>
            <a:ext cx="10881360" cy="365760"/>
          </a:xfrm>
          <a:prstGeom prst="rect">
            <a:avLst/>
          </a:prstGeom>
          <a:noFill/>
        </p:spPr>
        <p:txBody>
          <a:bodyPr wrap="square" lIns="0" tIns="0" rIns="0" bIns="0" anchor="t">
            <a:spAutoFit/>
          </a:bodyPr>
          <a:lstStyle/>
          <a:p>
            <a:pPr algn="l">
              <a:lnSpc>
                <a:spcPct val="100000"/>
              </a:lnSpc>
            </a:pPr>
            <a:r>
              <a:rPr sz="1500" b="1" i="0">
                <a:solidFill>
                  <a:srgbClr val="B45309"/>
                </a:solidFill>
                <a:latin typeface="Calibri"/>
              </a:rPr>
              <a:t>Por qué es viable</a:t>
            </a:r>
          </a:p>
        </p:txBody>
      </p:sp>
      <p:sp>
        <p:nvSpPr>
          <p:cNvPr id="10" name="TextBox 9"/>
          <p:cNvSpPr txBox="1"/>
          <p:nvPr/>
        </p:nvSpPr>
        <p:spPr>
          <a:xfrm>
            <a:off x="548640" y="3931920"/>
            <a:ext cx="10881360" cy="1463040"/>
          </a:xfrm>
          <a:prstGeom prst="rect">
            <a:avLst/>
          </a:prstGeom>
          <a:noFill/>
        </p:spPr>
        <p:txBody>
          <a:bodyPr wrap="square" lIns="0" tIns="0" rIns="0" bIns="0">
            <a:spAutoFit/>
          </a:bodyPr>
          <a:lstStyle/>
          <a:p>
            <a:pPr>
              <a:lnSpc>
                <a:spcPct val="120000"/>
              </a:lnSpc>
              <a:spcAft>
                <a:spcPts val="1400"/>
              </a:spcAft>
            </a:pPr>
            <a:r>
              <a:rPr sz="1650" b="1">
                <a:solidFill>
                  <a:srgbClr val="B45309"/>
                </a:solidFill>
                <a:latin typeface="Calibri"/>
              </a:rPr>
              <a:t>›  </a:t>
            </a:r>
            <a:r>
              <a:rPr sz="1650">
                <a:solidFill>
                  <a:srgbClr val="1F2937"/>
                </a:solidFill>
                <a:latin typeface="Calibri"/>
              </a:rPr>
              <a:t>El valor se sostiene evitando el costo de multas, demandas y accidentes — no en una explotación comercial recurrente.</a:t>
            </a:r>
          </a:p>
          <a:p>
            <a:pPr>
              <a:lnSpc>
                <a:spcPct val="120000"/>
              </a:lnSpc>
              <a:spcAft>
                <a:spcPts val="1400"/>
              </a:spcAft>
            </a:pPr>
            <a:r>
              <a:rPr sz="1650" b="1">
                <a:solidFill>
                  <a:srgbClr val="B45309"/>
                </a:solidFill>
                <a:latin typeface="Calibri"/>
              </a:rPr>
              <a:t>›  </a:t>
            </a:r>
            <a:r>
              <a:rPr sz="1650">
                <a:solidFill>
                  <a:srgbClr val="1F2937"/>
                </a:solidFill>
                <a:latin typeface="Calibri"/>
              </a:rPr>
              <a:t>Se dirige a empresas constructoras que ya están obligadas a gestionar este riesgo laboral.</a:t>
            </a:r>
          </a:p>
        </p:txBody>
      </p:sp>
      <p:sp>
        <p:nvSpPr>
          <p:cNvPr id="11" name="Rounded Rectangle 10"/>
          <p:cNvSpPr/>
          <p:nvPr/>
        </p:nvSpPr>
        <p:spPr>
          <a:xfrm>
            <a:off x="548640" y="5440680"/>
            <a:ext cx="11064240" cy="960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5577840"/>
            <a:ext cx="10515600" cy="731520"/>
          </a:xfrm>
          <a:prstGeom prst="rect">
            <a:avLst/>
          </a:prstGeom>
          <a:noFill/>
        </p:spPr>
        <p:txBody>
          <a:bodyPr wrap="square" lIns="0" tIns="0" rIns="0" bIns="0" anchor="t">
            <a:spAutoFit/>
          </a:bodyPr>
          <a:lstStyle/>
          <a:p>
            <a:pPr algn="l">
              <a:lnSpc>
                <a:spcPct val="120000"/>
              </a:lnSpc>
            </a:pPr>
            <a:r>
              <a:rPr sz="1250" b="0" i="1">
                <a:solidFill>
                  <a:srgbClr val="6B7280"/>
                </a:solidFill>
                <a:latin typeface="Calibri"/>
              </a:rPr>
              <a:t>El precio de venta, la segmentación de mercado y los indicadores financieros detallados pertenecen al estudio de viabilidad comercial heredado de Evaluación de Proyectos — fuera del alcance de esta presentación.</a:t>
            </a:r>
          </a:p>
        </p:txBody>
      </p:sp>
      <p:sp>
        <p:nvSpPr>
          <p:cNvPr id="13" name="Rectangle 12"/>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15" name="TextBox 14"/>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16 / 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MOCKUP</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Así se ve el producto</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600200"/>
            <a:ext cx="6583680" cy="393192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600200"/>
            <a:ext cx="6583680" cy="3931920"/>
          </a:xfrm>
          <a:prstGeom prst="rect">
            <a:avLst/>
          </a:prstGeom>
          <a:noFill/>
        </p:spPr>
        <p:txBody>
          <a:bodyPr wrap="square" lIns="0" tIns="0" rIns="0" bIns="0" anchor="ctr">
            <a:spAutoFit/>
          </a:bodyPr>
          <a:lstStyle/>
          <a:p>
            <a:pPr algn="ctr">
              <a:lnSpc>
                <a:spcPct val="130000"/>
              </a:lnSpc>
            </a:pPr>
            <a:r>
              <a:rPr sz="1600" b="0" i="0">
                <a:solidFill>
                  <a:srgbClr val="9CA3AF"/>
                </a:solidFill>
                <a:latin typeface="Calibri"/>
              </a:rPr>
              <a:t>[ Captura real del prototipo ]</a:t>
            </a:r>
          </a:p>
          <a:p>
            <a:pPr algn="ctr">
              <a:lnSpc>
                <a:spcPct val="130000"/>
              </a:lnSpc>
            </a:pPr>
            <a:r>
              <a:rPr sz="1600" b="0" i="0">
                <a:solidFill>
                  <a:srgbClr val="9CA3AF"/>
                </a:solidFill>
                <a:latin typeface="Calibri"/>
              </a:rPr>
              <a:t>YOLOv8 sobre video de faena</a:t>
            </a:r>
          </a:p>
          <a:p>
            <a:pPr algn="ctr">
              <a:lnSpc>
                <a:spcPct val="130000"/>
              </a:lnSpc>
            </a:pPr>
            <a:r>
              <a:rPr sz="1600" b="0" i="0">
                <a:solidFill>
                  <a:srgbClr val="9CA3AF"/>
                </a:solidFill>
                <a:latin typeface="Calibri"/>
              </a:rPr>
              <a:t>casco ✅ / sin casco ❌ · rostro difuminado</a:t>
            </a:r>
          </a:p>
        </p:txBody>
      </p:sp>
      <p:sp>
        <p:nvSpPr>
          <p:cNvPr id="9" name="Rectangle 8"/>
          <p:cNvSpPr/>
          <p:nvPr/>
        </p:nvSpPr>
        <p:spPr>
          <a:xfrm>
            <a:off x="548640" y="1600200"/>
            <a:ext cx="6583680" cy="3200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600200"/>
            <a:ext cx="6583680" cy="320040"/>
          </a:xfrm>
          <a:prstGeom prst="rect">
            <a:avLst/>
          </a:prstGeom>
          <a:noFill/>
        </p:spPr>
        <p:txBody>
          <a:bodyPr wrap="square" lIns="0" tIns="0" rIns="0" bIns="0" anchor="ctr">
            <a:spAutoFit/>
          </a:bodyPr>
          <a:lstStyle/>
          <a:p>
            <a:pPr algn="ctr">
              <a:lnSpc>
                <a:spcPct val="100000"/>
              </a:lnSpc>
            </a:pPr>
            <a:r>
              <a:rPr sz="1200" b="1" i="0">
                <a:solidFill>
                  <a:srgbClr val="FFFFFF"/>
                </a:solidFill>
                <a:latin typeface="Calibri"/>
              </a:rPr>
              <a:t>PROTOTIPO FUNCIONAL</a:t>
            </a:r>
          </a:p>
        </p:txBody>
      </p:sp>
      <p:sp>
        <p:nvSpPr>
          <p:cNvPr id="11" name="Rounded Rectangle 10"/>
          <p:cNvSpPr/>
          <p:nvPr/>
        </p:nvSpPr>
        <p:spPr>
          <a:xfrm>
            <a:off x="7360920" y="1600200"/>
            <a:ext cx="4251960" cy="18288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60920" y="1600200"/>
            <a:ext cx="425196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60920" y="1600200"/>
            <a:ext cx="4251960" cy="274320"/>
          </a:xfrm>
          <a:prstGeom prst="rect">
            <a:avLst/>
          </a:prstGeom>
          <a:noFill/>
        </p:spPr>
        <p:txBody>
          <a:bodyPr wrap="square" lIns="0" tIns="0" rIns="0" bIns="0" anchor="ctr">
            <a:spAutoFit/>
          </a:bodyPr>
          <a:lstStyle/>
          <a:p>
            <a:pPr algn="ctr">
              <a:lnSpc>
                <a:spcPct val="100000"/>
              </a:lnSpc>
            </a:pPr>
            <a:r>
              <a:rPr sz="1050" b="1" i="0">
                <a:solidFill>
                  <a:srgbClr val="111827"/>
                </a:solidFill>
                <a:latin typeface="Calibri"/>
              </a:rPr>
              <a:t>DISEÑO PROPUESTO</a:t>
            </a:r>
          </a:p>
        </p:txBody>
      </p:sp>
      <p:sp>
        <p:nvSpPr>
          <p:cNvPr id="14" name="TextBox 13"/>
          <p:cNvSpPr txBox="1"/>
          <p:nvPr/>
        </p:nvSpPr>
        <p:spPr>
          <a:xfrm>
            <a:off x="7589520" y="2011680"/>
            <a:ext cx="3749039" cy="365760"/>
          </a:xfrm>
          <a:prstGeom prst="rect">
            <a:avLst/>
          </a:prstGeom>
          <a:noFill/>
        </p:spPr>
        <p:txBody>
          <a:bodyPr wrap="square" lIns="0" tIns="0" rIns="0" bIns="0" anchor="t">
            <a:spAutoFit/>
          </a:bodyPr>
          <a:lstStyle/>
          <a:p>
            <a:pPr algn="l">
              <a:lnSpc>
                <a:spcPct val="100000"/>
              </a:lnSpc>
            </a:pPr>
            <a:r>
              <a:rPr sz="1350" b="1" i="0">
                <a:solidFill>
                  <a:srgbClr val="1F2937"/>
                </a:solidFill>
                <a:latin typeface="Calibri"/>
              </a:rPr>
              <a:t>Dashboard de monitoreo</a:t>
            </a:r>
          </a:p>
        </p:txBody>
      </p:sp>
      <p:sp>
        <p:nvSpPr>
          <p:cNvPr id="15" name="TextBox 14"/>
          <p:cNvSpPr txBox="1"/>
          <p:nvPr/>
        </p:nvSpPr>
        <p:spPr>
          <a:xfrm>
            <a:off x="7589520" y="2423160"/>
            <a:ext cx="3749039" cy="822960"/>
          </a:xfrm>
          <a:prstGeom prst="rect">
            <a:avLst/>
          </a:prstGeom>
          <a:noFill/>
        </p:spPr>
        <p:txBody>
          <a:bodyPr wrap="square" lIns="0" tIns="0" rIns="0" bIns="0" anchor="t">
            <a:spAutoFit/>
          </a:bodyPr>
          <a:lstStyle/>
          <a:p>
            <a:pPr algn="l">
              <a:lnSpc>
                <a:spcPct val="120000"/>
              </a:lnSpc>
            </a:pPr>
            <a:r>
              <a:rPr sz="1100" b="0" i="0">
                <a:solidFill>
                  <a:srgbClr val="6B7280"/>
                </a:solidFill>
                <a:latin typeface="Calibri"/>
              </a:rPr>
              <a:t>Grilla de cámaras, incidentes activos, contador por zona</a:t>
            </a:r>
          </a:p>
        </p:txBody>
      </p:sp>
      <p:sp>
        <p:nvSpPr>
          <p:cNvPr id="16" name="Rounded Rectangle 15"/>
          <p:cNvSpPr/>
          <p:nvPr/>
        </p:nvSpPr>
        <p:spPr>
          <a:xfrm>
            <a:off x="7360920" y="3566160"/>
            <a:ext cx="4251960" cy="18288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360920" y="3566160"/>
            <a:ext cx="425196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60920" y="3566160"/>
            <a:ext cx="4251960" cy="274320"/>
          </a:xfrm>
          <a:prstGeom prst="rect">
            <a:avLst/>
          </a:prstGeom>
          <a:noFill/>
        </p:spPr>
        <p:txBody>
          <a:bodyPr wrap="square" lIns="0" tIns="0" rIns="0" bIns="0" anchor="ctr">
            <a:spAutoFit/>
          </a:bodyPr>
          <a:lstStyle/>
          <a:p>
            <a:pPr algn="ctr">
              <a:lnSpc>
                <a:spcPct val="100000"/>
              </a:lnSpc>
            </a:pPr>
            <a:r>
              <a:rPr sz="1050" b="1" i="0">
                <a:solidFill>
                  <a:srgbClr val="111827"/>
                </a:solidFill>
                <a:latin typeface="Calibri"/>
              </a:rPr>
              <a:t>DISEÑO PROPUESTO</a:t>
            </a:r>
          </a:p>
        </p:txBody>
      </p:sp>
      <p:sp>
        <p:nvSpPr>
          <p:cNvPr id="19" name="TextBox 18"/>
          <p:cNvSpPr txBox="1"/>
          <p:nvPr/>
        </p:nvSpPr>
        <p:spPr>
          <a:xfrm>
            <a:off x="7589520" y="3977640"/>
            <a:ext cx="3749039" cy="365760"/>
          </a:xfrm>
          <a:prstGeom prst="rect">
            <a:avLst/>
          </a:prstGeom>
          <a:noFill/>
        </p:spPr>
        <p:txBody>
          <a:bodyPr wrap="square" lIns="0" tIns="0" rIns="0" bIns="0" anchor="t">
            <a:spAutoFit/>
          </a:bodyPr>
          <a:lstStyle/>
          <a:p>
            <a:pPr algn="l">
              <a:lnSpc>
                <a:spcPct val="100000"/>
              </a:lnSpc>
            </a:pPr>
            <a:r>
              <a:rPr sz="1350" b="1" i="0">
                <a:solidFill>
                  <a:srgbClr val="1F2937"/>
                </a:solidFill>
                <a:latin typeface="Calibri"/>
              </a:rPr>
              <a:t>Detalle de incidente</a:t>
            </a:r>
          </a:p>
        </p:txBody>
      </p:sp>
      <p:sp>
        <p:nvSpPr>
          <p:cNvPr id="20" name="TextBox 19"/>
          <p:cNvSpPr txBox="1"/>
          <p:nvPr/>
        </p:nvSpPr>
        <p:spPr>
          <a:xfrm>
            <a:off x="7589520" y="4389120"/>
            <a:ext cx="3749039" cy="822960"/>
          </a:xfrm>
          <a:prstGeom prst="rect">
            <a:avLst/>
          </a:prstGeom>
          <a:noFill/>
        </p:spPr>
        <p:txBody>
          <a:bodyPr wrap="square" lIns="0" tIns="0" rIns="0" bIns="0" anchor="t">
            <a:spAutoFit/>
          </a:bodyPr>
          <a:lstStyle/>
          <a:p>
            <a:pPr algn="l">
              <a:lnSpc>
                <a:spcPct val="120000"/>
              </a:lnSpc>
            </a:pPr>
            <a:r>
              <a:rPr sz="1100" b="0" i="0">
                <a:solidFill>
                  <a:srgbClr val="6B7280"/>
                </a:solidFill>
                <a:latin typeface="Calibri"/>
              </a:rPr>
              <a:t>Evidencia, zona, tipo, timestamp, estado de la alerta</a:t>
            </a:r>
          </a:p>
        </p:txBody>
      </p:sp>
      <p:sp>
        <p:nvSpPr>
          <p:cNvPr id="21" name="Rectangle 20"/>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23" name="TextBox 22"/>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17 / 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F59E0B"/>
                </a:solidFill>
                <a:latin typeface="Calibri"/>
              </a:rPr>
              <a:t>CONCLUSIÓN</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FFFFFF"/>
                </a:solidFill>
                <a:latin typeface="Calibri"/>
              </a:rPr>
              <a:t>Lo que nos llevamos y lo que viene</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645920"/>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600200"/>
            <a:ext cx="2926080" cy="822960"/>
          </a:xfrm>
          <a:prstGeom prst="rect">
            <a:avLst/>
          </a:prstGeom>
          <a:noFill/>
        </p:spPr>
        <p:txBody>
          <a:bodyPr wrap="square" lIns="0" tIns="0" rIns="0" bIns="0" anchor="t">
            <a:spAutoFit/>
          </a:bodyPr>
          <a:lstStyle/>
          <a:p>
            <a:pPr algn="l">
              <a:lnSpc>
                <a:spcPct val="110000"/>
              </a:lnSpc>
            </a:pPr>
            <a:r>
              <a:rPr sz="1500" b="1" i="0">
                <a:solidFill>
                  <a:srgbClr val="F59E0B"/>
                </a:solidFill>
                <a:latin typeface="Calibri"/>
              </a:rPr>
              <a:t>Qué construimos</a:t>
            </a:r>
          </a:p>
        </p:txBody>
      </p:sp>
      <p:sp>
        <p:nvSpPr>
          <p:cNvPr id="9" name="TextBox 8"/>
          <p:cNvSpPr txBox="1"/>
          <p:nvPr/>
        </p:nvSpPr>
        <p:spPr>
          <a:xfrm>
            <a:off x="3840480" y="1600200"/>
            <a:ext cx="7680960" cy="822960"/>
          </a:xfrm>
          <a:prstGeom prst="rect">
            <a:avLst/>
          </a:prstGeom>
          <a:noFill/>
        </p:spPr>
        <p:txBody>
          <a:bodyPr wrap="square" lIns="0" tIns="0" rIns="0" bIns="0" anchor="t">
            <a:spAutoFit/>
          </a:bodyPr>
          <a:lstStyle/>
          <a:p>
            <a:pPr algn="l">
              <a:lnSpc>
                <a:spcPct val="120000"/>
              </a:lnSpc>
            </a:pPr>
            <a:r>
              <a:rPr sz="1350" b="0" i="0">
                <a:solidFill>
                  <a:srgbClr val="FFFFFF"/>
                </a:solidFill>
                <a:latin typeface="Calibri"/>
              </a:rPr>
              <a:t>Cámaras existentes + IA que detecta EPP + un dispositivo que avisa al trabajador antes del accidente.</a:t>
            </a:r>
          </a:p>
        </p:txBody>
      </p:sp>
      <p:sp>
        <p:nvSpPr>
          <p:cNvPr id="10" name="Rectangle 9"/>
          <p:cNvSpPr/>
          <p:nvPr/>
        </p:nvSpPr>
        <p:spPr>
          <a:xfrm>
            <a:off x="548640" y="2606040"/>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560320"/>
            <a:ext cx="2926080" cy="822960"/>
          </a:xfrm>
          <a:prstGeom prst="rect">
            <a:avLst/>
          </a:prstGeom>
          <a:noFill/>
        </p:spPr>
        <p:txBody>
          <a:bodyPr wrap="square" lIns="0" tIns="0" rIns="0" bIns="0" anchor="t">
            <a:spAutoFit/>
          </a:bodyPr>
          <a:lstStyle/>
          <a:p>
            <a:pPr algn="l">
              <a:lnSpc>
                <a:spcPct val="110000"/>
              </a:lnSpc>
            </a:pPr>
            <a:r>
              <a:rPr sz="1500" b="1" i="0">
                <a:solidFill>
                  <a:srgbClr val="F59E0B"/>
                </a:solidFill>
                <a:latin typeface="Calibri"/>
              </a:rPr>
              <a:t>Por qué es factible</a:t>
            </a:r>
          </a:p>
        </p:txBody>
      </p:sp>
      <p:sp>
        <p:nvSpPr>
          <p:cNvPr id="12" name="TextBox 11"/>
          <p:cNvSpPr txBox="1"/>
          <p:nvPr/>
        </p:nvSpPr>
        <p:spPr>
          <a:xfrm>
            <a:off x="3840480" y="2560320"/>
            <a:ext cx="7680960" cy="822960"/>
          </a:xfrm>
          <a:prstGeom prst="rect">
            <a:avLst/>
          </a:prstGeom>
          <a:noFill/>
        </p:spPr>
        <p:txBody>
          <a:bodyPr wrap="square" lIns="0" tIns="0" rIns="0" bIns="0" anchor="t">
            <a:spAutoFit/>
          </a:bodyPr>
          <a:lstStyle/>
          <a:p>
            <a:pPr algn="l">
              <a:lnSpc>
                <a:spcPct val="120000"/>
              </a:lnSpc>
            </a:pPr>
            <a:r>
              <a:rPr sz="1350" b="0" i="0">
                <a:solidFill>
                  <a:srgbClr val="FFFFFF"/>
                </a:solidFill>
                <a:latin typeface="Calibri"/>
              </a:rPr>
              <a:t>El motor ya tiene un prototipo funcional validado; las 18 semanas se dedican a integrar y endurecer componentes ya probados, no a investigar desde cero.</a:t>
            </a:r>
          </a:p>
        </p:txBody>
      </p:sp>
      <p:sp>
        <p:nvSpPr>
          <p:cNvPr id="13" name="Rectangle 12"/>
          <p:cNvSpPr/>
          <p:nvPr/>
        </p:nvSpPr>
        <p:spPr>
          <a:xfrm>
            <a:off x="548640" y="3566160"/>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520440"/>
            <a:ext cx="2926080" cy="822960"/>
          </a:xfrm>
          <a:prstGeom prst="rect">
            <a:avLst/>
          </a:prstGeom>
          <a:noFill/>
        </p:spPr>
        <p:txBody>
          <a:bodyPr wrap="square" lIns="0" tIns="0" rIns="0" bIns="0" anchor="t">
            <a:spAutoFit/>
          </a:bodyPr>
          <a:lstStyle/>
          <a:p>
            <a:pPr algn="l">
              <a:lnSpc>
                <a:spcPct val="110000"/>
              </a:lnSpc>
            </a:pPr>
            <a:r>
              <a:rPr sz="1500" b="1" i="0">
                <a:solidFill>
                  <a:srgbClr val="F59E0B"/>
                </a:solidFill>
                <a:latin typeface="Calibri"/>
              </a:rPr>
              <a:t>Qué traemos a la Semana 10</a:t>
            </a:r>
          </a:p>
        </p:txBody>
      </p:sp>
      <p:sp>
        <p:nvSpPr>
          <p:cNvPr id="15" name="TextBox 14"/>
          <p:cNvSpPr txBox="1"/>
          <p:nvPr/>
        </p:nvSpPr>
        <p:spPr>
          <a:xfrm>
            <a:off x="3840480" y="3520440"/>
            <a:ext cx="7680960" cy="822960"/>
          </a:xfrm>
          <a:prstGeom prst="rect">
            <a:avLst/>
          </a:prstGeom>
          <a:noFill/>
        </p:spPr>
        <p:txBody>
          <a:bodyPr wrap="square" lIns="0" tIns="0" rIns="0" bIns="0" anchor="t">
            <a:spAutoFit/>
          </a:bodyPr>
          <a:lstStyle/>
          <a:p>
            <a:pPr algn="l">
              <a:lnSpc>
                <a:spcPct val="120000"/>
              </a:lnSpc>
            </a:pPr>
            <a:r>
              <a:rPr sz="1350" b="0" i="0">
                <a:solidFill>
                  <a:srgbClr val="FFFFFF"/>
                </a:solidFill>
                <a:latin typeface="Calibri"/>
              </a:rPr>
              <a:t>Motor de detección entrenado con métricas + API REST + esquema de datos implementado.</a:t>
            </a:r>
          </a:p>
        </p:txBody>
      </p:sp>
      <p:sp>
        <p:nvSpPr>
          <p:cNvPr id="16" name="Rectangle 15"/>
          <p:cNvSpPr/>
          <p:nvPr/>
        </p:nvSpPr>
        <p:spPr>
          <a:xfrm>
            <a:off x="548640" y="4526280"/>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4480560"/>
            <a:ext cx="2926080" cy="822960"/>
          </a:xfrm>
          <a:prstGeom prst="rect">
            <a:avLst/>
          </a:prstGeom>
          <a:noFill/>
        </p:spPr>
        <p:txBody>
          <a:bodyPr wrap="square" lIns="0" tIns="0" rIns="0" bIns="0" anchor="t">
            <a:spAutoFit/>
          </a:bodyPr>
          <a:lstStyle/>
          <a:p>
            <a:pPr algn="l">
              <a:lnSpc>
                <a:spcPct val="110000"/>
              </a:lnSpc>
            </a:pPr>
            <a:r>
              <a:rPr sz="1500" b="1" i="0">
                <a:solidFill>
                  <a:srgbClr val="F59E0B"/>
                </a:solidFill>
                <a:latin typeface="Calibri"/>
              </a:rPr>
              <a:t>El compromiso</a:t>
            </a:r>
          </a:p>
        </p:txBody>
      </p:sp>
      <p:sp>
        <p:nvSpPr>
          <p:cNvPr id="18" name="TextBox 17"/>
          <p:cNvSpPr txBox="1"/>
          <p:nvPr/>
        </p:nvSpPr>
        <p:spPr>
          <a:xfrm>
            <a:off x="3840480" y="4480560"/>
            <a:ext cx="7680960" cy="822960"/>
          </a:xfrm>
          <a:prstGeom prst="rect">
            <a:avLst/>
          </a:prstGeom>
          <a:noFill/>
        </p:spPr>
        <p:txBody>
          <a:bodyPr wrap="square" lIns="0" tIns="0" rIns="0" bIns="0" anchor="t">
            <a:spAutoFit/>
          </a:bodyPr>
          <a:lstStyle/>
          <a:p>
            <a:pPr algn="l">
              <a:lnSpc>
                <a:spcPct val="120000"/>
              </a:lnSpc>
            </a:pPr>
            <a:r>
              <a:rPr sz="1350" b="0" i="0">
                <a:solidFill>
                  <a:srgbClr val="FFFFFF"/>
                </a:solidFill>
                <a:latin typeface="Calibri"/>
              </a:rPr>
              <a:t>Un sistema que no solo detecta: avisa al trabajador antes de que ocurra el accidente.</a:t>
            </a:r>
          </a:p>
        </p:txBody>
      </p:sp>
      <p:sp>
        <p:nvSpPr>
          <p:cNvPr id="19" name="Rectangle 18"/>
          <p:cNvSpPr/>
          <p:nvPr/>
        </p:nvSpPr>
        <p:spPr>
          <a:xfrm>
            <a:off x="548640" y="5623560"/>
            <a:ext cx="11064240" cy="19050"/>
          </a:xfrm>
          <a:prstGeom prst="rect">
            <a:avLst/>
          </a:prstGeom>
          <a:solidFill>
            <a:srgbClr val="3741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5806440"/>
            <a:ext cx="11064240" cy="365760"/>
          </a:xfrm>
          <a:prstGeom prst="rect">
            <a:avLst/>
          </a:prstGeom>
          <a:noFill/>
        </p:spPr>
        <p:txBody>
          <a:bodyPr wrap="square" lIns="0" tIns="0" rIns="0" bIns="0" anchor="t">
            <a:spAutoFit/>
          </a:bodyPr>
          <a:lstStyle/>
          <a:p>
            <a:pPr algn="ctr">
              <a:lnSpc>
                <a:spcPct val="100000"/>
              </a:lnSpc>
            </a:pPr>
            <a:r>
              <a:rPr sz="1400" b="1" i="0">
                <a:solidFill>
                  <a:srgbClr val="FFFFFF"/>
                </a:solidFill>
                <a:latin typeface="Calibri"/>
              </a:rPr>
              <a:t>Iahn Vera · Joaquín Armijo · Benjamín Cáceres · Fernando Muñoz</a:t>
            </a:r>
          </a:p>
        </p:txBody>
      </p:sp>
      <p:sp>
        <p:nvSpPr>
          <p:cNvPr id="21" name="TextBox 20"/>
          <p:cNvSpPr txBox="1"/>
          <p:nvPr/>
        </p:nvSpPr>
        <p:spPr>
          <a:xfrm>
            <a:off x="548640" y="6172200"/>
            <a:ext cx="11064240" cy="365760"/>
          </a:xfrm>
          <a:prstGeom prst="rect">
            <a:avLst/>
          </a:prstGeom>
          <a:noFill/>
        </p:spPr>
        <p:txBody>
          <a:bodyPr wrap="square" lIns="0" tIns="0" rIns="0" bIns="0" anchor="t">
            <a:spAutoFit/>
          </a:bodyPr>
          <a:lstStyle/>
          <a:p>
            <a:pPr algn="ctr">
              <a:lnSpc>
                <a:spcPct val="100000"/>
              </a:lnSpc>
            </a:pPr>
            <a:r>
              <a:rPr sz="1400" b="0" i="1">
                <a:solidFill>
                  <a:srgbClr val="F59E0B"/>
                </a:solidFill>
                <a:latin typeface="Calibri"/>
              </a:rPr>
              <a:t>Gracias — preguntas</a:t>
            </a:r>
          </a:p>
        </p:txBody>
      </p:sp>
      <p:sp>
        <p:nvSpPr>
          <p:cNvPr id="22" name="Rectangle 21"/>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24" name="TextBox 23"/>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18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RESPALDO</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Matriz de riesgos completa (7)</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457200" y="1554480"/>
          <a:ext cx="11247120" cy="448056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5394960">
                  <a:extLst>
                    <a:ext uri="{9D8B030D-6E8A-4147-A177-3AD203B41FA5}">
                      <a16:colId xmlns:a16="http://schemas.microsoft.com/office/drawing/2014/main" val="20003"/>
                    </a:ext>
                  </a:extLst>
                </a:gridCol>
              </a:tblGrid>
              <a:tr h="560070">
                <a:tc>
                  <a:txBody>
                    <a:bodyPr/>
                    <a:lstStyle/>
                    <a:p>
                      <a:pPr algn="ctr"/>
                      <a:r>
                        <a:rPr sz="1200" b="1">
                          <a:solidFill>
                            <a:srgbClr val="FFFFFF"/>
                          </a:solidFill>
                          <a:latin typeface="Calibri"/>
                        </a:rPr>
                        <a:t>#</a:t>
                      </a:r>
                    </a:p>
                  </a:txBody>
                  <a:tcPr marL="76200" marR="76200" marT="50800" marB="50800" anchor="ctr">
                    <a:solidFill>
                      <a:srgbClr val="1F2937"/>
                    </a:solidFill>
                  </a:tcPr>
                </a:tc>
                <a:tc>
                  <a:txBody>
                    <a:bodyPr/>
                    <a:lstStyle/>
                    <a:p>
                      <a:pPr algn="l"/>
                      <a:r>
                        <a:rPr sz="1200" b="1">
                          <a:solidFill>
                            <a:srgbClr val="FFFFFF"/>
                          </a:solidFill>
                          <a:latin typeface="Calibri"/>
                        </a:rPr>
                        <a:t>Riesgo</a:t>
                      </a:r>
                    </a:p>
                  </a:txBody>
                  <a:tcPr marL="76200" marR="76200" marT="50800" marB="50800" anchor="ctr">
                    <a:solidFill>
                      <a:srgbClr val="1F2937"/>
                    </a:solidFill>
                  </a:tcPr>
                </a:tc>
                <a:tc>
                  <a:txBody>
                    <a:bodyPr/>
                    <a:lstStyle/>
                    <a:p>
                      <a:pPr algn="ctr"/>
                      <a:r>
                        <a:rPr sz="1200" b="1">
                          <a:solidFill>
                            <a:srgbClr val="FFFFFF"/>
                          </a:solidFill>
                          <a:latin typeface="Calibri"/>
                        </a:rPr>
                        <a:t>Impacto</a:t>
                      </a:r>
                    </a:p>
                  </a:txBody>
                  <a:tcPr marL="76200" marR="76200" marT="50800" marB="50800" anchor="ctr">
                    <a:solidFill>
                      <a:srgbClr val="1F2937"/>
                    </a:solidFill>
                  </a:tcPr>
                </a:tc>
                <a:tc>
                  <a:txBody>
                    <a:bodyPr/>
                    <a:lstStyle/>
                    <a:p>
                      <a:pPr algn="l"/>
                      <a:r>
                        <a:rPr sz="1200" b="1">
                          <a:solidFill>
                            <a:srgbClr val="FFFFFF"/>
                          </a:solidFill>
                          <a:latin typeface="Calibri"/>
                        </a:rPr>
                        <a:t>Mitigación</a:t>
                      </a:r>
                    </a:p>
                  </a:txBody>
                  <a:tcPr marL="76200" marR="76200" marT="50800" marB="50800" anchor="ctr">
                    <a:solidFill>
                      <a:srgbClr val="1F2937"/>
                    </a:solidFill>
                  </a:tcPr>
                </a:tc>
                <a:extLst>
                  <a:ext uri="{0D108BD9-81ED-4DB2-BD59-A6C34878D82A}">
                    <a16:rowId xmlns:a16="http://schemas.microsoft.com/office/drawing/2014/main" val="10000"/>
                  </a:ext>
                </a:extLst>
              </a:tr>
              <a:tr h="560070">
                <a:tc>
                  <a:txBody>
                    <a:bodyPr/>
                    <a:lstStyle/>
                    <a:p>
                      <a:pPr algn="ctr"/>
                      <a:r>
                        <a:rPr sz="1100">
                          <a:solidFill>
                            <a:srgbClr val="1F2937"/>
                          </a:solidFill>
                          <a:latin typeface="Calibri"/>
                        </a:rPr>
                        <a:t>R1</a:t>
                      </a:r>
                    </a:p>
                  </a:txBody>
                  <a:tcPr marL="76200" marR="76200" marT="50800" marB="50800" anchor="ctr">
                    <a:solidFill>
                      <a:srgbClr val="FFFFFF"/>
                    </a:solidFill>
                  </a:tcPr>
                </a:tc>
                <a:tc>
                  <a:txBody>
                    <a:bodyPr/>
                    <a:lstStyle/>
                    <a:p>
                      <a:pPr algn="l"/>
                      <a:r>
                        <a:rPr sz="1100">
                          <a:solidFill>
                            <a:srgbClr val="1F2937"/>
                          </a:solidFill>
                          <a:latin typeface="Calibri"/>
                        </a:rPr>
                        <a:t>Hardware del dispositivo de alerta no llega o no funciona a tiempo</a:t>
                      </a:r>
                    </a:p>
                  </a:txBody>
                  <a:tcPr marL="76200" marR="76200" marT="50800" marB="50800" anchor="ctr">
                    <a:solidFill>
                      <a:srgbClr val="FFFFFF"/>
                    </a:solidFill>
                  </a:tcPr>
                </a:tc>
                <a:tc>
                  <a:txBody>
                    <a:bodyPr/>
                    <a:lstStyle/>
                    <a:p>
                      <a:pPr algn="ctr"/>
                      <a:r>
                        <a:rPr sz="1100">
                          <a:solidFill>
                            <a:srgbClr val="1F2937"/>
                          </a:solidFill>
                          <a:latin typeface="Calibri"/>
                        </a:rPr>
                        <a:t>Alto</a:t>
                      </a:r>
                    </a:p>
                  </a:txBody>
                  <a:tcPr marL="76200" marR="76200" marT="50800" marB="50800" anchor="ctr">
                    <a:solidFill>
                      <a:srgbClr val="FFFFFF"/>
                    </a:solidFill>
                  </a:tcPr>
                </a:tc>
                <a:tc>
                  <a:txBody>
                    <a:bodyPr/>
                    <a:lstStyle/>
                    <a:p>
                      <a:pPr algn="l"/>
                      <a:r>
                        <a:rPr sz="1100">
                          <a:solidFill>
                            <a:srgbClr val="1F2937"/>
                          </a:solidFill>
                          <a:latin typeface="Calibri"/>
                        </a:rPr>
                        <a:t>Protocolo IP contra receptor simulado desde la Semana 10</a:t>
                      </a:r>
                    </a:p>
                  </a:txBody>
                  <a:tcPr marL="76200" marR="76200" marT="50800" marB="50800" anchor="ctr">
                    <a:solidFill>
                      <a:srgbClr val="FFFFFF"/>
                    </a:solidFill>
                  </a:tcPr>
                </a:tc>
                <a:extLst>
                  <a:ext uri="{0D108BD9-81ED-4DB2-BD59-A6C34878D82A}">
                    <a16:rowId xmlns:a16="http://schemas.microsoft.com/office/drawing/2014/main" val="10001"/>
                  </a:ext>
                </a:extLst>
              </a:tr>
              <a:tr h="560070">
                <a:tc>
                  <a:txBody>
                    <a:bodyPr/>
                    <a:lstStyle/>
                    <a:p>
                      <a:pPr algn="ctr"/>
                      <a:r>
                        <a:rPr sz="1100">
                          <a:solidFill>
                            <a:srgbClr val="1F2937"/>
                          </a:solidFill>
                          <a:latin typeface="Calibri"/>
                        </a:rPr>
                        <a:t>R2</a:t>
                      </a:r>
                    </a:p>
                  </a:txBody>
                  <a:tcPr marL="76200" marR="76200" marT="50800" marB="50800" anchor="ctr">
                    <a:solidFill>
                      <a:srgbClr val="F3F4F6"/>
                    </a:solidFill>
                  </a:tcPr>
                </a:tc>
                <a:tc>
                  <a:txBody>
                    <a:bodyPr/>
                    <a:lstStyle/>
                    <a:p>
                      <a:pPr algn="l"/>
                      <a:r>
                        <a:rPr sz="1100">
                          <a:solidFill>
                            <a:srgbClr val="1F2937"/>
                          </a:solidFill>
                          <a:latin typeface="Calibri"/>
                        </a:rPr>
                        <a:t>Dataset insuficiente o poco representativo de faenas chilenas</a:t>
                      </a:r>
                    </a:p>
                  </a:txBody>
                  <a:tcPr marL="76200" marR="76200" marT="50800" marB="50800" anchor="ctr">
                    <a:solidFill>
                      <a:srgbClr val="F3F4F6"/>
                    </a:solidFill>
                  </a:tcPr>
                </a:tc>
                <a:tc>
                  <a:txBody>
                    <a:bodyPr/>
                    <a:lstStyle/>
                    <a:p>
                      <a:pPr algn="ctr"/>
                      <a:r>
                        <a:rPr sz="1100">
                          <a:solidFill>
                            <a:srgbClr val="1F2937"/>
                          </a:solidFill>
                          <a:latin typeface="Calibri"/>
                        </a:rPr>
                        <a:t>Alto</a:t>
                      </a:r>
                    </a:p>
                  </a:txBody>
                  <a:tcPr marL="76200" marR="76200" marT="50800" marB="50800" anchor="ctr">
                    <a:solidFill>
                      <a:srgbClr val="F3F4F6"/>
                    </a:solidFill>
                  </a:tcPr>
                </a:tc>
                <a:tc>
                  <a:txBody>
                    <a:bodyPr/>
                    <a:lstStyle/>
                    <a:p>
                      <a:pPr algn="l"/>
                      <a:r>
                        <a:rPr sz="1100">
                          <a:solidFill>
                            <a:srgbClr val="1F2937"/>
                          </a:solidFill>
                          <a:latin typeface="Calibri"/>
                        </a:rPr>
                        <a:t>Datasets públicos de EPP + imágenes propias etiquetadas en Roboflow</a:t>
                      </a:r>
                    </a:p>
                  </a:txBody>
                  <a:tcPr marL="76200" marR="76200" marT="50800" marB="50800" anchor="ctr">
                    <a:solidFill>
                      <a:srgbClr val="F3F4F6"/>
                    </a:solidFill>
                  </a:tcPr>
                </a:tc>
                <a:extLst>
                  <a:ext uri="{0D108BD9-81ED-4DB2-BD59-A6C34878D82A}">
                    <a16:rowId xmlns:a16="http://schemas.microsoft.com/office/drawing/2014/main" val="10002"/>
                  </a:ext>
                </a:extLst>
              </a:tr>
              <a:tr h="560070">
                <a:tc>
                  <a:txBody>
                    <a:bodyPr/>
                    <a:lstStyle/>
                    <a:p>
                      <a:pPr algn="ctr"/>
                      <a:r>
                        <a:rPr sz="1100">
                          <a:solidFill>
                            <a:srgbClr val="1F2937"/>
                          </a:solidFill>
                          <a:latin typeface="Calibri"/>
                        </a:rPr>
                        <a:t>R3</a:t>
                      </a:r>
                    </a:p>
                  </a:txBody>
                  <a:tcPr marL="76200" marR="76200" marT="50800" marB="50800" anchor="ctr">
                    <a:solidFill>
                      <a:srgbClr val="FFFFFF"/>
                    </a:solidFill>
                  </a:tcPr>
                </a:tc>
                <a:tc>
                  <a:txBody>
                    <a:bodyPr/>
                    <a:lstStyle/>
                    <a:p>
                      <a:pPr algn="l"/>
                      <a:r>
                        <a:rPr sz="1100">
                          <a:solidFill>
                            <a:srgbClr val="1F2937"/>
                          </a:solidFill>
                          <a:latin typeface="Calibri"/>
                        </a:rPr>
                        <a:t>Falta de acceso a una cámara IP real para pruebas</a:t>
                      </a:r>
                    </a:p>
                  </a:txBody>
                  <a:tcPr marL="76200" marR="76200" marT="50800" marB="50800" anchor="ctr">
                    <a:solidFill>
                      <a:srgbClr val="FFFFFF"/>
                    </a:solidFill>
                  </a:tcPr>
                </a:tc>
                <a:tc>
                  <a:txBody>
                    <a:bodyPr/>
                    <a:lstStyle/>
                    <a:p>
                      <a:pPr algn="ctr"/>
                      <a:r>
                        <a:rPr sz="1100">
                          <a:solidFill>
                            <a:srgbClr val="1F2937"/>
                          </a:solidFill>
                          <a:latin typeface="Calibri"/>
                        </a:rPr>
                        <a:t>Medio</a:t>
                      </a:r>
                    </a:p>
                  </a:txBody>
                  <a:tcPr marL="76200" marR="76200" marT="50800" marB="50800" anchor="ctr">
                    <a:solidFill>
                      <a:srgbClr val="FFFFFF"/>
                    </a:solidFill>
                  </a:tcPr>
                </a:tc>
                <a:tc>
                  <a:txBody>
                    <a:bodyPr/>
                    <a:lstStyle/>
                    <a:p>
                      <a:pPr algn="l"/>
                      <a:r>
                        <a:rPr sz="1100">
                          <a:solidFill>
                            <a:srgbClr val="1F2937"/>
                          </a:solidFill>
                          <a:latin typeface="Calibri"/>
                        </a:rPr>
                        <a:t>Video pregrabado servido por emisor RTSP local</a:t>
                      </a:r>
                    </a:p>
                  </a:txBody>
                  <a:tcPr marL="76200" marR="76200" marT="50800" marB="50800" anchor="ctr">
                    <a:solidFill>
                      <a:srgbClr val="FFFFFF"/>
                    </a:solidFill>
                  </a:tcPr>
                </a:tc>
                <a:extLst>
                  <a:ext uri="{0D108BD9-81ED-4DB2-BD59-A6C34878D82A}">
                    <a16:rowId xmlns:a16="http://schemas.microsoft.com/office/drawing/2014/main" val="10003"/>
                  </a:ext>
                </a:extLst>
              </a:tr>
              <a:tr h="560070">
                <a:tc>
                  <a:txBody>
                    <a:bodyPr/>
                    <a:lstStyle/>
                    <a:p>
                      <a:pPr algn="ctr"/>
                      <a:r>
                        <a:rPr sz="1100">
                          <a:solidFill>
                            <a:srgbClr val="1F2937"/>
                          </a:solidFill>
                          <a:latin typeface="Calibri"/>
                        </a:rPr>
                        <a:t>R4</a:t>
                      </a:r>
                    </a:p>
                  </a:txBody>
                  <a:tcPr marL="76200" marR="76200" marT="50800" marB="50800" anchor="ctr">
                    <a:solidFill>
                      <a:srgbClr val="F3F4F6"/>
                    </a:solidFill>
                  </a:tcPr>
                </a:tc>
                <a:tc>
                  <a:txBody>
                    <a:bodyPr/>
                    <a:lstStyle/>
                    <a:p>
                      <a:pPr algn="l"/>
                      <a:r>
                        <a:rPr sz="1100">
                          <a:solidFill>
                            <a:srgbClr val="1F2937"/>
                          </a:solidFill>
                          <a:latin typeface="Calibri"/>
                        </a:rPr>
                        <a:t>Carga académica paralela del equipo</a:t>
                      </a:r>
                    </a:p>
                  </a:txBody>
                  <a:tcPr marL="76200" marR="76200" marT="50800" marB="50800" anchor="ctr">
                    <a:solidFill>
                      <a:srgbClr val="F3F4F6"/>
                    </a:solidFill>
                  </a:tcPr>
                </a:tc>
                <a:tc>
                  <a:txBody>
                    <a:bodyPr/>
                    <a:lstStyle/>
                    <a:p>
                      <a:pPr algn="ctr"/>
                      <a:r>
                        <a:rPr sz="1100">
                          <a:solidFill>
                            <a:srgbClr val="1F2937"/>
                          </a:solidFill>
                          <a:latin typeface="Calibri"/>
                        </a:rPr>
                        <a:t>Alto</a:t>
                      </a:r>
                    </a:p>
                  </a:txBody>
                  <a:tcPr marL="76200" marR="76200" marT="50800" marB="50800" anchor="ctr">
                    <a:solidFill>
                      <a:srgbClr val="F3F4F6"/>
                    </a:solidFill>
                  </a:tcPr>
                </a:tc>
                <a:tc>
                  <a:txBody>
                    <a:bodyPr/>
                    <a:lstStyle/>
                    <a:p>
                      <a:pPr algn="l"/>
                      <a:r>
                        <a:rPr sz="1100">
                          <a:solidFill>
                            <a:srgbClr val="1F2937"/>
                          </a:solidFill>
                          <a:latin typeface="Calibri"/>
                        </a:rPr>
                        <a:t>MVP acotado · hitos quincenales · responsable único por paquete</a:t>
                      </a:r>
                    </a:p>
                  </a:txBody>
                  <a:tcPr marL="76200" marR="76200" marT="50800" marB="50800" anchor="ctr">
                    <a:solidFill>
                      <a:srgbClr val="F3F4F6"/>
                    </a:solidFill>
                  </a:tcPr>
                </a:tc>
                <a:extLst>
                  <a:ext uri="{0D108BD9-81ED-4DB2-BD59-A6C34878D82A}">
                    <a16:rowId xmlns:a16="http://schemas.microsoft.com/office/drawing/2014/main" val="10004"/>
                  </a:ext>
                </a:extLst>
              </a:tr>
              <a:tr h="560070">
                <a:tc>
                  <a:txBody>
                    <a:bodyPr/>
                    <a:lstStyle/>
                    <a:p>
                      <a:pPr algn="ctr"/>
                      <a:r>
                        <a:rPr sz="1100">
                          <a:solidFill>
                            <a:srgbClr val="1F2937"/>
                          </a:solidFill>
                          <a:latin typeface="Calibri"/>
                        </a:rPr>
                        <a:t>R5</a:t>
                      </a:r>
                    </a:p>
                  </a:txBody>
                  <a:tcPr marL="76200" marR="76200" marT="50800" marB="50800" anchor="ctr">
                    <a:solidFill>
                      <a:srgbClr val="FFFFFF"/>
                    </a:solidFill>
                  </a:tcPr>
                </a:tc>
                <a:tc>
                  <a:txBody>
                    <a:bodyPr/>
                    <a:lstStyle/>
                    <a:p>
                      <a:pPr algn="l"/>
                      <a:r>
                        <a:rPr sz="1100">
                          <a:solidFill>
                            <a:srgbClr val="1F2937"/>
                          </a:solidFill>
                          <a:latin typeface="Calibri"/>
                        </a:rPr>
                        <a:t>Latencia o pérdida de paquetes en el canal IP</a:t>
                      </a:r>
                    </a:p>
                  </a:txBody>
                  <a:tcPr marL="76200" marR="76200" marT="50800" marB="50800" anchor="ctr">
                    <a:solidFill>
                      <a:srgbClr val="FFFFFF"/>
                    </a:solidFill>
                  </a:tcPr>
                </a:tc>
                <a:tc>
                  <a:txBody>
                    <a:bodyPr/>
                    <a:lstStyle/>
                    <a:p>
                      <a:pPr algn="ctr"/>
                      <a:r>
                        <a:rPr sz="1100">
                          <a:solidFill>
                            <a:srgbClr val="1F2937"/>
                          </a:solidFill>
                          <a:latin typeface="Calibri"/>
                        </a:rPr>
                        <a:t>Medio</a:t>
                      </a:r>
                    </a:p>
                  </a:txBody>
                  <a:tcPr marL="76200" marR="76200" marT="50800" marB="50800" anchor="ctr">
                    <a:solidFill>
                      <a:srgbClr val="FFFFFF"/>
                    </a:solidFill>
                  </a:tcPr>
                </a:tc>
                <a:tc>
                  <a:txBody>
                    <a:bodyPr/>
                    <a:lstStyle/>
                    <a:p>
                      <a:pPr algn="l"/>
                      <a:r>
                        <a:rPr sz="1100">
                          <a:solidFill>
                            <a:srgbClr val="1F2937"/>
                          </a:solidFill>
                          <a:latin typeface="Calibri"/>
                        </a:rPr>
                        <a:t>Heartbeat, reintentos y respaldo vía notificación remota</a:t>
                      </a:r>
                    </a:p>
                  </a:txBody>
                  <a:tcPr marL="76200" marR="76200" marT="50800" marB="50800" anchor="ctr">
                    <a:solidFill>
                      <a:srgbClr val="FFFFFF"/>
                    </a:solidFill>
                  </a:tcPr>
                </a:tc>
                <a:extLst>
                  <a:ext uri="{0D108BD9-81ED-4DB2-BD59-A6C34878D82A}">
                    <a16:rowId xmlns:a16="http://schemas.microsoft.com/office/drawing/2014/main" val="10005"/>
                  </a:ext>
                </a:extLst>
              </a:tr>
              <a:tr h="560070">
                <a:tc>
                  <a:txBody>
                    <a:bodyPr/>
                    <a:lstStyle/>
                    <a:p>
                      <a:pPr algn="ctr"/>
                      <a:r>
                        <a:rPr sz="1100">
                          <a:solidFill>
                            <a:srgbClr val="1F2937"/>
                          </a:solidFill>
                          <a:latin typeface="Calibri"/>
                        </a:rPr>
                        <a:t>R6</a:t>
                      </a:r>
                    </a:p>
                  </a:txBody>
                  <a:tcPr marL="76200" marR="76200" marT="50800" marB="50800" anchor="ctr">
                    <a:solidFill>
                      <a:srgbClr val="F3F4F6"/>
                    </a:solidFill>
                  </a:tcPr>
                </a:tc>
                <a:tc>
                  <a:txBody>
                    <a:bodyPr/>
                    <a:lstStyle/>
                    <a:p>
                      <a:pPr algn="l"/>
                      <a:r>
                        <a:rPr sz="1100">
                          <a:solidFill>
                            <a:srgbClr val="1F2937"/>
                          </a:solidFill>
                          <a:latin typeface="Calibri"/>
                        </a:rPr>
                        <a:t>Sobrecarga de GPU para entrenamiento</a:t>
                      </a:r>
                    </a:p>
                  </a:txBody>
                  <a:tcPr marL="76200" marR="76200" marT="50800" marB="50800" anchor="ctr">
                    <a:solidFill>
                      <a:srgbClr val="F3F4F6"/>
                    </a:solidFill>
                  </a:tcPr>
                </a:tc>
                <a:tc>
                  <a:txBody>
                    <a:bodyPr/>
                    <a:lstStyle/>
                    <a:p>
                      <a:pPr algn="ctr"/>
                      <a:r>
                        <a:rPr sz="1100">
                          <a:solidFill>
                            <a:srgbClr val="1F2937"/>
                          </a:solidFill>
                          <a:latin typeface="Calibri"/>
                        </a:rPr>
                        <a:t>Medio</a:t>
                      </a:r>
                    </a:p>
                  </a:txBody>
                  <a:tcPr marL="76200" marR="76200" marT="50800" marB="50800" anchor="ctr">
                    <a:solidFill>
                      <a:srgbClr val="F3F4F6"/>
                    </a:solidFill>
                  </a:tcPr>
                </a:tc>
                <a:tc>
                  <a:txBody>
                    <a:bodyPr/>
                    <a:lstStyle/>
                    <a:p>
                      <a:pPr algn="l"/>
                      <a:r>
                        <a:rPr sz="1100">
                          <a:solidFill>
                            <a:srgbClr val="1F2937"/>
                          </a:solidFill>
                          <a:latin typeface="Calibri"/>
                        </a:rPr>
                        <a:t>Entrenar en Colab con GPU; exportar a ONNX</a:t>
                      </a:r>
                    </a:p>
                  </a:txBody>
                  <a:tcPr marL="76200" marR="76200" marT="50800" marB="50800" anchor="ctr">
                    <a:solidFill>
                      <a:srgbClr val="F3F4F6"/>
                    </a:solidFill>
                  </a:tcPr>
                </a:tc>
                <a:extLst>
                  <a:ext uri="{0D108BD9-81ED-4DB2-BD59-A6C34878D82A}">
                    <a16:rowId xmlns:a16="http://schemas.microsoft.com/office/drawing/2014/main" val="10006"/>
                  </a:ext>
                </a:extLst>
              </a:tr>
              <a:tr h="560070">
                <a:tc>
                  <a:txBody>
                    <a:bodyPr/>
                    <a:lstStyle/>
                    <a:p>
                      <a:pPr algn="ctr"/>
                      <a:r>
                        <a:rPr sz="1100">
                          <a:solidFill>
                            <a:srgbClr val="1F2937"/>
                          </a:solidFill>
                          <a:latin typeface="Calibri"/>
                        </a:rPr>
                        <a:t>R7</a:t>
                      </a:r>
                    </a:p>
                  </a:txBody>
                  <a:tcPr marL="76200" marR="76200" marT="50800" marB="50800" anchor="ctr">
                    <a:solidFill>
                      <a:srgbClr val="FFFFFF"/>
                    </a:solidFill>
                  </a:tcPr>
                </a:tc>
                <a:tc>
                  <a:txBody>
                    <a:bodyPr/>
                    <a:lstStyle/>
                    <a:p>
                      <a:pPr algn="l"/>
                      <a:r>
                        <a:rPr sz="1100">
                          <a:solidFill>
                            <a:srgbClr val="1F2937"/>
                          </a:solidFill>
                          <a:latin typeface="Calibri"/>
                        </a:rPr>
                        <a:t>Alcance creciente (más EPP del comprometido)</a:t>
                      </a:r>
                    </a:p>
                  </a:txBody>
                  <a:tcPr marL="76200" marR="76200" marT="50800" marB="50800" anchor="ctr">
                    <a:solidFill>
                      <a:srgbClr val="FFFFFF"/>
                    </a:solidFill>
                  </a:tcPr>
                </a:tc>
                <a:tc>
                  <a:txBody>
                    <a:bodyPr/>
                    <a:lstStyle/>
                    <a:p>
                      <a:pPr algn="ctr"/>
                      <a:r>
                        <a:rPr sz="1100">
                          <a:solidFill>
                            <a:srgbClr val="1F2937"/>
                          </a:solidFill>
                          <a:latin typeface="Calibri"/>
                        </a:rPr>
                        <a:t>Medio</a:t>
                      </a:r>
                    </a:p>
                  </a:txBody>
                  <a:tcPr marL="76200" marR="76200" marT="50800" marB="50800" anchor="ctr">
                    <a:solidFill>
                      <a:srgbClr val="FFFFFF"/>
                    </a:solidFill>
                  </a:tcPr>
                </a:tc>
                <a:tc>
                  <a:txBody>
                    <a:bodyPr/>
                    <a:lstStyle/>
                    <a:p>
                      <a:pPr algn="l"/>
                      <a:r>
                        <a:rPr sz="1100">
                          <a:solidFill>
                            <a:srgbClr val="1F2937"/>
                          </a:solidFill>
                          <a:latin typeface="Calibri"/>
                        </a:rPr>
                        <a:t>Casco y chaleco comprometidos; el resto es evolución futura</a:t>
                      </a:r>
                    </a:p>
                  </a:txBody>
                  <a:tcPr marL="76200" marR="76200" marT="50800" marB="50800" anchor="ctr">
                    <a:solidFill>
                      <a:srgbClr val="FFFFFF"/>
                    </a:solidFill>
                  </a:tcPr>
                </a:tc>
                <a:extLst>
                  <a:ext uri="{0D108BD9-81ED-4DB2-BD59-A6C34878D82A}">
                    <a16:rowId xmlns:a16="http://schemas.microsoft.com/office/drawing/2014/main" val="10007"/>
                  </a:ext>
                </a:extLst>
              </a:tr>
            </a:tbl>
          </a:graphicData>
        </a:graphic>
      </p:graphicFrame>
      <p:sp>
        <p:nvSpPr>
          <p:cNvPr id="8" name="Rectangle 7"/>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10" name="TextBox 9"/>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19 / 18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RESPALDO</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Evidencias comprometidas por fase</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457200" y="1554480"/>
          <a:ext cx="11247120" cy="45720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6126480">
                  <a:extLst>
                    <a:ext uri="{9D8B030D-6E8A-4147-A177-3AD203B41FA5}">
                      <a16:colId xmlns:a16="http://schemas.microsoft.com/office/drawing/2014/main" val="20002"/>
                    </a:ext>
                  </a:extLst>
                </a:gridCol>
              </a:tblGrid>
              <a:tr h="508000">
                <a:tc>
                  <a:txBody>
                    <a:bodyPr/>
                    <a:lstStyle/>
                    <a:p>
                      <a:pPr algn="l"/>
                      <a:r>
                        <a:rPr sz="1200" b="1">
                          <a:solidFill>
                            <a:srgbClr val="FFFFFF"/>
                          </a:solidFill>
                          <a:latin typeface="Calibri"/>
                        </a:rPr>
                        <a:t>Fase</a:t>
                      </a:r>
                    </a:p>
                  </a:txBody>
                  <a:tcPr marL="76200" marR="76200" marT="50800" marB="50800" anchor="ctr">
                    <a:solidFill>
                      <a:srgbClr val="1F2937"/>
                    </a:solidFill>
                  </a:tcPr>
                </a:tc>
                <a:tc>
                  <a:txBody>
                    <a:bodyPr/>
                    <a:lstStyle/>
                    <a:p>
                      <a:pPr algn="l"/>
                      <a:r>
                        <a:rPr sz="1200" b="1">
                          <a:solidFill>
                            <a:srgbClr val="FFFFFF"/>
                          </a:solidFill>
                          <a:latin typeface="Calibri"/>
                        </a:rPr>
                        <a:t>Evidencia</a:t>
                      </a:r>
                    </a:p>
                  </a:txBody>
                  <a:tcPr marL="76200" marR="76200" marT="50800" marB="50800" anchor="ctr">
                    <a:solidFill>
                      <a:srgbClr val="1F2937"/>
                    </a:solidFill>
                  </a:tcPr>
                </a:tc>
                <a:tc>
                  <a:txBody>
                    <a:bodyPr/>
                    <a:lstStyle/>
                    <a:p>
                      <a:pPr algn="l"/>
                      <a:r>
                        <a:rPr sz="1200" b="1">
                          <a:solidFill>
                            <a:srgbClr val="FFFFFF"/>
                          </a:solidFill>
                          <a:latin typeface="Calibri"/>
                        </a:rPr>
                        <a:t>Descripción</a:t>
                      </a:r>
                    </a:p>
                  </a:txBody>
                  <a:tcPr marL="76200" marR="76200" marT="50800" marB="50800" anchor="ctr">
                    <a:solidFill>
                      <a:srgbClr val="1F2937"/>
                    </a:solidFill>
                  </a:tcPr>
                </a:tc>
                <a:extLst>
                  <a:ext uri="{0D108BD9-81ED-4DB2-BD59-A6C34878D82A}">
                    <a16:rowId xmlns:a16="http://schemas.microsoft.com/office/drawing/2014/main" val="10000"/>
                  </a:ext>
                </a:extLst>
              </a:tr>
              <a:tr h="508000">
                <a:tc>
                  <a:txBody>
                    <a:bodyPr/>
                    <a:lstStyle/>
                    <a:p>
                      <a:pPr algn="l"/>
                      <a:r>
                        <a:rPr sz="1100">
                          <a:solidFill>
                            <a:srgbClr val="1F2937"/>
                          </a:solidFill>
                          <a:latin typeface="Calibri"/>
                        </a:rPr>
                        <a:t>Fase 1</a:t>
                      </a:r>
                    </a:p>
                  </a:txBody>
                  <a:tcPr marL="76200" marR="76200" marT="50800" marB="50800" anchor="ctr">
                    <a:solidFill>
                      <a:srgbClr val="FFFFFF"/>
                    </a:solidFill>
                  </a:tcPr>
                </a:tc>
                <a:tc>
                  <a:txBody>
                    <a:bodyPr/>
                    <a:lstStyle/>
                    <a:p>
                      <a:pPr algn="l"/>
                      <a:r>
                        <a:rPr sz="1100">
                          <a:solidFill>
                            <a:srgbClr val="1F2937"/>
                          </a:solidFill>
                          <a:latin typeface="Calibri"/>
                        </a:rPr>
                        <a:t>Documento de definición del proyecto APT</a:t>
                      </a:r>
                    </a:p>
                  </a:txBody>
                  <a:tcPr marL="76200" marR="76200" marT="50800" marB="50800" anchor="ctr">
                    <a:solidFill>
                      <a:srgbClr val="FFFFFF"/>
                    </a:solidFill>
                  </a:tcPr>
                </a:tc>
                <a:tc>
                  <a:txBody>
                    <a:bodyPr/>
                    <a:lstStyle/>
                    <a:p>
                      <a:pPr algn="l"/>
                      <a:r>
                        <a:rPr sz="1100">
                          <a:solidFill>
                            <a:srgbClr val="1F2937"/>
                          </a:solidFill>
                          <a:latin typeface="Calibri"/>
                        </a:rPr>
                        <a:t>Fundamentación, objetivos, metodología, plan y carta Gantt</a:t>
                      </a:r>
                    </a:p>
                  </a:txBody>
                  <a:tcPr marL="76200" marR="76200" marT="50800" marB="50800" anchor="ctr">
                    <a:solidFill>
                      <a:srgbClr val="FFFFFF"/>
                    </a:solidFill>
                  </a:tcPr>
                </a:tc>
                <a:extLst>
                  <a:ext uri="{0D108BD9-81ED-4DB2-BD59-A6C34878D82A}">
                    <a16:rowId xmlns:a16="http://schemas.microsoft.com/office/drawing/2014/main" val="10001"/>
                  </a:ext>
                </a:extLst>
              </a:tr>
              <a:tr h="508000">
                <a:tc>
                  <a:txBody>
                    <a:bodyPr/>
                    <a:lstStyle/>
                    <a:p>
                      <a:pPr algn="l"/>
                      <a:r>
                        <a:rPr sz="1100">
                          <a:solidFill>
                            <a:srgbClr val="1F2937"/>
                          </a:solidFill>
                          <a:latin typeface="Calibri"/>
                        </a:rPr>
                        <a:t>Fase 1</a:t>
                      </a:r>
                    </a:p>
                  </a:txBody>
                  <a:tcPr marL="76200" marR="76200" marT="50800" marB="50800" anchor="ctr">
                    <a:solidFill>
                      <a:srgbClr val="F3F4F6"/>
                    </a:solidFill>
                  </a:tcPr>
                </a:tc>
                <a:tc>
                  <a:txBody>
                    <a:bodyPr/>
                    <a:lstStyle/>
                    <a:p>
                      <a:pPr algn="l"/>
                      <a:r>
                        <a:rPr sz="1100">
                          <a:solidFill>
                            <a:srgbClr val="1F2937"/>
                          </a:solidFill>
                          <a:latin typeface="Calibri"/>
                        </a:rPr>
                        <a:t>Presentación grupal</a:t>
                      </a:r>
                    </a:p>
                  </a:txBody>
                  <a:tcPr marL="76200" marR="76200" marT="50800" marB="50800" anchor="ctr">
                    <a:solidFill>
                      <a:srgbClr val="F3F4F6"/>
                    </a:solidFill>
                  </a:tcPr>
                </a:tc>
                <a:tc>
                  <a:txBody>
                    <a:bodyPr/>
                    <a:lstStyle/>
                    <a:p>
                      <a:pPr algn="l"/>
                      <a:r>
                        <a:rPr sz="1100">
                          <a:solidFill>
                            <a:srgbClr val="1F2937"/>
                          </a:solidFill>
                          <a:latin typeface="Calibri"/>
                        </a:rPr>
                        <a:t>Exposición del proyecto — sumativa Semana 4</a:t>
                      </a:r>
                    </a:p>
                  </a:txBody>
                  <a:tcPr marL="76200" marR="76200" marT="50800" marB="50800" anchor="ctr">
                    <a:solidFill>
                      <a:srgbClr val="F3F4F6"/>
                    </a:solidFill>
                  </a:tcPr>
                </a:tc>
                <a:extLst>
                  <a:ext uri="{0D108BD9-81ED-4DB2-BD59-A6C34878D82A}">
                    <a16:rowId xmlns:a16="http://schemas.microsoft.com/office/drawing/2014/main" val="10002"/>
                  </a:ext>
                </a:extLst>
              </a:tr>
              <a:tr h="508000">
                <a:tc>
                  <a:txBody>
                    <a:bodyPr/>
                    <a:lstStyle/>
                    <a:p>
                      <a:pPr algn="l"/>
                      <a:r>
                        <a:rPr sz="1100">
                          <a:solidFill>
                            <a:srgbClr val="1F2937"/>
                          </a:solidFill>
                          <a:latin typeface="Calibri"/>
                        </a:rPr>
                        <a:t>Avance (Sem. 10)</a:t>
                      </a:r>
                    </a:p>
                  </a:txBody>
                  <a:tcPr marL="76200" marR="76200" marT="50800" marB="50800" anchor="ctr">
                    <a:solidFill>
                      <a:srgbClr val="FFFFFF"/>
                    </a:solidFill>
                  </a:tcPr>
                </a:tc>
                <a:tc>
                  <a:txBody>
                    <a:bodyPr/>
                    <a:lstStyle/>
                    <a:p>
                      <a:pPr algn="l"/>
                      <a:r>
                        <a:rPr sz="1100">
                          <a:solidFill>
                            <a:srgbClr val="1F2937"/>
                          </a:solidFill>
                          <a:latin typeface="Calibri"/>
                        </a:rPr>
                        <a:t>Repositorio con motor de IA y API</a:t>
                      </a:r>
                    </a:p>
                  </a:txBody>
                  <a:tcPr marL="76200" marR="76200" marT="50800" marB="50800" anchor="ctr">
                    <a:solidFill>
                      <a:srgbClr val="FFFFFF"/>
                    </a:solidFill>
                  </a:tcPr>
                </a:tc>
                <a:tc>
                  <a:txBody>
                    <a:bodyPr/>
                    <a:lstStyle/>
                    <a:p>
                      <a:pPr algn="l"/>
                      <a:r>
                        <a:rPr sz="1100">
                          <a:solidFill>
                            <a:srgbClr val="1F2937"/>
                          </a:solidFill>
                          <a:latin typeface="Calibri"/>
                        </a:rPr>
                        <a:t>YOLOv8 entrenado con métricas + API REST + esquema de datos</a:t>
                      </a:r>
                    </a:p>
                  </a:txBody>
                  <a:tcPr marL="76200" marR="76200" marT="50800" marB="50800" anchor="ctr">
                    <a:solidFill>
                      <a:srgbClr val="FFFFFF"/>
                    </a:solidFill>
                  </a:tcPr>
                </a:tc>
                <a:extLst>
                  <a:ext uri="{0D108BD9-81ED-4DB2-BD59-A6C34878D82A}">
                    <a16:rowId xmlns:a16="http://schemas.microsoft.com/office/drawing/2014/main" val="10003"/>
                  </a:ext>
                </a:extLst>
              </a:tr>
              <a:tr h="508000">
                <a:tc>
                  <a:txBody>
                    <a:bodyPr/>
                    <a:lstStyle/>
                    <a:p>
                      <a:pPr algn="l"/>
                      <a:r>
                        <a:rPr sz="1100">
                          <a:solidFill>
                            <a:srgbClr val="1F2937"/>
                          </a:solidFill>
                          <a:latin typeface="Calibri"/>
                        </a:rPr>
                        <a:t>Avance (Sem. 10)</a:t>
                      </a:r>
                    </a:p>
                  </a:txBody>
                  <a:tcPr marL="76200" marR="76200" marT="50800" marB="50800" anchor="ctr">
                    <a:solidFill>
                      <a:srgbClr val="F3F4F6"/>
                    </a:solidFill>
                  </a:tcPr>
                </a:tc>
                <a:tc>
                  <a:txBody>
                    <a:bodyPr/>
                    <a:lstStyle/>
                    <a:p>
                      <a:pPr algn="l"/>
                      <a:r>
                        <a:rPr sz="1100">
                          <a:solidFill>
                            <a:srgbClr val="1F2937"/>
                          </a:solidFill>
                          <a:latin typeface="Calibri"/>
                        </a:rPr>
                        <a:t>Informe de avance</a:t>
                      </a:r>
                    </a:p>
                  </a:txBody>
                  <a:tcPr marL="76200" marR="76200" marT="50800" marB="50800" anchor="ctr">
                    <a:solidFill>
                      <a:srgbClr val="F3F4F6"/>
                    </a:solidFill>
                  </a:tcPr>
                </a:tc>
                <a:tc>
                  <a:txBody>
                    <a:bodyPr/>
                    <a:lstStyle/>
                    <a:p>
                      <a:pPr algn="l"/>
                      <a:r>
                        <a:rPr sz="1100">
                          <a:solidFill>
                            <a:srgbClr val="1F2937"/>
                          </a:solidFill>
                          <a:latin typeface="Calibri"/>
                        </a:rPr>
                        <a:t>Estado del desarrollo, desviaciones y ajustes al plan</a:t>
                      </a:r>
                    </a:p>
                  </a:txBody>
                  <a:tcPr marL="76200" marR="76200" marT="50800" marB="50800" anchor="ctr">
                    <a:solidFill>
                      <a:srgbClr val="F3F4F6"/>
                    </a:solidFill>
                  </a:tcPr>
                </a:tc>
                <a:extLst>
                  <a:ext uri="{0D108BD9-81ED-4DB2-BD59-A6C34878D82A}">
                    <a16:rowId xmlns:a16="http://schemas.microsoft.com/office/drawing/2014/main" val="10004"/>
                  </a:ext>
                </a:extLst>
              </a:tr>
              <a:tr h="508000">
                <a:tc>
                  <a:txBody>
                    <a:bodyPr/>
                    <a:lstStyle/>
                    <a:p>
                      <a:pPr algn="l"/>
                      <a:r>
                        <a:rPr sz="1100">
                          <a:solidFill>
                            <a:srgbClr val="1F2937"/>
                          </a:solidFill>
                          <a:latin typeface="Calibri"/>
                        </a:rPr>
                        <a:t>Final (Sem. 15)</a:t>
                      </a:r>
                    </a:p>
                  </a:txBody>
                  <a:tcPr marL="76200" marR="76200" marT="50800" marB="50800" anchor="ctr">
                    <a:solidFill>
                      <a:srgbClr val="FFFFFF"/>
                    </a:solidFill>
                  </a:tcPr>
                </a:tc>
                <a:tc>
                  <a:txBody>
                    <a:bodyPr/>
                    <a:lstStyle/>
                    <a:p>
                      <a:pPr algn="l"/>
                      <a:r>
                        <a:rPr sz="1100">
                          <a:solidFill>
                            <a:srgbClr val="1F2937"/>
                          </a:solidFill>
                          <a:latin typeface="Calibri"/>
                        </a:rPr>
                        <a:t>Sistema integrado funcionando</a:t>
                      </a:r>
                    </a:p>
                  </a:txBody>
                  <a:tcPr marL="76200" marR="76200" marT="50800" marB="50800" anchor="ctr">
                    <a:solidFill>
                      <a:srgbClr val="FFFFFF"/>
                    </a:solidFill>
                  </a:tcPr>
                </a:tc>
                <a:tc>
                  <a:txBody>
                    <a:bodyPr/>
                    <a:lstStyle/>
                    <a:p>
                      <a:pPr algn="l"/>
                      <a:r>
                        <a:rPr sz="1100">
                          <a:solidFill>
                            <a:srgbClr val="1F2937"/>
                          </a:solidFill>
                          <a:latin typeface="Calibri"/>
                        </a:rPr>
                        <a:t>Detección + alerta física + dashboard + alertas remotas</a:t>
                      </a:r>
                    </a:p>
                  </a:txBody>
                  <a:tcPr marL="76200" marR="76200" marT="50800" marB="50800" anchor="ctr">
                    <a:solidFill>
                      <a:srgbClr val="FFFFFF"/>
                    </a:solidFill>
                  </a:tcPr>
                </a:tc>
                <a:extLst>
                  <a:ext uri="{0D108BD9-81ED-4DB2-BD59-A6C34878D82A}">
                    <a16:rowId xmlns:a16="http://schemas.microsoft.com/office/drawing/2014/main" val="10005"/>
                  </a:ext>
                </a:extLst>
              </a:tr>
              <a:tr h="508000">
                <a:tc>
                  <a:txBody>
                    <a:bodyPr/>
                    <a:lstStyle/>
                    <a:p>
                      <a:pPr algn="l"/>
                      <a:r>
                        <a:rPr sz="1100">
                          <a:solidFill>
                            <a:srgbClr val="1F2937"/>
                          </a:solidFill>
                          <a:latin typeface="Calibri"/>
                        </a:rPr>
                        <a:t>Final (Sem. 15)</a:t>
                      </a:r>
                    </a:p>
                  </a:txBody>
                  <a:tcPr marL="76200" marR="76200" marT="50800" marB="50800" anchor="ctr">
                    <a:solidFill>
                      <a:srgbClr val="F3F4F6"/>
                    </a:solidFill>
                  </a:tcPr>
                </a:tc>
                <a:tc>
                  <a:txBody>
                    <a:bodyPr/>
                    <a:lstStyle/>
                    <a:p>
                      <a:pPr algn="l"/>
                      <a:r>
                        <a:rPr sz="1100">
                          <a:solidFill>
                            <a:srgbClr val="1F2937"/>
                          </a:solidFill>
                          <a:latin typeface="Calibri"/>
                        </a:rPr>
                        <a:t>Informe de pruebas de validación</a:t>
                      </a:r>
                    </a:p>
                  </a:txBody>
                  <a:tcPr marL="76200" marR="76200" marT="50800" marB="50800" anchor="ctr">
                    <a:solidFill>
                      <a:srgbClr val="F3F4F6"/>
                    </a:solidFill>
                  </a:tcPr>
                </a:tc>
                <a:tc>
                  <a:txBody>
                    <a:bodyPr/>
                    <a:lstStyle/>
                    <a:p>
                      <a:pPr algn="l"/>
                      <a:r>
                        <a:rPr sz="1100">
                          <a:solidFill>
                            <a:srgbClr val="1F2937"/>
                          </a:solidFill>
                          <a:latin typeface="Calibri"/>
                        </a:rPr>
                        <a:t>Diseño, ejecución y resultados del plan de pruebas</a:t>
                      </a:r>
                    </a:p>
                  </a:txBody>
                  <a:tcPr marL="76200" marR="76200" marT="50800" marB="50800" anchor="ctr">
                    <a:solidFill>
                      <a:srgbClr val="F3F4F6"/>
                    </a:solidFill>
                  </a:tcPr>
                </a:tc>
                <a:extLst>
                  <a:ext uri="{0D108BD9-81ED-4DB2-BD59-A6C34878D82A}">
                    <a16:rowId xmlns:a16="http://schemas.microsoft.com/office/drawing/2014/main" val="10006"/>
                  </a:ext>
                </a:extLst>
              </a:tr>
              <a:tr h="508000">
                <a:tc>
                  <a:txBody>
                    <a:bodyPr/>
                    <a:lstStyle/>
                    <a:p>
                      <a:pPr algn="l"/>
                      <a:r>
                        <a:rPr sz="1100">
                          <a:solidFill>
                            <a:srgbClr val="1F2937"/>
                          </a:solidFill>
                          <a:latin typeface="Calibri"/>
                        </a:rPr>
                        <a:t>Final (Sem. 15)</a:t>
                      </a:r>
                    </a:p>
                  </a:txBody>
                  <a:tcPr marL="76200" marR="76200" marT="50800" marB="50800" anchor="ctr">
                    <a:solidFill>
                      <a:srgbClr val="FFFFFF"/>
                    </a:solidFill>
                  </a:tcPr>
                </a:tc>
                <a:tc>
                  <a:txBody>
                    <a:bodyPr/>
                    <a:lstStyle/>
                    <a:p>
                      <a:pPr algn="l"/>
                      <a:r>
                        <a:rPr sz="1100">
                          <a:solidFill>
                            <a:srgbClr val="1F2937"/>
                          </a:solidFill>
                          <a:latin typeface="Calibri"/>
                        </a:rPr>
                        <a:t>Informe técnico final</a:t>
                      </a:r>
                    </a:p>
                  </a:txBody>
                  <a:tcPr marL="76200" marR="76200" marT="50800" marB="50800" anchor="ctr">
                    <a:solidFill>
                      <a:srgbClr val="FFFFFF"/>
                    </a:solidFill>
                  </a:tcPr>
                </a:tc>
                <a:tc>
                  <a:txBody>
                    <a:bodyPr/>
                    <a:lstStyle/>
                    <a:p>
                      <a:pPr algn="l"/>
                      <a:r>
                        <a:rPr sz="1100">
                          <a:solidFill>
                            <a:srgbClr val="1F2937"/>
                          </a:solidFill>
                          <a:latin typeface="Calibri"/>
                        </a:rPr>
                        <a:t>Portada, índice, abstract, desarrollo, conclusiones</a:t>
                      </a:r>
                    </a:p>
                  </a:txBody>
                  <a:tcPr marL="76200" marR="76200" marT="50800" marB="50800" anchor="ctr">
                    <a:solidFill>
                      <a:srgbClr val="FFFFFF"/>
                    </a:solidFill>
                  </a:tcPr>
                </a:tc>
                <a:extLst>
                  <a:ext uri="{0D108BD9-81ED-4DB2-BD59-A6C34878D82A}">
                    <a16:rowId xmlns:a16="http://schemas.microsoft.com/office/drawing/2014/main" val="10007"/>
                  </a:ext>
                </a:extLst>
              </a:tr>
              <a:tr h="508000">
                <a:tc>
                  <a:txBody>
                    <a:bodyPr/>
                    <a:lstStyle/>
                    <a:p>
                      <a:pPr algn="l"/>
                      <a:r>
                        <a:rPr sz="1100">
                          <a:solidFill>
                            <a:srgbClr val="1F2937"/>
                          </a:solidFill>
                          <a:latin typeface="Calibri"/>
                        </a:rPr>
                        <a:t>Fase 3</a:t>
                      </a:r>
                    </a:p>
                  </a:txBody>
                  <a:tcPr marL="76200" marR="76200" marT="50800" marB="50800" anchor="ctr">
                    <a:solidFill>
                      <a:srgbClr val="F3F4F6"/>
                    </a:solidFill>
                  </a:tcPr>
                </a:tc>
                <a:tc>
                  <a:txBody>
                    <a:bodyPr/>
                    <a:lstStyle/>
                    <a:p>
                      <a:pPr algn="l"/>
                      <a:r>
                        <a:rPr sz="1100">
                          <a:solidFill>
                            <a:srgbClr val="1F2937"/>
                          </a:solidFill>
                          <a:latin typeface="Calibri"/>
                        </a:rPr>
                        <a:t>Defensa del proyecto</a:t>
                      </a:r>
                    </a:p>
                  </a:txBody>
                  <a:tcPr marL="76200" marR="76200" marT="50800" marB="50800" anchor="ctr">
                    <a:solidFill>
                      <a:srgbClr val="F3F4F6"/>
                    </a:solidFill>
                  </a:tcPr>
                </a:tc>
                <a:tc>
                  <a:txBody>
                    <a:bodyPr/>
                    <a:lstStyle/>
                    <a:p>
                      <a:pPr algn="l"/>
                      <a:r>
                        <a:rPr sz="1100">
                          <a:solidFill>
                            <a:srgbClr val="1F2937"/>
                          </a:solidFill>
                          <a:latin typeface="Calibri"/>
                        </a:rPr>
                        <a:t>Presentación final con demostración del sistema</a:t>
                      </a:r>
                    </a:p>
                  </a:txBody>
                  <a:tcPr marL="76200" marR="76200" marT="50800" marB="50800" anchor="ctr">
                    <a:solidFill>
                      <a:srgbClr val="F3F4F6"/>
                    </a:solidFill>
                  </a:tcPr>
                </a:tc>
                <a:extLst>
                  <a:ext uri="{0D108BD9-81ED-4DB2-BD59-A6C34878D82A}">
                    <a16:rowId xmlns:a16="http://schemas.microsoft.com/office/drawing/2014/main" val="10008"/>
                  </a:ext>
                </a:extLst>
              </a:tr>
            </a:tbl>
          </a:graphicData>
        </a:graphic>
      </p:graphicFrame>
      <p:sp>
        <p:nvSpPr>
          <p:cNvPr id="8" name="Rectangle 7"/>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10" name="TextBox 9"/>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20 / 18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0058400" cy="320040"/>
          </a:xfrm>
          <a:prstGeom prst="rect">
            <a:avLst/>
          </a:prstGeom>
          <a:noFill/>
        </p:spPr>
        <p:txBody>
          <a:bodyPr wrap="square" lIns="0" tIns="0" rIns="0" bIns="0" anchor="t">
            <a:spAutoFit/>
          </a:bodyPr>
          <a:lstStyle/>
          <a:p>
            <a:pPr algn="l">
              <a:lnSpc>
                <a:spcPct val="100000"/>
              </a:lnSpc>
            </a:pPr>
            <a:r>
              <a:rPr sz="1300" b="1" i="0">
                <a:solidFill>
                  <a:srgbClr val="B45309"/>
                </a:solidFill>
                <a:latin typeface="Calibri"/>
              </a:rPr>
              <a:t>RESPALDO</a:t>
            </a:r>
          </a:p>
        </p:txBody>
      </p:sp>
      <p:sp>
        <p:nvSpPr>
          <p:cNvPr id="5" name="TextBox 4"/>
          <p:cNvSpPr txBox="1"/>
          <p:nvPr/>
        </p:nvSpPr>
        <p:spPr>
          <a:xfrm>
            <a:off x="548640" y="621792"/>
            <a:ext cx="10972800" cy="640080"/>
          </a:xfrm>
          <a:prstGeom prst="rect">
            <a:avLst/>
          </a:prstGeom>
          <a:noFill/>
        </p:spPr>
        <p:txBody>
          <a:bodyPr wrap="square" lIns="0" tIns="0" rIns="0" bIns="0" anchor="t">
            <a:spAutoFit/>
          </a:bodyPr>
          <a:lstStyle/>
          <a:p>
            <a:pPr algn="l">
              <a:lnSpc>
                <a:spcPct val="100000"/>
              </a:lnSpc>
            </a:pPr>
            <a:r>
              <a:rPr sz="3000" b="1" i="0">
                <a:solidFill>
                  <a:srgbClr val="1F2937"/>
                </a:solidFill>
                <a:latin typeface="Calibri"/>
              </a:rPr>
              <a:t>Detalle del modelo económico</a:t>
            </a:r>
          </a:p>
        </p:txBody>
      </p:sp>
      <p:sp>
        <p:nvSpPr>
          <p:cNvPr id="6" name="Rectangle 5"/>
          <p:cNvSpPr/>
          <p:nvPr/>
        </p:nvSpPr>
        <p:spPr>
          <a:xfrm>
            <a:off x="548640" y="1298448"/>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2286000" y="1645920"/>
          <a:ext cx="7589520" cy="4297680"/>
        </p:xfrm>
        <a:graphic>
          <a:graphicData uri="http://schemas.openxmlformats.org/drawingml/2006/table">
            <a:tbl>
              <a:tblPr firstRow="1" bandRow="1">
                <a:tableStyleId>{5C22544A-7EE6-4342-B048-85BDC9FD1C3A}</a:tableStyleId>
              </a:tblPr>
              <a:tblGrid>
                <a:gridCol w="4743450">
                  <a:extLst>
                    <a:ext uri="{9D8B030D-6E8A-4147-A177-3AD203B41FA5}">
                      <a16:colId xmlns:a16="http://schemas.microsoft.com/office/drawing/2014/main" val="20000"/>
                    </a:ext>
                  </a:extLst>
                </a:gridCol>
                <a:gridCol w="2846070">
                  <a:extLst>
                    <a:ext uri="{9D8B030D-6E8A-4147-A177-3AD203B41FA5}">
                      <a16:colId xmlns:a16="http://schemas.microsoft.com/office/drawing/2014/main" val="20001"/>
                    </a:ext>
                  </a:extLst>
                </a:gridCol>
              </a:tblGrid>
              <a:tr h="429768">
                <a:tc>
                  <a:txBody>
                    <a:bodyPr/>
                    <a:lstStyle/>
                    <a:p>
                      <a:pPr algn="l"/>
                      <a:r>
                        <a:rPr sz="1400" b="1">
                          <a:solidFill>
                            <a:srgbClr val="FFFFFF"/>
                          </a:solidFill>
                          <a:latin typeface="Calibri"/>
                        </a:rPr>
                        <a:t>Parámetro</a:t>
                      </a:r>
                    </a:p>
                  </a:txBody>
                  <a:tcPr marL="76200" marR="76200" marT="50800" marB="50800" anchor="ctr">
                    <a:solidFill>
                      <a:srgbClr val="1F2937"/>
                    </a:solidFill>
                  </a:tcPr>
                </a:tc>
                <a:tc>
                  <a:txBody>
                    <a:bodyPr/>
                    <a:lstStyle/>
                    <a:p>
                      <a:pPr algn="l"/>
                      <a:r>
                        <a:rPr sz="1400" b="1">
                          <a:solidFill>
                            <a:srgbClr val="FFFFFF"/>
                          </a:solidFill>
                          <a:latin typeface="Calibri"/>
                        </a:rPr>
                        <a:t>Valor</a:t>
                      </a:r>
                    </a:p>
                  </a:txBody>
                  <a:tcPr marL="76200" marR="76200" marT="50800" marB="50800" anchor="ctr">
                    <a:solidFill>
                      <a:srgbClr val="1F2937"/>
                    </a:solidFill>
                  </a:tcPr>
                </a:tc>
                <a:extLst>
                  <a:ext uri="{0D108BD9-81ED-4DB2-BD59-A6C34878D82A}">
                    <a16:rowId xmlns:a16="http://schemas.microsoft.com/office/drawing/2014/main" val="10000"/>
                  </a:ext>
                </a:extLst>
              </a:tr>
              <a:tr h="429768">
                <a:tc>
                  <a:txBody>
                    <a:bodyPr/>
                    <a:lstStyle/>
                    <a:p>
                      <a:pPr algn="l"/>
                      <a:r>
                        <a:rPr sz="1400" b="1">
                          <a:solidFill>
                            <a:srgbClr val="1F2937"/>
                          </a:solidFill>
                          <a:latin typeface="Calibri"/>
                        </a:rPr>
                        <a:t>Precio de venta (llave en mano)</a:t>
                      </a:r>
                    </a:p>
                  </a:txBody>
                  <a:tcPr marL="76200" marR="76200" marT="50800" marB="50800" anchor="ctr">
                    <a:solidFill>
                      <a:srgbClr val="FFFFFF"/>
                    </a:solidFill>
                  </a:tcPr>
                </a:tc>
                <a:tc>
                  <a:txBody>
                    <a:bodyPr/>
                    <a:lstStyle/>
                    <a:p>
                      <a:pPr algn="l"/>
                      <a:r>
                        <a:rPr sz="1400">
                          <a:solidFill>
                            <a:srgbClr val="1F2937"/>
                          </a:solidFill>
                          <a:latin typeface="Calibri"/>
                        </a:rPr>
                        <a:t>$45.000.000 CLP</a:t>
                      </a:r>
                    </a:p>
                  </a:txBody>
                  <a:tcPr marL="76200" marR="76200" marT="50800" marB="50800" anchor="ctr">
                    <a:solidFill>
                      <a:srgbClr val="FFFFFF"/>
                    </a:solidFill>
                  </a:tcPr>
                </a:tc>
                <a:extLst>
                  <a:ext uri="{0D108BD9-81ED-4DB2-BD59-A6C34878D82A}">
                    <a16:rowId xmlns:a16="http://schemas.microsoft.com/office/drawing/2014/main" val="10001"/>
                  </a:ext>
                </a:extLst>
              </a:tr>
              <a:tr h="429768">
                <a:tc>
                  <a:txBody>
                    <a:bodyPr/>
                    <a:lstStyle/>
                    <a:p>
                      <a:pPr algn="l"/>
                      <a:r>
                        <a:rPr sz="1400" b="1">
                          <a:solidFill>
                            <a:srgbClr val="1F2937"/>
                          </a:solidFill>
                          <a:latin typeface="Calibri"/>
                        </a:rPr>
                        <a:t>Inversión inicial (CAPEX)</a:t>
                      </a:r>
                    </a:p>
                  </a:txBody>
                  <a:tcPr marL="76200" marR="76200" marT="50800" marB="50800" anchor="ctr">
                    <a:solidFill>
                      <a:srgbClr val="F3F4F6"/>
                    </a:solidFill>
                  </a:tcPr>
                </a:tc>
                <a:tc>
                  <a:txBody>
                    <a:bodyPr/>
                    <a:lstStyle/>
                    <a:p>
                      <a:pPr algn="l"/>
                      <a:r>
                        <a:rPr sz="1400">
                          <a:solidFill>
                            <a:srgbClr val="1F2937"/>
                          </a:solidFill>
                          <a:latin typeface="Calibri"/>
                        </a:rPr>
                        <a:t>$12.000.000 CLP</a:t>
                      </a:r>
                    </a:p>
                  </a:txBody>
                  <a:tcPr marL="76200" marR="76200" marT="50800" marB="50800" anchor="ctr">
                    <a:solidFill>
                      <a:srgbClr val="F3F4F6"/>
                    </a:solidFill>
                  </a:tcPr>
                </a:tc>
                <a:extLst>
                  <a:ext uri="{0D108BD9-81ED-4DB2-BD59-A6C34878D82A}">
                    <a16:rowId xmlns:a16="http://schemas.microsoft.com/office/drawing/2014/main" val="10002"/>
                  </a:ext>
                </a:extLst>
              </a:tr>
              <a:tr h="429768">
                <a:tc>
                  <a:txBody>
                    <a:bodyPr/>
                    <a:lstStyle/>
                    <a:p>
                      <a:pPr algn="l"/>
                      <a:r>
                        <a:rPr sz="1400" b="1">
                          <a:solidFill>
                            <a:srgbClr val="1F2937"/>
                          </a:solidFill>
                          <a:latin typeface="Calibri"/>
                        </a:rPr>
                        <a:t>Horizonte del estudio</a:t>
                      </a:r>
                    </a:p>
                  </a:txBody>
                  <a:tcPr marL="76200" marR="76200" marT="50800" marB="50800" anchor="ctr">
                    <a:solidFill>
                      <a:srgbClr val="FFFFFF"/>
                    </a:solidFill>
                  </a:tcPr>
                </a:tc>
                <a:tc>
                  <a:txBody>
                    <a:bodyPr/>
                    <a:lstStyle/>
                    <a:p>
                      <a:pPr algn="l"/>
                      <a:r>
                        <a:rPr sz="1400">
                          <a:solidFill>
                            <a:srgbClr val="1F2937"/>
                          </a:solidFill>
                          <a:latin typeface="Calibri"/>
                        </a:rPr>
                        <a:t>4 meses</a:t>
                      </a:r>
                    </a:p>
                  </a:txBody>
                  <a:tcPr marL="76200" marR="76200" marT="50800" marB="50800" anchor="ctr">
                    <a:solidFill>
                      <a:srgbClr val="FFFFFF"/>
                    </a:solidFill>
                  </a:tcPr>
                </a:tc>
                <a:extLst>
                  <a:ext uri="{0D108BD9-81ED-4DB2-BD59-A6C34878D82A}">
                    <a16:rowId xmlns:a16="http://schemas.microsoft.com/office/drawing/2014/main" val="10003"/>
                  </a:ext>
                </a:extLst>
              </a:tr>
              <a:tr h="429768">
                <a:tc>
                  <a:txBody>
                    <a:bodyPr/>
                    <a:lstStyle/>
                    <a:p>
                      <a:pPr algn="l"/>
                      <a:r>
                        <a:rPr sz="1400" b="1">
                          <a:solidFill>
                            <a:srgbClr val="1F2937"/>
                          </a:solidFill>
                          <a:latin typeface="Calibri"/>
                        </a:rPr>
                        <a:t>VAN (proyecto puro)</a:t>
                      </a:r>
                    </a:p>
                  </a:txBody>
                  <a:tcPr marL="76200" marR="76200" marT="50800" marB="50800" anchor="ctr">
                    <a:solidFill>
                      <a:srgbClr val="F3F4F6"/>
                    </a:solidFill>
                  </a:tcPr>
                </a:tc>
                <a:tc>
                  <a:txBody>
                    <a:bodyPr/>
                    <a:lstStyle/>
                    <a:p>
                      <a:pPr algn="l"/>
                      <a:r>
                        <a:rPr sz="1400">
                          <a:solidFill>
                            <a:srgbClr val="1F2937"/>
                          </a:solidFill>
                          <a:latin typeface="Calibri"/>
                        </a:rPr>
                        <a:t>$1.660.792</a:t>
                      </a:r>
                    </a:p>
                  </a:txBody>
                  <a:tcPr marL="76200" marR="76200" marT="50800" marB="50800" anchor="ctr">
                    <a:solidFill>
                      <a:srgbClr val="F3F4F6"/>
                    </a:solidFill>
                  </a:tcPr>
                </a:tc>
                <a:extLst>
                  <a:ext uri="{0D108BD9-81ED-4DB2-BD59-A6C34878D82A}">
                    <a16:rowId xmlns:a16="http://schemas.microsoft.com/office/drawing/2014/main" val="10004"/>
                  </a:ext>
                </a:extLst>
              </a:tr>
              <a:tr h="429768">
                <a:tc>
                  <a:txBody>
                    <a:bodyPr/>
                    <a:lstStyle/>
                    <a:p>
                      <a:pPr algn="l"/>
                      <a:r>
                        <a:rPr sz="1400" b="1">
                          <a:solidFill>
                            <a:srgbClr val="1F2937"/>
                          </a:solidFill>
                          <a:latin typeface="Calibri"/>
                        </a:rPr>
                        <a:t>TIR mensual</a:t>
                      </a:r>
                    </a:p>
                  </a:txBody>
                  <a:tcPr marL="76200" marR="76200" marT="50800" marB="50800" anchor="ctr">
                    <a:solidFill>
                      <a:srgbClr val="FFFFFF"/>
                    </a:solidFill>
                  </a:tcPr>
                </a:tc>
                <a:tc>
                  <a:txBody>
                    <a:bodyPr/>
                    <a:lstStyle/>
                    <a:p>
                      <a:pPr algn="l"/>
                      <a:r>
                        <a:rPr sz="1400">
                          <a:solidFill>
                            <a:srgbClr val="1F2937"/>
                          </a:solidFill>
                          <a:latin typeface="Calibri"/>
                        </a:rPr>
                        <a:t>9,44% (~195% anual)</a:t>
                      </a:r>
                    </a:p>
                  </a:txBody>
                  <a:tcPr marL="76200" marR="76200" marT="50800" marB="50800" anchor="ctr">
                    <a:solidFill>
                      <a:srgbClr val="FFFFFF"/>
                    </a:solidFill>
                  </a:tcPr>
                </a:tc>
                <a:extLst>
                  <a:ext uri="{0D108BD9-81ED-4DB2-BD59-A6C34878D82A}">
                    <a16:rowId xmlns:a16="http://schemas.microsoft.com/office/drawing/2014/main" val="10005"/>
                  </a:ext>
                </a:extLst>
              </a:tr>
              <a:tr h="429768">
                <a:tc>
                  <a:txBody>
                    <a:bodyPr/>
                    <a:lstStyle/>
                    <a:p>
                      <a:pPr algn="l"/>
                      <a:r>
                        <a:rPr sz="1400" b="1">
                          <a:solidFill>
                            <a:srgbClr val="1F2937"/>
                          </a:solidFill>
                          <a:latin typeface="Calibri"/>
                        </a:rPr>
                        <a:t>Relación beneficio / costo</a:t>
                      </a:r>
                    </a:p>
                  </a:txBody>
                  <a:tcPr marL="76200" marR="76200" marT="50800" marB="50800" anchor="ctr">
                    <a:solidFill>
                      <a:srgbClr val="F3F4F6"/>
                    </a:solidFill>
                  </a:tcPr>
                </a:tc>
                <a:tc>
                  <a:txBody>
                    <a:bodyPr/>
                    <a:lstStyle/>
                    <a:p>
                      <a:pPr algn="l"/>
                      <a:r>
                        <a:rPr sz="1400">
                          <a:solidFill>
                            <a:srgbClr val="1F2937"/>
                          </a:solidFill>
                          <a:latin typeface="Calibri"/>
                        </a:rPr>
                        <a:t>1,14</a:t>
                      </a:r>
                    </a:p>
                  </a:txBody>
                  <a:tcPr marL="76200" marR="76200" marT="50800" marB="50800" anchor="ctr">
                    <a:solidFill>
                      <a:srgbClr val="F3F4F6"/>
                    </a:solidFill>
                  </a:tcPr>
                </a:tc>
                <a:extLst>
                  <a:ext uri="{0D108BD9-81ED-4DB2-BD59-A6C34878D82A}">
                    <a16:rowId xmlns:a16="http://schemas.microsoft.com/office/drawing/2014/main" val="10006"/>
                  </a:ext>
                </a:extLst>
              </a:tr>
              <a:tr h="429768">
                <a:tc>
                  <a:txBody>
                    <a:bodyPr/>
                    <a:lstStyle/>
                    <a:p>
                      <a:pPr algn="l"/>
                      <a:r>
                        <a:rPr sz="1400" b="1">
                          <a:solidFill>
                            <a:srgbClr val="1F2937"/>
                          </a:solidFill>
                          <a:latin typeface="Calibri"/>
                        </a:rPr>
                        <a:t>Payback</a:t>
                      </a:r>
                    </a:p>
                  </a:txBody>
                  <a:tcPr marL="76200" marR="76200" marT="50800" marB="50800" anchor="ctr">
                    <a:solidFill>
                      <a:srgbClr val="FFFFFF"/>
                    </a:solidFill>
                  </a:tcPr>
                </a:tc>
                <a:tc>
                  <a:txBody>
                    <a:bodyPr/>
                    <a:lstStyle/>
                    <a:p>
                      <a:pPr algn="l"/>
                      <a:r>
                        <a:rPr sz="1400">
                          <a:solidFill>
                            <a:srgbClr val="1F2937"/>
                          </a:solidFill>
                          <a:latin typeface="Calibri"/>
                        </a:rPr>
                        <a:t>2,65 meses</a:t>
                      </a:r>
                    </a:p>
                  </a:txBody>
                  <a:tcPr marL="76200" marR="76200" marT="50800" marB="50800" anchor="ctr">
                    <a:solidFill>
                      <a:srgbClr val="FFFFFF"/>
                    </a:solidFill>
                  </a:tcPr>
                </a:tc>
                <a:extLst>
                  <a:ext uri="{0D108BD9-81ED-4DB2-BD59-A6C34878D82A}">
                    <a16:rowId xmlns:a16="http://schemas.microsoft.com/office/drawing/2014/main" val="10007"/>
                  </a:ext>
                </a:extLst>
              </a:tr>
              <a:tr h="429768">
                <a:tc>
                  <a:txBody>
                    <a:bodyPr/>
                    <a:lstStyle/>
                    <a:p>
                      <a:pPr algn="l"/>
                      <a:r>
                        <a:rPr sz="1400" b="1">
                          <a:solidFill>
                            <a:srgbClr val="1F2937"/>
                          </a:solidFill>
                          <a:latin typeface="Calibri"/>
                        </a:rPr>
                        <a:t>Puntaje matriz multicriterio</a:t>
                      </a:r>
                    </a:p>
                  </a:txBody>
                  <a:tcPr marL="76200" marR="76200" marT="50800" marB="50800" anchor="ctr">
                    <a:solidFill>
                      <a:srgbClr val="F3F4F6"/>
                    </a:solidFill>
                  </a:tcPr>
                </a:tc>
                <a:tc>
                  <a:txBody>
                    <a:bodyPr/>
                    <a:lstStyle/>
                    <a:p>
                      <a:pPr algn="l"/>
                      <a:r>
                        <a:rPr sz="1400">
                          <a:solidFill>
                            <a:srgbClr val="1F2937"/>
                          </a:solidFill>
                          <a:latin typeface="Calibri"/>
                        </a:rPr>
                        <a:t>92 / 100</a:t>
                      </a:r>
                    </a:p>
                  </a:txBody>
                  <a:tcPr marL="76200" marR="76200" marT="50800" marB="50800" anchor="ctr">
                    <a:solidFill>
                      <a:srgbClr val="F3F4F6"/>
                    </a:solidFill>
                  </a:tcPr>
                </a:tc>
                <a:extLst>
                  <a:ext uri="{0D108BD9-81ED-4DB2-BD59-A6C34878D82A}">
                    <a16:rowId xmlns:a16="http://schemas.microsoft.com/office/drawing/2014/main" val="10008"/>
                  </a:ext>
                </a:extLst>
              </a:tr>
              <a:tr h="429768">
                <a:tc>
                  <a:txBody>
                    <a:bodyPr/>
                    <a:lstStyle/>
                    <a:p>
                      <a:pPr algn="l"/>
                      <a:r>
                        <a:rPr sz="1400" b="1">
                          <a:solidFill>
                            <a:srgbClr val="1F2937"/>
                          </a:solidFill>
                          <a:latin typeface="Calibri"/>
                        </a:rPr>
                        <a:t>Hitos de pago</a:t>
                      </a:r>
                    </a:p>
                  </a:txBody>
                  <a:tcPr marL="76200" marR="76200" marT="50800" marB="50800" anchor="ctr">
                    <a:solidFill>
                      <a:srgbClr val="FFFFFF"/>
                    </a:solidFill>
                  </a:tcPr>
                </a:tc>
                <a:tc>
                  <a:txBody>
                    <a:bodyPr/>
                    <a:lstStyle/>
                    <a:p>
                      <a:pPr algn="l"/>
                      <a:r>
                        <a:rPr sz="1400">
                          <a:solidFill>
                            <a:srgbClr val="1F2937"/>
                          </a:solidFill>
                          <a:latin typeface="Calibri"/>
                        </a:rPr>
                        <a:t>40% · 20% · 20% · 20%</a:t>
                      </a:r>
                    </a:p>
                  </a:txBody>
                  <a:tcPr marL="76200" marR="76200" marT="50800" marB="50800" anchor="ctr">
                    <a:solidFill>
                      <a:srgbClr val="FFFFFF"/>
                    </a:solidFill>
                  </a:tcPr>
                </a:tc>
                <a:extLst>
                  <a:ext uri="{0D108BD9-81ED-4DB2-BD59-A6C34878D82A}">
                    <a16:rowId xmlns:a16="http://schemas.microsoft.com/office/drawing/2014/main" val="10009"/>
                  </a:ext>
                </a:extLst>
              </a:tr>
            </a:tbl>
          </a:graphicData>
        </a:graphic>
      </p:graphicFrame>
      <p:sp>
        <p:nvSpPr>
          <p:cNvPr id="8" name="Rectangle 7"/>
          <p:cNvSpPr/>
          <p:nvPr/>
        </p:nvSpPr>
        <p:spPr>
          <a:xfrm>
            <a:off x="0" y="6537960"/>
            <a:ext cx="12191695" cy="32004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537960"/>
            <a:ext cx="7315200" cy="320040"/>
          </a:xfrm>
          <a:prstGeom prst="rect">
            <a:avLst/>
          </a:prstGeom>
          <a:noFill/>
        </p:spPr>
        <p:txBody>
          <a:bodyPr wrap="square" lIns="0" tIns="0" rIns="0" bIns="0" anchor="ctr">
            <a:spAutoFit/>
          </a:bodyPr>
          <a:lstStyle/>
          <a:p>
            <a:pPr algn="l">
              <a:lnSpc>
                <a:spcPct val="100000"/>
              </a:lnSpc>
            </a:pPr>
            <a:r>
              <a:rPr sz="1000" b="0" i="0">
                <a:solidFill>
                  <a:srgbClr val="D1D5DB"/>
                </a:solidFill>
                <a:latin typeface="Calibri"/>
              </a:rPr>
              <a:t>CascoVision  ·  Capstone PTY4614  ·  2026.02</a:t>
            </a:r>
          </a:p>
        </p:txBody>
      </p:sp>
      <p:sp>
        <p:nvSpPr>
          <p:cNvPr id="10" name="TextBox 9"/>
          <p:cNvSpPr txBox="1"/>
          <p:nvPr/>
        </p:nvSpPr>
        <p:spPr>
          <a:xfrm>
            <a:off x="11002975" y="6537960"/>
            <a:ext cx="822960" cy="320040"/>
          </a:xfrm>
          <a:prstGeom prst="rect">
            <a:avLst/>
          </a:prstGeom>
          <a:noFill/>
        </p:spPr>
        <p:txBody>
          <a:bodyPr wrap="square" lIns="0" tIns="0" rIns="0" bIns="0" anchor="ctr">
            <a:spAutoFit/>
          </a:bodyPr>
          <a:lstStyle/>
          <a:p>
            <a:pPr algn="r">
              <a:lnSpc>
                <a:spcPct val="100000"/>
              </a:lnSpc>
            </a:pPr>
            <a:r>
              <a:rPr sz="1000" b="0" i="0">
                <a:solidFill>
                  <a:srgbClr val="D1D5DB"/>
                </a:solidFill>
                <a:latin typeface="Calibri"/>
              </a:rPr>
              <a:t>21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3911</Words>
  <Application>Microsoft Office PowerPoint</Application>
  <PresentationFormat>Panorámica</PresentationFormat>
  <Paragraphs>436</Paragraphs>
  <Slides>21</Slides>
  <Notes>18</Notes>
  <HiddenSlides>3</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21</vt:i4>
      </vt:variant>
    </vt:vector>
  </HeadingPairs>
  <TitlesOfParts>
    <vt:vector size="24"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keywords/>
  <cp:lastModifiedBy>AV-Alumno</cp:lastModifiedBy>
  <cp:revision>8</cp:revision>
  <dcterms:created xsi:type="dcterms:W3CDTF">2013-01-27T09:14:16Z</dcterms:created>
  <dcterms:modified xsi:type="dcterms:W3CDTF">2026-09-11T14:22:17Z</dcterms:modified>
  <cp:category/>
</cp:coreProperties>
</file>